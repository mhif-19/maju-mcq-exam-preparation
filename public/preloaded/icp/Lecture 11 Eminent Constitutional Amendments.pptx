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Masters/slideMaster1.xml" ContentType="application/vnd.openxmlformats-officedocument.presentationml.slideMaster+xml"/>
  <Override PartName="/ppt/notesSlides/notesSlide19.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notesSlides/notesSlide27.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embeddedFontLst>
    <p:embeddedFont>
      <p:font typeface="Cinzel" panose="020B0604020202020204" charset="0"/>
      <p:regular r:id="rId33"/>
      <p:bold r:id="rId34"/>
    </p:embeddedFont>
    <p:embeddedFont>
      <p:font typeface="Cinzel ExtraBold" panose="020B0604020202020204" charset="0"/>
      <p:bold r:id="rId35"/>
    </p:embeddedFont>
    <p:embeddedFont>
      <p:font typeface="Cinzel SemiBold" panose="020B0604020202020204" charset="0"/>
      <p:regular r:id="rId36"/>
      <p:bold r:id="rId37"/>
    </p:embeddedFont>
    <p:embeddedFont>
      <p:font typeface="Inter" panose="020B060402020202020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659C9AA-2BB7-458E-A99B-8F29E46BA081}">
  <a:tblStyle styleId="{7659C9AA-2BB7-458E-A99B-8F29E46BA081}"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presProps" Target="presProps.xml"/><Relationship Id="rId47"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viewProps" Target="viewProps.xml"/><Relationship Id="rId48"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7" name="Google Shape;307;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5" name="Google Shape;31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2" name="Google Shape;332;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0" name="Google Shape;340;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7" name="Google Shape;357;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0" name="Google Shape;370;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9" name="Google Shape;389;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4" name="Google Shape;404;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1" name="Google Shape;421;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9" name="Google Shape;429;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6" name="Google Shape;446;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5" name="Google Shape;465;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4" name="Google Shape;494;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2.jpe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7.jpe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0.jpe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1.jpe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png"/><Relationship Id="rId7"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7.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0.jpe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2.png"/><Relationship Id="rId7" Type="http://schemas.openxmlformats.org/officeDocument/2006/relationships/image" Target="../media/image46.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48.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6" name="Google Shape;86;p13"/>
          <p:cNvSpPr/>
          <p:nvPr/>
        </p:nvSpPr>
        <p:spPr>
          <a:xfrm>
            <a:off x="5715000" y="1989832"/>
            <a:ext cx="762000" cy="57150"/>
          </a:xfrm>
          <a:prstGeom prst="roundRect">
            <a:avLst>
              <a:gd name="adj" fmla="val 33333"/>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 name="Google Shape;87;p13"/>
          <p:cNvSpPr txBox="1"/>
          <p:nvPr/>
        </p:nvSpPr>
        <p:spPr>
          <a:xfrm>
            <a:off x="3065621" y="2332732"/>
            <a:ext cx="6060757" cy="132576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350" b="0" i="0" u="none" strike="noStrike" cap="none">
                <a:solidFill>
                  <a:srgbClr val="FCFBFA"/>
                </a:solidFill>
                <a:latin typeface="Cinzel ExtraBold"/>
                <a:ea typeface="Cinzel ExtraBold"/>
                <a:cs typeface="Cinzel ExtraBold"/>
                <a:sym typeface="Cinzel ExtraBold"/>
              </a:rPr>
              <a:t>CONSTITUTIONAL</a:t>
            </a:r>
            <a:br>
              <a:rPr lang="en-US" sz="1800" b="0" i="0" u="none" strike="noStrike" cap="none">
                <a:solidFill>
                  <a:schemeClr val="dk1"/>
                </a:solidFill>
                <a:latin typeface="Calibri"/>
                <a:ea typeface="Calibri"/>
                <a:cs typeface="Calibri"/>
                <a:sym typeface="Calibri"/>
              </a:rPr>
            </a:br>
            <a:r>
              <a:rPr lang="en-US" sz="4350" b="0" i="0" u="none" strike="noStrike" cap="none">
                <a:solidFill>
                  <a:srgbClr val="FCFBFA"/>
                </a:solidFill>
                <a:latin typeface="Cinzel ExtraBold"/>
                <a:ea typeface="Cinzel ExtraBold"/>
                <a:cs typeface="Cinzel ExtraBold"/>
                <a:sym typeface="Cinzel ExtraBold"/>
              </a:rPr>
              <a:t> AMENDMENTS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Shape 92"/>
        <p:cNvGrpSpPr/>
        <p:nvPr/>
      </p:nvGrpSpPr>
      <p:grpSpPr>
        <a:xfrm>
          <a:off x="0" y="0"/>
          <a:ext cx="0" cy="0"/>
          <a:chOff x="0" y="0"/>
          <a:chExt cx="0" cy="0"/>
        </a:xfrm>
      </p:grpSpPr>
      <p:pic>
        <p:nvPicPr>
          <p:cNvPr id="93" name="Google Shape;93;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4" name="Google Shape;94;p14"/>
          <p:cNvSpPr/>
          <p:nvPr/>
        </p:nvSpPr>
        <p:spPr>
          <a:xfrm>
            <a:off x="5524500" y="2584251"/>
            <a:ext cx="1143000" cy="3810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 name="Google Shape;95;p14"/>
          <p:cNvSpPr txBox="1"/>
          <p:nvPr/>
        </p:nvSpPr>
        <p:spPr>
          <a:xfrm>
            <a:off x="2925603" y="2908101"/>
            <a:ext cx="6340792" cy="64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750" b="1" i="0" u="none" strike="noStrike" cap="none">
                <a:solidFill>
                  <a:srgbClr val="FCFBFA"/>
                </a:solidFill>
                <a:latin typeface="Cinzel"/>
                <a:ea typeface="Cinzel"/>
                <a:cs typeface="Cinzel"/>
                <a:sym typeface="Cinzel"/>
              </a:rPr>
              <a:t>PART I: THE EARLY ERA</a:t>
            </a:r>
            <a:endParaRPr/>
          </a:p>
        </p:txBody>
      </p:sp>
      <p:sp>
        <p:nvSpPr>
          <p:cNvPr id="96" name="Google Shape;96;p14"/>
          <p:cNvSpPr txBox="1"/>
          <p:nvPr/>
        </p:nvSpPr>
        <p:spPr>
          <a:xfrm>
            <a:off x="2286000" y="3746301"/>
            <a:ext cx="7620000" cy="67032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CBD5E1"/>
                </a:solidFill>
                <a:latin typeface="Inter"/>
                <a:ea typeface="Inter"/>
                <a:cs typeface="Inter"/>
                <a:sym typeface="Inter"/>
              </a:rPr>
              <a:t>Foundations of the 1973 Democratic Charter and the Bhutto Administration (1973–1977)</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100"/>
        <p:cNvGrpSpPr/>
        <p:nvPr/>
      </p:nvGrpSpPr>
      <p:grpSpPr>
        <a:xfrm>
          <a:off x="0" y="0"/>
          <a:ext cx="0" cy="0"/>
          <a:chOff x="0" y="0"/>
          <a:chExt cx="0" cy="0"/>
        </a:xfrm>
      </p:grpSpPr>
      <p:pic>
        <p:nvPicPr>
          <p:cNvPr id="101" name="Google Shape;101;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2" name="Google Shape;102;p15" descr="image.png"/>
          <p:cNvPicPr preferRelativeResize="0"/>
          <p:nvPr/>
        </p:nvPicPr>
        <p:blipFill rotWithShape="1">
          <a:blip r:embed="rId4">
            <a:alphaModFix/>
          </a:blip>
          <a:srcRect/>
          <a:stretch/>
        </p:blipFill>
        <p:spPr>
          <a:xfrm>
            <a:off x="771525" y="2727126"/>
            <a:ext cx="5038725" cy="2280046"/>
          </a:xfrm>
          <a:prstGeom prst="rect">
            <a:avLst/>
          </a:prstGeom>
          <a:noFill/>
          <a:ln>
            <a:noFill/>
          </a:ln>
        </p:spPr>
      </p:pic>
      <p:pic>
        <p:nvPicPr>
          <p:cNvPr id="103" name="Google Shape;103;p15" descr="image.png"/>
          <p:cNvPicPr preferRelativeResize="0"/>
          <p:nvPr/>
        </p:nvPicPr>
        <p:blipFill rotWithShape="1">
          <a:blip r:embed="rId4">
            <a:alphaModFix/>
          </a:blip>
          <a:srcRect/>
          <a:stretch/>
        </p:blipFill>
        <p:spPr>
          <a:xfrm>
            <a:off x="6381750" y="2727126"/>
            <a:ext cx="5038725" cy="2280046"/>
          </a:xfrm>
          <a:prstGeom prst="rect">
            <a:avLst/>
          </a:prstGeom>
          <a:noFill/>
          <a:ln>
            <a:noFill/>
          </a:ln>
        </p:spPr>
      </p:pic>
      <p:sp>
        <p:nvSpPr>
          <p:cNvPr id="104" name="Google Shape;104;p15"/>
          <p:cNvSpPr txBox="1"/>
          <p:nvPr/>
        </p:nvSpPr>
        <p:spPr>
          <a:xfrm>
            <a:off x="1114425" y="3070026"/>
            <a:ext cx="457057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A Democratic Charter</a:t>
            </a:r>
            <a:endParaRPr/>
          </a:p>
        </p:txBody>
      </p:sp>
      <p:sp>
        <p:nvSpPr>
          <p:cNvPr id="105" name="Google Shape;105;p15"/>
          <p:cNvSpPr txBox="1"/>
          <p:nvPr/>
        </p:nvSpPr>
        <p:spPr>
          <a:xfrm>
            <a:off x="1114425" y="3546276"/>
            <a:ext cx="4352925" cy="9751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The 1973 Constitution was framed by consensus as a federal parliamentary structure. It remains the supreme law of Pakistan, designed to balance federating units and establish citizen rights.</a:t>
            </a:r>
            <a:endParaRPr/>
          </a:p>
        </p:txBody>
      </p:sp>
      <p:sp>
        <p:nvSpPr>
          <p:cNvPr id="106" name="Google Shape;106;p15"/>
          <p:cNvSpPr txBox="1"/>
          <p:nvPr/>
        </p:nvSpPr>
        <p:spPr>
          <a:xfrm>
            <a:off x="6724650" y="3191916"/>
            <a:ext cx="457057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The Dynamics of Reform</a:t>
            </a:r>
            <a:endParaRPr/>
          </a:p>
        </p:txBody>
      </p:sp>
      <p:sp>
        <p:nvSpPr>
          <p:cNvPr id="107" name="Google Shape;107;p15"/>
          <p:cNvSpPr txBox="1"/>
          <p:nvPr/>
        </p:nvSpPr>
        <p:spPr>
          <a:xfrm>
            <a:off x="6724650" y="3668166"/>
            <a:ext cx="4352925"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As a living document, its amendments document the push-and-pull between parliamentary supremacy and central executive power over five decades of political history.</a:t>
            </a:r>
            <a:endParaRPr/>
          </a:p>
        </p:txBody>
      </p:sp>
      <p:sp>
        <p:nvSpPr>
          <p:cNvPr id="108" name="Google Shape;108;p15"/>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THE 1973 CONSTITUTION</a:t>
            </a:r>
            <a:endParaRPr/>
          </a:p>
        </p:txBody>
      </p:sp>
      <p:sp>
        <p:nvSpPr>
          <p:cNvPr id="109" name="Google Shape;109;p15"/>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113"/>
        <p:cNvGrpSpPr/>
        <p:nvPr/>
      </p:nvGrpSpPr>
      <p:grpSpPr>
        <a:xfrm>
          <a:off x="0" y="0"/>
          <a:ext cx="0" cy="0"/>
          <a:chOff x="0" y="0"/>
          <a:chExt cx="0" cy="0"/>
        </a:xfrm>
      </p:grpSpPr>
      <p:pic>
        <p:nvPicPr>
          <p:cNvPr id="114" name="Google Shape;114;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15" name="Google Shape;115;p16"/>
          <p:cNvSpPr txBox="1"/>
          <p:nvPr/>
        </p:nvSpPr>
        <p:spPr>
          <a:xfrm>
            <a:off x="2138362" y="2967037"/>
            <a:ext cx="1905000" cy="1524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0" b="1" i="0" u="none" strike="noStrike" cap="none">
                <a:solidFill>
                  <a:srgbClr val="CDA250"/>
                </a:solidFill>
                <a:latin typeface="Cinzel"/>
                <a:ea typeface="Cinzel"/>
                <a:cs typeface="Cinzel"/>
                <a:sym typeface="Cinzel"/>
              </a:rPr>
              <a:t>26</a:t>
            </a:r>
            <a:endParaRPr/>
          </a:p>
        </p:txBody>
      </p:sp>
      <p:sp>
        <p:nvSpPr>
          <p:cNvPr id="116" name="Google Shape;116;p16"/>
          <p:cNvSpPr txBox="1"/>
          <p:nvPr/>
        </p:nvSpPr>
        <p:spPr>
          <a:xfrm>
            <a:off x="1633537" y="4491037"/>
            <a:ext cx="2914650"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B132B"/>
                </a:solidFill>
                <a:latin typeface="Cinzel"/>
                <a:ea typeface="Cinzel"/>
                <a:cs typeface="Cinzel"/>
                <a:sym typeface="Cinzel"/>
              </a:rPr>
              <a:t>ENACTED AMENDMENTS</a:t>
            </a:r>
            <a:endParaRPr/>
          </a:p>
        </p:txBody>
      </p:sp>
      <p:sp>
        <p:nvSpPr>
          <p:cNvPr id="117" name="Google Shape;117;p16"/>
          <p:cNvSpPr txBox="1"/>
          <p:nvPr/>
        </p:nvSpPr>
        <p:spPr>
          <a:xfrm>
            <a:off x="6381750" y="2967037"/>
            <a:ext cx="529066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Five Decades of Legislation</a:t>
            </a:r>
            <a:endParaRPr/>
          </a:p>
        </p:txBody>
      </p:sp>
      <p:sp>
        <p:nvSpPr>
          <p:cNvPr id="118" name="Google Shape;118;p16"/>
          <p:cNvSpPr txBox="1"/>
          <p:nvPr/>
        </p:nvSpPr>
        <p:spPr>
          <a:xfrm>
            <a:off x="6381750" y="3443287"/>
            <a:ext cx="5038725"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A total of twenty-six amendments have been formally enacted since 1973. This extensive history documents deep institutional evolutions, judicial restructuring, and the ongoing struggle for state power.</a:t>
            </a:r>
            <a:endParaRPr/>
          </a:p>
        </p:txBody>
      </p:sp>
      <p:sp>
        <p:nvSpPr>
          <p:cNvPr id="119" name="Google Shape;119;p16"/>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CONSTITUTIONAL MILESTONES</a:t>
            </a:r>
            <a:endParaRPr/>
          </a:p>
        </p:txBody>
      </p:sp>
      <p:sp>
        <p:nvSpPr>
          <p:cNvPr id="120" name="Google Shape;120;p16"/>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124"/>
        <p:cNvGrpSpPr/>
        <p:nvPr/>
      </p:nvGrpSpPr>
      <p:grpSpPr>
        <a:xfrm>
          <a:off x="0" y="0"/>
          <a:ext cx="0" cy="0"/>
          <a:chOff x="0" y="0"/>
          <a:chExt cx="0" cy="0"/>
        </a:xfrm>
      </p:grpSpPr>
      <p:pic>
        <p:nvPicPr>
          <p:cNvPr id="125" name="Google Shape;125;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6" name="Google Shape;126;p17" descr="image.png"/>
          <p:cNvPicPr preferRelativeResize="0"/>
          <p:nvPr/>
        </p:nvPicPr>
        <p:blipFill rotWithShape="1">
          <a:blip r:embed="rId4">
            <a:alphaModFix/>
          </a:blip>
          <a:srcRect/>
          <a:stretch/>
        </p:blipFill>
        <p:spPr>
          <a:xfrm>
            <a:off x="771525" y="2849016"/>
            <a:ext cx="5038725" cy="2036266"/>
          </a:xfrm>
          <a:prstGeom prst="rect">
            <a:avLst/>
          </a:prstGeom>
          <a:noFill/>
          <a:ln>
            <a:noFill/>
          </a:ln>
        </p:spPr>
      </p:pic>
      <p:pic>
        <p:nvPicPr>
          <p:cNvPr id="127" name="Google Shape;127;p17" descr="image.png"/>
          <p:cNvPicPr preferRelativeResize="0"/>
          <p:nvPr/>
        </p:nvPicPr>
        <p:blipFill rotWithShape="1">
          <a:blip r:embed="rId4">
            <a:alphaModFix/>
          </a:blip>
          <a:srcRect/>
          <a:stretch/>
        </p:blipFill>
        <p:spPr>
          <a:xfrm>
            <a:off x="6381750" y="2849016"/>
            <a:ext cx="5038725" cy="2036266"/>
          </a:xfrm>
          <a:prstGeom prst="rect">
            <a:avLst/>
          </a:prstGeom>
          <a:noFill/>
          <a:ln>
            <a:noFill/>
          </a:ln>
        </p:spPr>
      </p:pic>
      <p:sp>
        <p:nvSpPr>
          <p:cNvPr id="128" name="Google Shape;128;p17"/>
          <p:cNvSpPr txBox="1"/>
          <p:nvPr/>
        </p:nvSpPr>
        <p:spPr>
          <a:xfrm>
            <a:off x="1114425" y="3191916"/>
            <a:ext cx="457057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Consolidating Power</a:t>
            </a:r>
            <a:endParaRPr/>
          </a:p>
        </p:txBody>
      </p:sp>
      <p:sp>
        <p:nvSpPr>
          <p:cNvPr id="129" name="Google Shape;129;p17"/>
          <p:cNvSpPr txBox="1"/>
          <p:nvPr/>
        </p:nvSpPr>
        <p:spPr>
          <a:xfrm>
            <a:off x="1114425" y="3668166"/>
            <a:ext cx="4352925"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Following the secession of East Pakistan, Prime Minister Zulfikar Ali Bhutto centralized civilian executive power, enacting the first seven amendments in quick succession.</a:t>
            </a:r>
            <a:endParaRPr/>
          </a:p>
        </p:txBody>
      </p:sp>
      <p:sp>
        <p:nvSpPr>
          <p:cNvPr id="130" name="Google Shape;130;p17"/>
          <p:cNvSpPr txBox="1"/>
          <p:nvPr/>
        </p:nvSpPr>
        <p:spPr>
          <a:xfrm>
            <a:off x="6724650" y="3191916"/>
            <a:ext cx="457057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Democratic Restructuring</a:t>
            </a:r>
            <a:endParaRPr/>
          </a:p>
        </p:txBody>
      </p:sp>
      <p:sp>
        <p:nvSpPr>
          <p:cNvPr id="131" name="Google Shape;131;p17"/>
          <p:cNvSpPr txBox="1"/>
          <p:nvPr/>
        </p:nvSpPr>
        <p:spPr>
          <a:xfrm>
            <a:off x="6724650" y="3668166"/>
            <a:ext cx="4352925"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This early phase focused heavily on defining post-war boundaries, addressing regional aspirations, managing internal dissent, and clarifying state religious definitions.</a:t>
            </a:r>
            <a:endParaRPr/>
          </a:p>
        </p:txBody>
      </p:sp>
      <p:sp>
        <p:nvSpPr>
          <p:cNvPr id="132" name="Google Shape;132;p17"/>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THE BHUTTO ERA (1973-1977)</a:t>
            </a:r>
            <a:endParaRPr/>
          </a:p>
        </p:txBody>
      </p:sp>
      <p:sp>
        <p:nvSpPr>
          <p:cNvPr id="133" name="Google Shape;133;p17"/>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137"/>
        <p:cNvGrpSpPr/>
        <p:nvPr/>
      </p:nvGrpSpPr>
      <p:grpSpPr>
        <a:xfrm>
          <a:off x="0" y="0"/>
          <a:ext cx="0" cy="0"/>
          <a:chOff x="0" y="0"/>
          <a:chExt cx="0" cy="0"/>
        </a:xfrm>
      </p:grpSpPr>
      <p:pic>
        <p:nvPicPr>
          <p:cNvPr id="138" name="Google Shape;138;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0" name="Google Shape;140;p18"/>
          <p:cNvSpPr txBox="1"/>
          <p:nvPr/>
        </p:nvSpPr>
        <p:spPr>
          <a:xfrm>
            <a:off x="771525" y="2057400"/>
            <a:ext cx="529066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dirty="0">
                <a:solidFill>
                  <a:srgbClr val="0B132B"/>
                </a:solidFill>
                <a:latin typeface="Cinzel SemiBold"/>
                <a:ea typeface="Cinzel SemiBold"/>
                <a:cs typeface="Cinzel SemiBold"/>
                <a:sym typeface="Cinzel SemiBold"/>
              </a:rPr>
              <a:t>Redefining National Boundaries</a:t>
            </a:r>
            <a:endParaRPr dirty="0"/>
          </a:p>
        </p:txBody>
      </p:sp>
      <p:sp>
        <p:nvSpPr>
          <p:cNvPr id="141" name="Google Shape;141;p18"/>
          <p:cNvSpPr txBox="1"/>
          <p:nvPr/>
        </p:nvSpPr>
        <p:spPr>
          <a:xfrm>
            <a:off x="771525" y="2533650"/>
            <a:ext cx="5038725"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1C2541"/>
                </a:solidFill>
                <a:latin typeface="Inter"/>
                <a:ea typeface="Inter"/>
                <a:cs typeface="Inter"/>
                <a:sym typeface="Inter"/>
              </a:rPr>
              <a:t>Passed on May 4, 1974, the First Amendment formally accounted for the separation of East Pakistan following the 1971 war.</a:t>
            </a:r>
            <a:endParaRPr dirty="0"/>
          </a:p>
        </p:txBody>
      </p:sp>
      <p:sp>
        <p:nvSpPr>
          <p:cNvPr id="142" name="Google Shape;142;p18"/>
          <p:cNvSpPr txBox="1"/>
          <p:nvPr/>
        </p:nvSpPr>
        <p:spPr>
          <a:xfrm>
            <a:off x="1009650" y="3164085"/>
            <a:ext cx="4800600"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1" i="0" u="none" strike="noStrike" cap="none" dirty="0">
                <a:solidFill>
                  <a:srgbClr val="1C2541"/>
                </a:solidFill>
                <a:latin typeface="Inter"/>
                <a:ea typeface="Inter"/>
                <a:cs typeface="Inter"/>
                <a:sym typeface="Inter"/>
              </a:rPr>
              <a:t>Removing References:</a:t>
            </a:r>
            <a:r>
              <a:rPr lang="en-US" sz="1275" b="0" i="0" u="none" strike="noStrike" cap="none" dirty="0">
                <a:solidFill>
                  <a:srgbClr val="1C2541"/>
                </a:solidFill>
                <a:latin typeface="Inter"/>
                <a:ea typeface="Inter"/>
                <a:cs typeface="Inter"/>
                <a:sym typeface="Inter"/>
              </a:rPr>
              <a:t> Excised references to East Pakistan from the text of the Constitution.</a:t>
            </a:r>
            <a:endParaRPr dirty="0"/>
          </a:p>
        </p:txBody>
      </p:sp>
      <p:sp>
        <p:nvSpPr>
          <p:cNvPr id="143" name="Google Shape;143;p18"/>
          <p:cNvSpPr txBox="1"/>
          <p:nvPr/>
        </p:nvSpPr>
        <p:spPr>
          <a:xfrm>
            <a:off x="1009650" y="3764160"/>
            <a:ext cx="4800600" cy="728662"/>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1" i="0" u="none" strike="noStrike" cap="none">
                <a:solidFill>
                  <a:srgbClr val="1C2541"/>
                </a:solidFill>
                <a:latin typeface="Inter"/>
                <a:ea typeface="Inter"/>
                <a:cs typeface="Inter"/>
                <a:sym typeface="Inter"/>
              </a:rPr>
              <a:t>Recognition of Bangladesh:</a:t>
            </a:r>
            <a:r>
              <a:rPr lang="en-US" sz="1275" b="0" i="0" u="none" strike="noStrike" cap="none">
                <a:solidFill>
                  <a:srgbClr val="1C2541"/>
                </a:solidFill>
                <a:latin typeface="Inter"/>
                <a:ea typeface="Inter"/>
                <a:cs typeface="Inter"/>
                <a:sym typeface="Inter"/>
              </a:rPr>
              <a:t> Aligned the legal text with Pakistan's diplomatic recognition of Bangladesh at the OIC Summit.</a:t>
            </a:r>
            <a:endParaRPr/>
          </a:p>
        </p:txBody>
      </p:sp>
      <p:sp>
        <p:nvSpPr>
          <p:cNvPr id="144" name="Google Shape;144;p18"/>
          <p:cNvSpPr txBox="1"/>
          <p:nvPr/>
        </p:nvSpPr>
        <p:spPr>
          <a:xfrm>
            <a:off x="1009650" y="4607123"/>
            <a:ext cx="4800600"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1" i="0" u="none" strike="noStrike" cap="none">
                <a:solidFill>
                  <a:srgbClr val="1C2541"/>
                </a:solidFill>
                <a:latin typeface="Inter"/>
                <a:ea typeface="Inter"/>
                <a:cs typeface="Inter"/>
                <a:sym typeface="Inter"/>
              </a:rPr>
              <a:t>Territorial Integrity:</a:t>
            </a:r>
            <a:r>
              <a:rPr lang="en-US" sz="1275" b="0" i="0" u="none" strike="noStrike" cap="none">
                <a:solidFill>
                  <a:srgbClr val="1C2541"/>
                </a:solidFill>
                <a:latin typeface="Inter"/>
                <a:ea typeface="Inter"/>
                <a:cs typeface="Inter"/>
                <a:sym typeface="Inter"/>
              </a:rPr>
              <a:t> Formally defined the borders of the four remaining provinces.</a:t>
            </a:r>
            <a:endParaRPr/>
          </a:p>
        </p:txBody>
      </p:sp>
      <p:sp>
        <p:nvSpPr>
          <p:cNvPr id="146" name="Google Shape;146;p18"/>
          <p:cNvSpPr txBox="1"/>
          <p:nvPr/>
        </p:nvSpPr>
        <p:spPr>
          <a:xfrm>
            <a:off x="819150" y="3145035"/>
            <a:ext cx="1047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DA250"/>
                </a:solidFill>
                <a:latin typeface="Inter"/>
                <a:ea typeface="Inter"/>
                <a:cs typeface="Inter"/>
                <a:sym typeface="Inter"/>
              </a:rPr>
              <a:t>•</a:t>
            </a:r>
            <a:endParaRPr/>
          </a:p>
        </p:txBody>
      </p:sp>
      <p:sp>
        <p:nvSpPr>
          <p:cNvPr id="147" name="Google Shape;147;p18"/>
          <p:cNvSpPr txBox="1"/>
          <p:nvPr/>
        </p:nvSpPr>
        <p:spPr>
          <a:xfrm>
            <a:off x="819150" y="3745110"/>
            <a:ext cx="1047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DA250"/>
                </a:solidFill>
                <a:latin typeface="Inter"/>
                <a:ea typeface="Inter"/>
                <a:cs typeface="Inter"/>
                <a:sym typeface="Inter"/>
              </a:rPr>
              <a:t>•</a:t>
            </a:r>
            <a:endParaRPr/>
          </a:p>
        </p:txBody>
      </p:sp>
      <p:sp>
        <p:nvSpPr>
          <p:cNvPr id="148" name="Google Shape;148;p18"/>
          <p:cNvSpPr txBox="1"/>
          <p:nvPr/>
        </p:nvSpPr>
        <p:spPr>
          <a:xfrm>
            <a:off x="819150" y="4588073"/>
            <a:ext cx="1047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DA250"/>
                </a:solidFill>
                <a:latin typeface="Inter"/>
                <a:ea typeface="Inter"/>
                <a:cs typeface="Inter"/>
                <a:sym typeface="Inter"/>
              </a:rPr>
              <a:t>•</a:t>
            </a:r>
            <a:endParaRPr/>
          </a:p>
        </p:txBody>
      </p:sp>
      <p:sp>
        <p:nvSpPr>
          <p:cNvPr id="149" name="Google Shape;149;p18"/>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1ST AMENDMENT: NEW BORDERS</a:t>
            </a:r>
            <a:endParaRPr/>
          </a:p>
        </p:txBody>
      </p:sp>
      <p:sp>
        <p:nvSpPr>
          <p:cNvPr id="150" name="Google Shape;150;p18"/>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AutoShape 2" descr="Image of Zulfikar Ali Bhutto – Yousuf Karsh">
            <a:extLst>
              <a:ext uri="{FF2B5EF4-FFF2-40B4-BE49-F238E27FC236}">
                <a16:creationId xmlns:a16="http://schemas.microsoft.com/office/drawing/2014/main" id="{23163F22-9E2C-A494-7E0F-9015BA80F928}"/>
              </a:ext>
            </a:extLst>
          </p:cNvPr>
          <p:cNvSpPr>
            <a:spLocks noChangeAspect="1" noChangeArrowheads="1"/>
          </p:cNvSpPr>
          <p:nvPr/>
        </p:nvSpPr>
        <p:spPr bwMode="auto">
          <a:xfrm>
            <a:off x="9115424" y="3770116"/>
            <a:ext cx="3229897" cy="266018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2" name="Picture 4" descr="Zulfikar Ali Bhutto">
            <a:extLst>
              <a:ext uri="{FF2B5EF4-FFF2-40B4-BE49-F238E27FC236}">
                <a16:creationId xmlns:a16="http://schemas.microsoft.com/office/drawing/2014/main" id="{FA989B0B-1DA4-7B3A-FE80-E3C3B85C91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1133474"/>
            <a:ext cx="5275263" cy="56483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154"/>
        <p:cNvGrpSpPr/>
        <p:nvPr/>
      </p:nvGrpSpPr>
      <p:grpSpPr>
        <a:xfrm>
          <a:off x="0" y="0"/>
          <a:ext cx="0" cy="0"/>
          <a:chOff x="0" y="0"/>
          <a:chExt cx="0" cy="0"/>
        </a:xfrm>
      </p:grpSpPr>
      <p:pic>
        <p:nvPicPr>
          <p:cNvPr id="155" name="Google Shape;155;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56" name="Google Shape;156;p19"/>
          <p:cNvSpPr txBox="1"/>
          <p:nvPr/>
        </p:nvSpPr>
        <p:spPr>
          <a:xfrm>
            <a:off x="1524000" y="2400448"/>
            <a:ext cx="9572625" cy="5637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B132B"/>
                </a:solidFill>
                <a:latin typeface="Inter"/>
                <a:ea typeface="Inter"/>
                <a:cs typeface="Inter"/>
                <a:sym typeface="Inter"/>
              </a:rPr>
              <a:t>Historical Context:</a:t>
            </a:r>
            <a:r>
              <a:rPr lang="en-US" sz="1350" b="0" i="0" u="none" strike="noStrike" cap="none">
                <a:solidFill>
                  <a:srgbClr val="1C2541"/>
                </a:solidFill>
                <a:latin typeface="Inter"/>
                <a:ea typeface="Inter"/>
                <a:cs typeface="Inter"/>
                <a:sym typeface="Inter"/>
              </a:rPr>
              <a:t> Enacted on September 17, 1974, during a period of massive political and social mobilization led by religious political parties.</a:t>
            </a:r>
            <a:endParaRPr/>
          </a:p>
        </p:txBody>
      </p:sp>
      <p:sp>
        <p:nvSpPr>
          <p:cNvPr id="157" name="Google Shape;157;p19"/>
          <p:cNvSpPr txBox="1"/>
          <p:nvPr/>
        </p:nvSpPr>
        <p:spPr>
          <a:xfrm>
            <a:off x="1524000" y="3202334"/>
            <a:ext cx="9572625" cy="5637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B132B"/>
                </a:solidFill>
                <a:latin typeface="Inter"/>
                <a:ea typeface="Inter"/>
                <a:cs typeface="Inter"/>
                <a:sym typeface="Inter"/>
              </a:rPr>
              <a:t>Article 260(3) Insertion:</a:t>
            </a:r>
            <a:r>
              <a:rPr lang="en-US" sz="1350" b="0" i="0" u="none" strike="noStrike" cap="none">
                <a:solidFill>
                  <a:srgbClr val="1C2541"/>
                </a:solidFill>
                <a:latin typeface="Inter"/>
                <a:ea typeface="Inter"/>
                <a:cs typeface="Inter"/>
                <a:sym typeface="Inter"/>
              </a:rPr>
              <a:t> Provided a formal, legal definition of who is considered a Muslim for constitutional and state purposes.</a:t>
            </a:r>
            <a:endParaRPr/>
          </a:p>
        </p:txBody>
      </p:sp>
      <p:sp>
        <p:nvSpPr>
          <p:cNvPr id="158" name="Google Shape;158;p19"/>
          <p:cNvSpPr txBox="1"/>
          <p:nvPr/>
        </p:nvSpPr>
        <p:spPr>
          <a:xfrm>
            <a:off x="1524000" y="4004220"/>
            <a:ext cx="9572625" cy="2894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B132B"/>
                </a:solidFill>
                <a:latin typeface="Inter"/>
                <a:ea typeface="Inter"/>
                <a:cs typeface="Inter"/>
                <a:sym typeface="Inter"/>
              </a:rPr>
              <a:t>Ahmadi Status:</a:t>
            </a:r>
            <a:r>
              <a:rPr lang="en-US" sz="1350" b="0" i="0" u="none" strike="noStrike" cap="none">
                <a:solidFill>
                  <a:srgbClr val="1C2541"/>
                </a:solidFill>
                <a:latin typeface="Inter"/>
                <a:ea typeface="Inter"/>
                <a:cs typeface="Inter"/>
                <a:sym typeface="Inter"/>
              </a:rPr>
              <a:t> Statutorily declared the Ahmadi/Qadiani community as a non-Muslim minority under Pakistani law.</a:t>
            </a:r>
            <a:endParaRPr/>
          </a:p>
        </p:txBody>
      </p:sp>
      <p:sp>
        <p:nvSpPr>
          <p:cNvPr id="159" name="Google Shape;159;p19"/>
          <p:cNvSpPr txBox="1"/>
          <p:nvPr/>
        </p:nvSpPr>
        <p:spPr>
          <a:xfrm>
            <a:off x="1524000" y="4531816"/>
            <a:ext cx="9572625" cy="5637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B132B"/>
                </a:solidFill>
                <a:latin typeface="Inter"/>
                <a:ea typeface="Inter"/>
                <a:cs typeface="Inter"/>
                <a:sym typeface="Inter"/>
              </a:rPr>
              <a:t>Institutional Legacy:</a:t>
            </a:r>
            <a:r>
              <a:rPr lang="en-US" sz="1350" b="0" i="0" u="none" strike="noStrike" cap="none">
                <a:solidFill>
                  <a:srgbClr val="1C2541"/>
                </a:solidFill>
                <a:latin typeface="Inter"/>
                <a:ea typeface="Inter"/>
                <a:cs typeface="Inter"/>
                <a:sym typeface="Inter"/>
              </a:rPr>
              <a:t> Represented a monumental integration of theological definitions into the state's supreme constitutional code.</a:t>
            </a:r>
            <a:endParaRPr/>
          </a:p>
        </p:txBody>
      </p:sp>
      <p:pic>
        <p:nvPicPr>
          <p:cNvPr id="160" name="Google Shape;160;p19" descr="image.png"/>
          <p:cNvPicPr preferRelativeResize="0"/>
          <p:nvPr/>
        </p:nvPicPr>
        <p:blipFill rotWithShape="1">
          <a:blip r:embed="rId4">
            <a:alphaModFix/>
          </a:blip>
          <a:srcRect/>
          <a:stretch/>
        </p:blipFill>
        <p:spPr>
          <a:xfrm>
            <a:off x="1095375" y="2429023"/>
            <a:ext cx="228600" cy="247650"/>
          </a:xfrm>
          <a:prstGeom prst="rect">
            <a:avLst/>
          </a:prstGeom>
          <a:noFill/>
          <a:ln>
            <a:noFill/>
          </a:ln>
        </p:spPr>
      </p:pic>
      <p:pic>
        <p:nvPicPr>
          <p:cNvPr id="161" name="Google Shape;161;p19" descr="image.png"/>
          <p:cNvPicPr preferRelativeResize="0"/>
          <p:nvPr/>
        </p:nvPicPr>
        <p:blipFill rotWithShape="1">
          <a:blip r:embed="rId5">
            <a:alphaModFix/>
          </a:blip>
          <a:srcRect/>
          <a:stretch/>
        </p:blipFill>
        <p:spPr>
          <a:xfrm>
            <a:off x="1095375" y="3230909"/>
            <a:ext cx="200025" cy="247650"/>
          </a:xfrm>
          <a:prstGeom prst="rect">
            <a:avLst/>
          </a:prstGeom>
          <a:noFill/>
          <a:ln>
            <a:noFill/>
          </a:ln>
        </p:spPr>
      </p:pic>
      <p:pic>
        <p:nvPicPr>
          <p:cNvPr id="162" name="Google Shape;162;p19" descr="image.png"/>
          <p:cNvPicPr preferRelativeResize="0"/>
          <p:nvPr/>
        </p:nvPicPr>
        <p:blipFill rotWithShape="1">
          <a:blip r:embed="rId6">
            <a:alphaModFix/>
          </a:blip>
          <a:srcRect/>
          <a:stretch/>
        </p:blipFill>
        <p:spPr>
          <a:xfrm>
            <a:off x="1095375" y="4032795"/>
            <a:ext cx="285750" cy="247650"/>
          </a:xfrm>
          <a:prstGeom prst="rect">
            <a:avLst/>
          </a:prstGeom>
          <a:noFill/>
          <a:ln>
            <a:noFill/>
          </a:ln>
        </p:spPr>
      </p:pic>
      <p:pic>
        <p:nvPicPr>
          <p:cNvPr id="163" name="Google Shape;163;p19" descr="image.png"/>
          <p:cNvPicPr preferRelativeResize="0"/>
          <p:nvPr/>
        </p:nvPicPr>
        <p:blipFill rotWithShape="1">
          <a:blip r:embed="rId7">
            <a:alphaModFix/>
          </a:blip>
          <a:srcRect/>
          <a:stretch/>
        </p:blipFill>
        <p:spPr>
          <a:xfrm>
            <a:off x="1095375" y="4560391"/>
            <a:ext cx="228600" cy="247650"/>
          </a:xfrm>
          <a:prstGeom prst="rect">
            <a:avLst/>
          </a:prstGeom>
          <a:noFill/>
          <a:ln>
            <a:noFill/>
          </a:ln>
        </p:spPr>
      </p:pic>
      <p:sp>
        <p:nvSpPr>
          <p:cNvPr id="164" name="Google Shape;164;p19"/>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2ND AMENDMENT: DEFINED MUSLIM</a:t>
            </a:r>
            <a:endParaRPr/>
          </a:p>
        </p:txBody>
      </p:sp>
      <p:sp>
        <p:nvSpPr>
          <p:cNvPr id="165" name="Google Shape;165;p19"/>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169"/>
        <p:cNvGrpSpPr/>
        <p:nvPr/>
      </p:nvGrpSpPr>
      <p:grpSpPr>
        <a:xfrm>
          <a:off x="0" y="0"/>
          <a:ext cx="0" cy="0"/>
          <a:chOff x="0" y="0"/>
          <a:chExt cx="0" cy="0"/>
        </a:xfrm>
      </p:grpSpPr>
      <p:pic>
        <p:nvPicPr>
          <p:cNvPr id="170" name="Google Shape;170;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1" name="Google Shape;171;p20" descr="image.png"/>
          <p:cNvPicPr preferRelativeResize="0"/>
          <p:nvPr/>
        </p:nvPicPr>
        <p:blipFill rotWithShape="1">
          <a:blip r:embed="rId4">
            <a:alphaModFix/>
          </a:blip>
          <a:srcRect/>
          <a:stretch/>
        </p:blipFill>
        <p:spPr>
          <a:xfrm>
            <a:off x="771525" y="2682329"/>
            <a:ext cx="5038725" cy="2369641"/>
          </a:xfrm>
          <a:prstGeom prst="rect">
            <a:avLst/>
          </a:prstGeom>
          <a:noFill/>
          <a:ln>
            <a:noFill/>
          </a:ln>
        </p:spPr>
      </p:pic>
      <p:pic>
        <p:nvPicPr>
          <p:cNvPr id="172" name="Google Shape;172;p20" descr="image.png"/>
          <p:cNvPicPr preferRelativeResize="0"/>
          <p:nvPr/>
        </p:nvPicPr>
        <p:blipFill rotWithShape="1">
          <a:blip r:embed="rId4">
            <a:alphaModFix/>
          </a:blip>
          <a:srcRect/>
          <a:stretch/>
        </p:blipFill>
        <p:spPr>
          <a:xfrm>
            <a:off x="6381750" y="2682329"/>
            <a:ext cx="5038725" cy="2369641"/>
          </a:xfrm>
          <a:prstGeom prst="rect">
            <a:avLst/>
          </a:prstGeom>
          <a:noFill/>
          <a:ln>
            <a:noFill/>
          </a:ln>
        </p:spPr>
      </p:pic>
      <p:sp>
        <p:nvSpPr>
          <p:cNvPr id="173" name="Google Shape;173;p20"/>
          <p:cNvSpPr txBox="1"/>
          <p:nvPr/>
        </p:nvSpPr>
        <p:spPr>
          <a:xfrm>
            <a:off x="1114425" y="3070026"/>
            <a:ext cx="457057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3rd Amendment: Detention</a:t>
            </a:r>
            <a:endParaRPr/>
          </a:p>
        </p:txBody>
      </p:sp>
      <p:sp>
        <p:nvSpPr>
          <p:cNvPr id="174" name="Google Shape;174;p20"/>
          <p:cNvSpPr txBox="1"/>
          <p:nvPr/>
        </p:nvSpPr>
        <p:spPr>
          <a:xfrm>
            <a:off x="1114425" y="3546276"/>
            <a:ext cx="4352925" cy="9751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Passed on February 13, 1975. It lengthened the permissible periods of preventive detention from one month to three months without judicial review, strengthening state hand in national security matters.</a:t>
            </a:r>
            <a:endParaRPr/>
          </a:p>
        </p:txBody>
      </p:sp>
      <p:sp>
        <p:nvSpPr>
          <p:cNvPr id="175" name="Google Shape;175;p20"/>
          <p:cNvSpPr txBox="1"/>
          <p:nvPr/>
        </p:nvSpPr>
        <p:spPr>
          <a:xfrm>
            <a:off x="6724650" y="3025229"/>
            <a:ext cx="4570571" cy="666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4th Amendment: Minority Seats</a:t>
            </a:r>
            <a:endParaRPr/>
          </a:p>
        </p:txBody>
      </p:sp>
      <p:sp>
        <p:nvSpPr>
          <p:cNvPr id="176" name="Google Shape;176;p20"/>
          <p:cNvSpPr txBox="1"/>
          <p:nvPr/>
        </p:nvSpPr>
        <p:spPr>
          <a:xfrm>
            <a:off x="6724650" y="3834854"/>
            <a:ext cx="4352925"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Enacted on November 21, 1975. It introduced additional reserved seats for minorities in legislatures, while curtailing the power of courts to grant bail under preventive custody.</a:t>
            </a:r>
            <a:endParaRPr/>
          </a:p>
        </p:txBody>
      </p:sp>
      <p:sp>
        <p:nvSpPr>
          <p:cNvPr id="177" name="Google Shape;177;p20"/>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3RD &amp; 4TH AMENDMENTS (1975)</a:t>
            </a:r>
            <a:endParaRPr/>
          </a:p>
        </p:txBody>
      </p:sp>
      <p:sp>
        <p:nvSpPr>
          <p:cNvPr id="178" name="Google Shape;178;p20"/>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182"/>
        <p:cNvGrpSpPr/>
        <p:nvPr/>
      </p:nvGrpSpPr>
      <p:grpSpPr>
        <a:xfrm>
          <a:off x="0" y="0"/>
          <a:ext cx="0" cy="0"/>
          <a:chOff x="0" y="0"/>
          <a:chExt cx="0" cy="0"/>
        </a:xfrm>
      </p:grpSpPr>
      <p:pic>
        <p:nvPicPr>
          <p:cNvPr id="183" name="Google Shape;183;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4" name="Google Shape;184;p21" descr="image.png"/>
          <p:cNvPicPr preferRelativeResize="0"/>
          <p:nvPr/>
        </p:nvPicPr>
        <p:blipFill rotWithShape="1">
          <a:blip r:embed="rId4">
            <a:alphaModFix/>
          </a:blip>
          <a:srcRect/>
          <a:stretch/>
        </p:blipFill>
        <p:spPr>
          <a:xfrm>
            <a:off x="771525" y="2324248"/>
            <a:ext cx="3359199" cy="3085802"/>
          </a:xfrm>
          <a:prstGeom prst="rect">
            <a:avLst/>
          </a:prstGeom>
          <a:noFill/>
          <a:ln>
            <a:noFill/>
          </a:ln>
        </p:spPr>
      </p:pic>
      <p:pic>
        <p:nvPicPr>
          <p:cNvPr id="185" name="Google Shape;185;p21" descr="image.png"/>
          <p:cNvPicPr preferRelativeResize="0"/>
          <p:nvPr/>
        </p:nvPicPr>
        <p:blipFill rotWithShape="1">
          <a:blip r:embed="rId5">
            <a:alphaModFix/>
          </a:blip>
          <a:srcRect/>
          <a:stretch/>
        </p:blipFill>
        <p:spPr>
          <a:xfrm>
            <a:off x="4416474" y="2324248"/>
            <a:ext cx="3359199" cy="3085802"/>
          </a:xfrm>
          <a:prstGeom prst="rect">
            <a:avLst/>
          </a:prstGeom>
          <a:noFill/>
          <a:ln>
            <a:noFill/>
          </a:ln>
        </p:spPr>
      </p:pic>
      <p:pic>
        <p:nvPicPr>
          <p:cNvPr id="186" name="Google Shape;186;p21" descr="image.png"/>
          <p:cNvPicPr preferRelativeResize="0"/>
          <p:nvPr/>
        </p:nvPicPr>
        <p:blipFill rotWithShape="1">
          <a:blip r:embed="rId6">
            <a:alphaModFix/>
          </a:blip>
          <a:srcRect/>
          <a:stretch/>
        </p:blipFill>
        <p:spPr>
          <a:xfrm>
            <a:off x="8061424" y="2324248"/>
            <a:ext cx="3359199" cy="3085802"/>
          </a:xfrm>
          <a:prstGeom prst="rect">
            <a:avLst/>
          </a:prstGeom>
          <a:noFill/>
          <a:ln>
            <a:noFill/>
          </a:ln>
        </p:spPr>
      </p:pic>
      <p:sp>
        <p:nvSpPr>
          <p:cNvPr id="187" name="Google Shape;187;p21"/>
          <p:cNvSpPr txBox="1"/>
          <p:nvPr/>
        </p:nvSpPr>
        <p:spPr>
          <a:xfrm>
            <a:off x="1293405" y="3276748"/>
            <a:ext cx="2315289"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5th Amendment</a:t>
            </a:r>
            <a:endParaRPr/>
          </a:p>
        </p:txBody>
      </p:sp>
      <p:sp>
        <p:nvSpPr>
          <p:cNvPr id="188" name="Google Shape;188;p21"/>
          <p:cNvSpPr txBox="1"/>
          <p:nvPr/>
        </p:nvSpPr>
        <p:spPr>
          <a:xfrm>
            <a:off x="1066800" y="3752998"/>
            <a:ext cx="2768649" cy="1218902"/>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Passed in September 1976. It restricted the powers of the High Courts under Article 199, preventing them from granting interim reliefs on executive decisions.</a:t>
            </a:r>
            <a:endParaRPr/>
          </a:p>
        </p:txBody>
      </p:sp>
      <p:sp>
        <p:nvSpPr>
          <p:cNvPr id="189" name="Google Shape;189;p21"/>
          <p:cNvSpPr txBox="1"/>
          <p:nvPr/>
        </p:nvSpPr>
        <p:spPr>
          <a:xfrm>
            <a:off x="4928354" y="3276748"/>
            <a:ext cx="2335291"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6th Amendment</a:t>
            </a:r>
            <a:endParaRPr/>
          </a:p>
        </p:txBody>
      </p:sp>
      <p:sp>
        <p:nvSpPr>
          <p:cNvPr id="190" name="Google Shape;190;p21"/>
          <p:cNvSpPr txBox="1"/>
          <p:nvPr/>
        </p:nvSpPr>
        <p:spPr>
          <a:xfrm>
            <a:off x="4711749" y="3752998"/>
            <a:ext cx="2768649" cy="1218902"/>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Passed in December 1976. It permitted the Chief Justice of the Supreme Court to complete their tenure regardless of reaching the retirement age limit.</a:t>
            </a:r>
            <a:endParaRPr/>
          </a:p>
        </p:txBody>
      </p:sp>
      <p:sp>
        <p:nvSpPr>
          <p:cNvPr id="191" name="Google Shape;191;p21"/>
          <p:cNvSpPr txBox="1"/>
          <p:nvPr/>
        </p:nvSpPr>
        <p:spPr>
          <a:xfrm>
            <a:off x="8330773" y="3276748"/>
            <a:ext cx="2820352"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Judicial Authority</a:t>
            </a:r>
            <a:endParaRPr/>
          </a:p>
        </p:txBody>
      </p:sp>
      <p:sp>
        <p:nvSpPr>
          <p:cNvPr id="192" name="Google Shape;192;p21"/>
          <p:cNvSpPr txBox="1"/>
          <p:nvPr/>
        </p:nvSpPr>
        <p:spPr>
          <a:xfrm>
            <a:off x="8356699" y="3752998"/>
            <a:ext cx="2768649" cy="1218902"/>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Both amendments were viewed by contemporary legal experts as executive measures designed to establish supremacy over the superior courts.</a:t>
            </a:r>
            <a:endParaRPr/>
          </a:p>
        </p:txBody>
      </p:sp>
      <p:pic>
        <p:nvPicPr>
          <p:cNvPr id="193" name="Google Shape;193;p21" descr="image.png"/>
          <p:cNvPicPr preferRelativeResize="0"/>
          <p:nvPr/>
        </p:nvPicPr>
        <p:blipFill rotWithShape="1">
          <a:blip r:embed="rId7">
            <a:alphaModFix/>
          </a:blip>
          <a:srcRect/>
          <a:stretch/>
        </p:blipFill>
        <p:spPr>
          <a:xfrm>
            <a:off x="2260550" y="2657623"/>
            <a:ext cx="381000" cy="381000"/>
          </a:xfrm>
          <a:prstGeom prst="rect">
            <a:avLst/>
          </a:prstGeom>
          <a:noFill/>
          <a:ln>
            <a:noFill/>
          </a:ln>
        </p:spPr>
      </p:pic>
      <p:pic>
        <p:nvPicPr>
          <p:cNvPr id="194" name="Google Shape;194;p21" descr="image.png"/>
          <p:cNvPicPr preferRelativeResize="0"/>
          <p:nvPr/>
        </p:nvPicPr>
        <p:blipFill rotWithShape="1">
          <a:blip r:embed="rId8">
            <a:alphaModFix/>
          </a:blip>
          <a:srcRect/>
          <a:stretch/>
        </p:blipFill>
        <p:spPr>
          <a:xfrm>
            <a:off x="5929312" y="2657623"/>
            <a:ext cx="333375" cy="381000"/>
          </a:xfrm>
          <a:prstGeom prst="rect">
            <a:avLst/>
          </a:prstGeom>
          <a:noFill/>
          <a:ln>
            <a:noFill/>
          </a:ln>
        </p:spPr>
      </p:pic>
      <p:pic>
        <p:nvPicPr>
          <p:cNvPr id="195" name="Google Shape;195;p21" descr="image.png"/>
          <p:cNvPicPr preferRelativeResize="0"/>
          <p:nvPr/>
        </p:nvPicPr>
        <p:blipFill rotWithShape="1">
          <a:blip r:embed="rId9">
            <a:alphaModFix/>
          </a:blip>
          <a:srcRect/>
          <a:stretch/>
        </p:blipFill>
        <p:spPr>
          <a:xfrm>
            <a:off x="9502824" y="2657623"/>
            <a:ext cx="476250" cy="381000"/>
          </a:xfrm>
          <a:prstGeom prst="rect">
            <a:avLst/>
          </a:prstGeom>
          <a:noFill/>
          <a:ln>
            <a:noFill/>
          </a:ln>
        </p:spPr>
      </p:pic>
      <p:sp>
        <p:nvSpPr>
          <p:cNvPr id="196" name="Google Shape;196;p21"/>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5TH &amp; 6TH AMENDMENTS (1976)</a:t>
            </a:r>
            <a:endParaRPr/>
          </a:p>
        </p:txBody>
      </p:sp>
      <p:sp>
        <p:nvSpPr>
          <p:cNvPr id="197" name="Google Shape;197;p21"/>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201"/>
        <p:cNvGrpSpPr/>
        <p:nvPr/>
      </p:nvGrpSpPr>
      <p:grpSpPr>
        <a:xfrm>
          <a:off x="0" y="0"/>
          <a:ext cx="0" cy="0"/>
          <a:chOff x="0" y="0"/>
          <a:chExt cx="0" cy="0"/>
        </a:xfrm>
      </p:grpSpPr>
      <p:pic>
        <p:nvPicPr>
          <p:cNvPr id="202" name="Google Shape;202;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3" name="Google Shape;203;p22"/>
          <p:cNvSpPr txBox="1"/>
          <p:nvPr/>
        </p:nvSpPr>
        <p:spPr>
          <a:xfrm>
            <a:off x="1524000" y="2263378"/>
            <a:ext cx="9572625" cy="5637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B132B"/>
                </a:solidFill>
                <a:latin typeface="Inter"/>
                <a:ea typeface="Inter"/>
                <a:cs typeface="Inter"/>
                <a:sym typeface="Inter"/>
              </a:rPr>
              <a:t>Crisis Mode:</a:t>
            </a:r>
            <a:r>
              <a:rPr lang="en-US" sz="1350" b="0" i="0" u="none" strike="noStrike" cap="none">
                <a:solidFill>
                  <a:srgbClr val="1C2541"/>
                </a:solidFill>
                <a:latin typeface="Inter"/>
                <a:ea typeface="Inter"/>
                <a:cs typeface="Inter"/>
                <a:sym typeface="Inter"/>
              </a:rPr>
              <a:t> Passed on May 13, 1977, as political crisis peaked following allegations of electoral rigging during general elections.</a:t>
            </a:r>
            <a:endParaRPr/>
          </a:p>
        </p:txBody>
      </p:sp>
      <p:sp>
        <p:nvSpPr>
          <p:cNvPr id="204" name="Google Shape;204;p22"/>
          <p:cNvSpPr txBox="1"/>
          <p:nvPr/>
        </p:nvSpPr>
        <p:spPr>
          <a:xfrm>
            <a:off x="1524000" y="3065264"/>
            <a:ext cx="9572625" cy="5637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B132B"/>
                </a:solidFill>
                <a:latin typeface="Inter"/>
                <a:ea typeface="Inter"/>
                <a:cs typeface="Inter"/>
                <a:sym typeface="Inter"/>
              </a:rPr>
              <a:t>Referendum Mechanism:</a:t>
            </a:r>
            <a:r>
              <a:rPr lang="en-US" sz="1350" b="0" i="0" u="none" strike="noStrike" cap="none">
                <a:solidFill>
                  <a:srgbClr val="1C2541"/>
                </a:solidFill>
                <a:latin typeface="Inter"/>
                <a:ea typeface="Inter"/>
                <a:cs typeface="Inter"/>
                <a:sym typeface="Inter"/>
              </a:rPr>
              <a:t> Allowed the Prime Minister to bypass parliament to secure direct political validation from the electorate.</a:t>
            </a:r>
            <a:endParaRPr/>
          </a:p>
        </p:txBody>
      </p:sp>
      <p:sp>
        <p:nvSpPr>
          <p:cNvPr id="205" name="Google Shape;205;p22"/>
          <p:cNvSpPr txBox="1"/>
          <p:nvPr/>
        </p:nvSpPr>
        <p:spPr>
          <a:xfrm>
            <a:off x="1524000" y="3867150"/>
            <a:ext cx="9572625" cy="5637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B132B"/>
                </a:solidFill>
                <a:latin typeface="Inter"/>
                <a:ea typeface="Inter"/>
                <a:cs typeface="Inter"/>
                <a:sym typeface="Inter"/>
              </a:rPr>
              <a:t>Bhutto's Gambit:</a:t>
            </a:r>
            <a:r>
              <a:rPr lang="en-US" sz="1350" b="0" i="0" u="none" strike="noStrike" cap="none">
                <a:solidFill>
                  <a:srgbClr val="1C2541"/>
                </a:solidFill>
                <a:latin typeface="Inter"/>
                <a:ea typeface="Inter"/>
                <a:cs typeface="Inter"/>
                <a:sym typeface="Inter"/>
              </a:rPr>
              <a:t> Framed as a tool to defuse tensions and demonstrate popular mandate amidst severe street protests.</a:t>
            </a:r>
            <a:endParaRPr/>
          </a:p>
        </p:txBody>
      </p:sp>
      <p:sp>
        <p:nvSpPr>
          <p:cNvPr id="206" name="Google Shape;206;p22"/>
          <p:cNvSpPr txBox="1"/>
          <p:nvPr/>
        </p:nvSpPr>
        <p:spPr>
          <a:xfrm>
            <a:off x="1524000" y="4669035"/>
            <a:ext cx="9572625" cy="5637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B132B"/>
                </a:solidFill>
                <a:latin typeface="Inter"/>
                <a:ea typeface="Inter"/>
                <a:cs typeface="Inter"/>
                <a:sym typeface="Inter"/>
              </a:rPr>
              <a:t>The Aftermath:</a:t>
            </a:r>
            <a:r>
              <a:rPr lang="en-US" sz="1350" b="0" i="0" u="none" strike="noStrike" cap="none">
                <a:solidFill>
                  <a:srgbClr val="1C2541"/>
                </a:solidFill>
                <a:latin typeface="Inter"/>
                <a:ea typeface="Inter"/>
                <a:cs typeface="Inter"/>
                <a:sym typeface="Inter"/>
              </a:rPr>
              <a:t> The political compromise failed, leading directly to the coup d'état of General Zia-ul-Haq on July 5, 1977.</a:t>
            </a:r>
            <a:endParaRPr/>
          </a:p>
        </p:txBody>
      </p:sp>
      <p:pic>
        <p:nvPicPr>
          <p:cNvPr id="207" name="Google Shape;207;p22" descr="image.png"/>
          <p:cNvPicPr preferRelativeResize="0"/>
          <p:nvPr/>
        </p:nvPicPr>
        <p:blipFill rotWithShape="1">
          <a:blip r:embed="rId4">
            <a:alphaModFix/>
          </a:blip>
          <a:srcRect/>
          <a:stretch/>
        </p:blipFill>
        <p:spPr>
          <a:xfrm>
            <a:off x="1095375" y="2291953"/>
            <a:ext cx="200025" cy="247650"/>
          </a:xfrm>
          <a:prstGeom prst="rect">
            <a:avLst/>
          </a:prstGeom>
          <a:noFill/>
          <a:ln>
            <a:noFill/>
          </a:ln>
        </p:spPr>
      </p:pic>
      <p:pic>
        <p:nvPicPr>
          <p:cNvPr id="208" name="Google Shape;208;p22" descr="image.png"/>
          <p:cNvPicPr preferRelativeResize="0"/>
          <p:nvPr/>
        </p:nvPicPr>
        <p:blipFill rotWithShape="1">
          <a:blip r:embed="rId5">
            <a:alphaModFix/>
          </a:blip>
          <a:srcRect/>
          <a:stretch/>
        </p:blipFill>
        <p:spPr>
          <a:xfrm>
            <a:off x="1095375" y="3093839"/>
            <a:ext cx="200025" cy="247650"/>
          </a:xfrm>
          <a:prstGeom prst="rect">
            <a:avLst/>
          </a:prstGeom>
          <a:noFill/>
          <a:ln>
            <a:noFill/>
          </a:ln>
        </p:spPr>
      </p:pic>
      <p:pic>
        <p:nvPicPr>
          <p:cNvPr id="209" name="Google Shape;209;p22" descr="image.png"/>
          <p:cNvPicPr preferRelativeResize="0"/>
          <p:nvPr/>
        </p:nvPicPr>
        <p:blipFill rotWithShape="1">
          <a:blip r:embed="rId6">
            <a:alphaModFix/>
          </a:blip>
          <a:srcRect/>
          <a:stretch/>
        </p:blipFill>
        <p:spPr>
          <a:xfrm>
            <a:off x="1095375" y="3895725"/>
            <a:ext cx="171450" cy="247650"/>
          </a:xfrm>
          <a:prstGeom prst="rect">
            <a:avLst/>
          </a:prstGeom>
          <a:noFill/>
          <a:ln>
            <a:noFill/>
          </a:ln>
        </p:spPr>
      </p:pic>
      <p:pic>
        <p:nvPicPr>
          <p:cNvPr id="210" name="Google Shape;210;p22" descr="image.png"/>
          <p:cNvPicPr preferRelativeResize="0"/>
          <p:nvPr/>
        </p:nvPicPr>
        <p:blipFill rotWithShape="1">
          <a:blip r:embed="rId7">
            <a:alphaModFix/>
          </a:blip>
          <a:srcRect/>
          <a:stretch/>
        </p:blipFill>
        <p:spPr>
          <a:xfrm>
            <a:off x="1095375" y="4697610"/>
            <a:ext cx="228600" cy="247650"/>
          </a:xfrm>
          <a:prstGeom prst="rect">
            <a:avLst/>
          </a:prstGeom>
          <a:noFill/>
          <a:ln>
            <a:noFill/>
          </a:ln>
        </p:spPr>
      </p:pic>
      <p:sp>
        <p:nvSpPr>
          <p:cNvPr id="211" name="Google Shape;211;p22"/>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7TH AMENDMENT: REFERENDUM</a:t>
            </a:r>
            <a:endParaRPr/>
          </a:p>
        </p:txBody>
      </p:sp>
      <p:sp>
        <p:nvSpPr>
          <p:cNvPr id="212" name="Google Shape;212;p22"/>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Shape 216"/>
        <p:cNvGrpSpPr/>
        <p:nvPr/>
      </p:nvGrpSpPr>
      <p:grpSpPr>
        <a:xfrm>
          <a:off x="0" y="0"/>
          <a:ext cx="0" cy="0"/>
          <a:chOff x="0" y="0"/>
          <a:chExt cx="0" cy="0"/>
        </a:xfrm>
      </p:grpSpPr>
      <p:pic>
        <p:nvPicPr>
          <p:cNvPr id="217" name="Google Shape;217;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8" name="Google Shape;218;p23"/>
          <p:cNvSpPr/>
          <p:nvPr/>
        </p:nvSpPr>
        <p:spPr>
          <a:xfrm>
            <a:off x="5524500" y="2584251"/>
            <a:ext cx="1143000" cy="3810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9" name="Google Shape;219;p23"/>
          <p:cNvSpPr txBox="1"/>
          <p:nvPr/>
        </p:nvSpPr>
        <p:spPr>
          <a:xfrm>
            <a:off x="1830466" y="2908101"/>
            <a:ext cx="8531066" cy="64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750" b="1" i="0" u="none" strike="noStrike" cap="none">
                <a:solidFill>
                  <a:srgbClr val="FCFBFA"/>
                </a:solidFill>
                <a:latin typeface="Cinzel"/>
                <a:ea typeface="Cinzel"/>
                <a:cs typeface="Cinzel"/>
                <a:sym typeface="Cinzel"/>
              </a:rPr>
              <a:t>PART II: PRESIDENTIAL POWER</a:t>
            </a:r>
            <a:endParaRPr/>
          </a:p>
        </p:txBody>
      </p:sp>
      <p:sp>
        <p:nvSpPr>
          <p:cNvPr id="220" name="Google Shape;220;p23"/>
          <p:cNvSpPr txBox="1"/>
          <p:nvPr/>
        </p:nvSpPr>
        <p:spPr>
          <a:xfrm>
            <a:off x="2286000" y="3746301"/>
            <a:ext cx="7620000" cy="67032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CBD5E1"/>
                </a:solidFill>
                <a:latin typeface="Inter"/>
                <a:ea typeface="Inter"/>
                <a:cs typeface="Inter"/>
                <a:sym typeface="Inter"/>
              </a:rPr>
              <a:t>The Zia-ul-Haq Era, Constitutional Subversion, and the Rise of Article 58(2)(b) (1977–1988)</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224"/>
        <p:cNvGrpSpPr/>
        <p:nvPr/>
      </p:nvGrpSpPr>
      <p:grpSpPr>
        <a:xfrm>
          <a:off x="0" y="0"/>
          <a:ext cx="0" cy="0"/>
          <a:chOff x="0" y="0"/>
          <a:chExt cx="0" cy="0"/>
        </a:xfrm>
      </p:grpSpPr>
      <p:pic>
        <p:nvPicPr>
          <p:cNvPr id="225" name="Google Shape;225;p24" descr="image.png"/>
          <p:cNvPicPr preferRelativeResize="0"/>
          <p:nvPr/>
        </p:nvPicPr>
        <p:blipFill rotWithShape="1">
          <a:blip r:embed="rId3">
            <a:alphaModFix/>
          </a:blip>
          <a:srcRect/>
          <a:stretch/>
        </p:blipFill>
        <p:spPr>
          <a:xfrm>
            <a:off x="6388701" y="245566"/>
            <a:ext cx="5649946" cy="6858000"/>
          </a:xfrm>
          <a:prstGeom prst="rect">
            <a:avLst/>
          </a:prstGeom>
          <a:noFill/>
          <a:ln>
            <a:noFill/>
          </a:ln>
        </p:spPr>
      </p:pic>
      <p:sp>
        <p:nvSpPr>
          <p:cNvPr id="227" name="Google Shape;227;p24"/>
          <p:cNvSpPr txBox="1"/>
          <p:nvPr/>
        </p:nvSpPr>
        <p:spPr>
          <a:xfrm>
            <a:off x="771525" y="2057400"/>
            <a:ext cx="529066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The Structural Overhaul</a:t>
            </a:r>
            <a:endParaRPr/>
          </a:p>
        </p:txBody>
      </p:sp>
      <p:sp>
        <p:nvSpPr>
          <p:cNvPr id="228" name="Google Shape;228;p24"/>
          <p:cNvSpPr txBox="1"/>
          <p:nvPr/>
        </p:nvSpPr>
        <p:spPr>
          <a:xfrm>
            <a:off x="771525" y="2533650"/>
            <a:ext cx="5038725"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Enacted on November 9, 1985, by the Junejo assembly, the Eighth Amendment permanently altered the power balance of the 1973 Constitution.</a:t>
            </a:r>
            <a:endParaRPr/>
          </a:p>
        </p:txBody>
      </p:sp>
      <p:sp>
        <p:nvSpPr>
          <p:cNvPr id="229" name="Google Shape;229;p24"/>
          <p:cNvSpPr txBox="1"/>
          <p:nvPr/>
        </p:nvSpPr>
        <p:spPr>
          <a:xfrm>
            <a:off x="1009650" y="3407866"/>
            <a:ext cx="4800600"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1" i="0" u="none" strike="noStrike" cap="none">
                <a:solidFill>
                  <a:srgbClr val="1C2541"/>
                </a:solidFill>
                <a:latin typeface="Inter"/>
                <a:ea typeface="Inter"/>
                <a:cs typeface="Inter"/>
                <a:sym typeface="Inter"/>
              </a:rPr>
              <a:t>Semi-Presidentialism:</a:t>
            </a:r>
            <a:r>
              <a:rPr lang="en-US" sz="1275" b="0" i="0" u="none" strike="noStrike" cap="none">
                <a:solidFill>
                  <a:srgbClr val="1C2541"/>
                </a:solidFill>
                <a:latin typeface="Inter"/>
                <a:ea typeface="Inter"/>
                <a:cs typeface="Inter"/>
                <a:sym typeface="Inter"/>
              </a:rPr>
              <a:t> Shifted executive authority from the Prime Minister directly to the President.</a:t>
            </a:r>
            <a:endParaRPr/>
          </a:p>
        </p:txBody>
      </p:sp>
      <p:sp>
        <p:nvSpPr>
          <p:cNvPr id="230" name="Google Shape;230;p24"/>
          <p:cNvSpPr txBox="1"/>
          <p:nvPr/>
        </p:nvSpPr>
        <p:spPr>
          <a:xfrm>
            <a:off x="1009650" y="4007941"/>
            <a:ext cx="4800600"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1" i="0" u="none" strike="noStrike" cap="none">
                <a:solidFill>
                  <a:srgbClr val="1C2541"/>
                </a:solidFill>
                <a:latin typeface="Inter"/>
                <a:ea typeface="Inter"/>
                <a:cs typeface="Inter"/>
                <a:sym typeface="Inter"/>
              </a:rPr>
              <a:t>Article 58(2)(b):</a:t>
            </a:r>
            <a:r>
              <a:rPr lang="en-US" sz="1275" b="0" i="0" u="none" strike="noStrike" cap="none">
                <a:solidFill>
                  <a:srgbClr val="1C2541"/>
                </a:solidFill>
                <a:latin typeface="Inter"/>
                <a:ea typeface="Inter"/>
                <a:cs typeface="Inter"/>
                <a:sym typeface="Inter"/>
              </a:rPr>
              <a:t> Empowered the President to unilaterally dissolve the National Assembly.</a:t>
            </a:r>
            <a:endParaRPr/>
          </a:p>
        </p:txBody>
      </p:sp>
      <p:sp>
        <p:nvSpPr>
          <p:cNvPr id="231" name="Google Shape;231;p24"/>
          <p:cNvSpPr txBox="1"/>
          <p:nvPr/>
        </p:nvSpPr>
        <p:spPr>
          <a:xfrm>
            <a:off x="1009650" y="4608016"/>
            <a:ext cx="4800600"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1" i="0" u="none" strike="noStrike" cap="none">
                <a:solidFill>
                  <a:srgbClr val="1C2541"/>
                </a:solidFill>
                <a:latin typeface="Inter"/>
                <a:ea typeface="Inter"/>
                <a:cs typeface="Inter"/>
                <a:sym typeface="Inter"/>
              </a:rPr>
              <a:t>Indemnity Clause:</a:t>
            </a:r>
            <a:r>
              <a:rPr lang="en-US" sz="1275" b="0" i="0" u="none" strike="noStrike" cap="none">
                <a:solidFill>
                  <a:srgbClr val="1C2541"/>
                </a:solidFill>
                <a:latin typeface="Inter"/>
                <a:ea typeface="Inter"/>
                <a:cs typeface="Inter"/>
                <a:sym typeface="Inter"/>
              </a:rPr>
              <a:t> Validated all martial law decrees issued since July 1977.</a:t>
            </a:r>
            <a:endParaRPr/>
          </a:p>
        </p:txBody>
      </p:sp>
      <p:sp>
        <p:nvSpPr>
          <p:cNvPr id="233" name="Google Shape;233;p24"/>
          <p:cNvSpPr txBox="1"/>
          <p:nvPr/>
        </p:nvSpPr>
        <p:spPr>
          <a:xfrm>
            <a:off x="819150" y="3388816"/>
            <a:ext cx="1047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DA250"/>
                </a:solidFill>
                <a:latin typeface="Inter"/>
                <a:ea typeface="Inter"/>
                <a:cs typeface="Inter"/>
                <a:sym typeface="Inter"/>
              </a:rPr>
              <a:t>•</a:t>
            </a:r>
            <a:endParaRPr/>
          </a:p>
        </p:txBody>
      </p:sp>
      <p:sp>
        <p:nvSpPr>
          <p:cNvPr id="234" name="Google Shape;234;p24"/>
          <p:cNvSpPr txBox="1"/>
          <p:nvPr/>
        </p:nvSpPr>
        <p:spPr>
          <a:xfrm>
            <a:off x="819150" y="3988891"/>
            <a:ext cx="1047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DA250"/>
                </a:solidFill>
                <a:latin typeface="Inter"/>
                <a:ea typeface="Inter"/>
                <a:cs typeface="Inter"/>
                <a:sym typeface="Inter"/>
              </a:rPr>
              <a:t>•</a:t>
            </a:r>
            <a:endParaRPr/>
          </a:p>
        </p:txBody>
      </p:sp>
      <p:sp>
        <p:nvSpPr>
          <p:cNvPr id="235" name="Google Shape;235;p24"/>
          <p:cNvSpPr txBox="1"/>
          <p:nvPr/>
        </p:nvSpPr>
        <p:spPr>
          <a:xfrm>
            <a:off x="819150" y="4588966"/>
            <a:ext cx="1047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DA250"/>
                </a:solidFill>
                <a:latin typeface="Inter"/>
                <a:ea typeface="Inter"/>
                <a:cs typeface="Inter"/>
                <a:sym typeface="Inter"/>
              </a:rPr>
              <a:t>•</a:t>
            </a:r>
            <a:endParaRPr/>
          </a:p>
        </p:txBody>
      </p:sp>
      <p:sp>
        <p:nvSpPr>
          <p:cNvPr id="236" name="Google Shape;236;p24"/>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8TH AMENDMENT: ZIA ERA</a:t>
            </a:r>
            <a:endParaRPr/>
          </a:p>
        </p:txBody>
      </p:sp>
      <p:sp>
        <p:nvSpPr>
          <p:cNvPr id="237" name="Google Shape;237;p24"/>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30" name="Picture 6" descr="Role of Zia-ul-Haq in changing Pak society - Modern Diplomacy">
            <a:extLst>
              <a:ext uri="{FF2B5EF4-FFF2-40B4-BE49-F238E27FC236}">
                <a16:creationId xmlns:a16="http://schemas.microsoft.com/office/drawing/2014/main" id="{F5151AA2-E525-78F3-051C-A6B092234A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5206" y="1057275"/>
            <a:ext cx="4720994" cy="57397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241"/>
        <p:cNvGrpSpPr/>
        <p:nvPr/>
      </p:nvGrpSpPr>
      <p:grpSpPr>
        <a:xfrm>
          <a:off x="0" y="0"/>
          <a:ext cx="0" cy="0"/>
          <a:chOff x="0" y="0"/>
          <a:chExt cx="0" cy="0"/>
        </a:xfrm>
      </p:grpSpPr>
      <p:pic>
        <p:nvPicPr>
          <p:cNvPr id="242" name="Google Shape;242;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3" name="Google Shape;243;p25" descr="image.png"/>
          <p:cNvPicPr preferRelativeResize="0"/>
          <p:nvPr/>
        </p:nvPicPr>
        <p:blipFill rotWithShape="1">
          <a:blip r:embed="rId4">
            <a:alphaModFix/>
          </a:blip>
          <a:srcRect/>
          <a:stretch/>
        </p:blipFill>
        <p:spPr>
          <a:xfrm>
            <a:off x="771525" y="2849016"/>
            <a:ext cx="5038725" cy="2036266"/>
          </a:xfrm>
          <a:prstGeom prst="rect">
            <a:avLst/>
          </a:prstGeom>
          <a:noFill/>
          <a:ln>
            <a:noFill/>
          </a:ln>
        </p:spPr>
      </p:pic>
      <p:pic>
        <p:nvPicPr>
          <p:cNvPr id="244" name="Google Shape;244;p25" descr="image.png"/>
          <p:cNvPicPr preferRelativeResize="0"/>
          <p:nvPr/>
        </p:nvPicPr>
        <p:blipFill rotWithShape="1">
          <a:blip r:embed="rId4">
            <a:alphaModFix/>
          </a:blip>
          <a:srcRect/>
          <a:stretch/>
        </p:blipFill>
        <p:spPr>
          <a:xfrm>
            <a:off x="6381750" y="2849016"/>
            <a:ext cx="5038725" cy="2036266"/>
          </a:xfrm>
          <a:prstGeom prst="rect">
            <a:avLst/>
          </a:prstGeom>
          <a:noFill/>
          <a:ln>
            <a:noFill/>
          </a:ln>
        </p:spPr>
      </p:pic>
      <p:sp>
        <p:nvSpPr>
          <p:cNvPr id="245" name="Google Shape;245;p25"/>
          <p:cNvSpPr txBox="1"/>
          <p:nvPr/>
        </p:nvSpPr>
        <p:spPr>
          <a:xfrm>
            <a:off x="1114425" y="3191916"/>
            <a:ext cx="457057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Prime Minister Subjugated</a:t>
            </a:r>
            <a:endParaRPr/>
          </a:p>
        </p:txBody>
      </p:sp>
      <p:sp>
        <p:nvSpPr>
          <p:cNvPr id="246" name="Google Shape;246;p25"/>
          <p:cNvSpPr txBox="1"/>
          <p:nvPr/>
        </p:nvSpPr>
        <p:spPr>
          <a:xfrm>
            <a:off x="1114425" y="3668166"/>
            <a:ext cx="4352925"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The Prime Minister was made entirely subordinate to the President. The cabinet's survival depended directly on presidential favor, neutralizing the parliamentary core.</a:t>
            </a:r>
            <a:endParaRPr/>
          </a:p>
        </p:txBody>
      </p:sp>
      <p:sp>
        <p:nvSpPr>
          <p:cNvPr id="247" name="Google Shape;247;p25"/>
          <p:cNvSpPr txBox="1"/>
          <p:nvPr/>
        </p:nvSpPr>
        <p:spPr>
          <a:xfrm>
            <a:off x="6724650" y="3191916"/>
            <a:ext cx="457057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Dissolution Prerogative</a:t>
            </a:r>
            <a:endParaRPr/>
          </a:p>
        </p:txBody>
      </p:sp>
      <p:sp>
        <p:nvSpPr>
          <p:cNvPr id="248" name="Google Shape;248;p25"/>
          <p:cNvSpPr txBox="1"/>
          <p:nvPr/>
        </p:nvSpPr>
        <p:spPr>
          <a:xfrm>
            <a:off x="6724650" y="3668166"/>
            <a:ext cx="4352925"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By invoking Article 58(2)(b), Presidents dismissed four elected governments from 1988 to 1996, creating a permanent atmosphere of political instability.</a:t>
            </a:r>
            <a:endParaRPr/>
          </a:p>
        </p:txBody>
      </p:sp>
      <p:sp>
        <p:nvSpPr>
          <p:cNvPr id="249" name="Google Shape;249;p25"/>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8TH AMENDMENT: POWER BALANCE</a:t>
            </a:r>
            <a:endParaRPr/>
          </a:p>
        </p:txBody>
      </p:sp>
      <p:sp>
        <p:nvSpPr>
          <p:cNvPr id="250" name="Google Shape;250;p25"/>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254"/>
        <p:cNvGrpSpPr/>
        <p:nvPr/>
      </p:nvGrpSpPr>
      <p:grpSpPr>
        <a:xfrm>
          <a:off x="0" y="0"/>
          <a:ext cx="0" cy="0"/>
          <a:chOff x="0" y="0"/>
          <a:chExt cx="0" cy="0"/>
        </a:xfrm>
      </p:grpSpPr>
      <p:pic>
        <p:nvPicPr>
          <p:cNvPr id="255" name="Google Shape;255;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6" name="Google Shape;256;p26"/>
          <p:cNvSpPr txBox="1"/>
          <p:nvPr/>
        </p:nvSpPr>
        <p:spPr>
          <a:xfrm>
            <a:off x="1524000" y="2537668"/>
            <a:ext cx="9572625" cy="5637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B132B"/>
                </a:solidFill>
                <a:latin typeface="Inter"/>
                <a:ea typeface="Inter"/>
                <a:cs typeface="Inter"/>
                <a:sym typeface="Inter"/>
              </a:rPr>
              <a:t>10th Amendment (1987):</a:t>
            </a:r>
            <a:r>
              <a:rPr lang="en-US" sz="1350" b="0" i="0" u="none" strike="noStrike" cap="none">
                <a:solidFill>
                  <a:srgbClr val="1C2541"/>
                </a:solidFill>
                <a:latin typeface="Inter"/>
                <a:ea typeface="Inter"/>
                <a:cs typeface="Inter"/>
                <a:sym typeface="Inter"/>
              </a:rPr>
              <a:t> Fixed Assembly intervals, dictating that no more than 130 days could elapse between consecutive legislative sessions.</a:t>
            </a:r>
            <a:endParaRPr/>
          </a:p>
        </p:txBody>
      </p:sp>
      <p:sp>
        <p:nvSpPr>
          <p:cNvPr id="257" name="Google Shape;257;p26"/>
          <p:cNvSpPr txBox="1"/>
          <p:nvPr/>
        </p:nvSpPr>
        <p:spPr>
          <a:xfrm>
            <a:off x="1524000" y="3339554"/>
            <a:ext cx="9572625" cy="2894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B132B"/>
                </a:solidFill>
                <a:latin typeface="Inter"/>
                <a:ea typeface="Inter"/>
                <a:cs typeface="Inter"/>
                <a:sym typeface="Inter"/>
              </a:rPr>
              <a:t>12th Amendment (1991):</a:t>
            </a:r>
            <a:r>
              <a:rPr lang="en-US" sz="1350" b="0" i="0" u="none" strike="noStrike" cap="none">
                <a:solidFill>
                  <a:srgbClr val="1C2541"/>
                </a:solidFill>
                <a:latin typeface="Inter"/>
                <a:ea typeface="Inter"/>
                <a:cs typeface="Inter"/>
                <a:sym typeface="Inter"/>
              </a:rPr>
              <a:t> Enacted by Nawaz Sharif to address severe lawlessness and rise in sectarian violence.</a:t>
            </a:r>
            <a:endParaRPr/>
          </a:p>
        </p:txBody>
      </p:sp>
      <p:sp>
        <p:nvSpPr>
          <p:cNvPr id="258" name="Google Shape;258;p26"/>
          <p:cNvSpPr txBox="1"/>
          <p:nvPr/>
        </p:nvSpPr>
        <p:spPr>
          <a:xfrm>
            <a:off x="1524000" y="3867150"/>
            <a:ext cx="9572625" cy="2894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B132B"/>
                </a:solidFill>
                <a:latin typeface="Inter"/>
                <a:ea typeface="Inter"/>
                <a:cs typeface="Inter"/>
                <a:sym typeface="Inter"/>
              </a:rPr>
              <a:t>Speedy Trial Courts:</a:t>
            </a:r>
            <a:r>
              <a:rPr lang="en-US" sz="1350" b="0" i="0" u="none" strike="noStrike" cap="none">
                <a:solidFill>
                  <a:srgbClr val="1C2541"/>
                </a:solidFill>
                <a:latin typeface="Inter"/>
                <a:ea typeface="Inter"/>
                <a:cs typeface="Inter"/>
                <a:sym typeface="Inter"/>
              </a:rPr>
              <a:t> Created special judicial tribunals to bypass conventional court delays for heinous crimes.</a:t>
            </a:r>
            <a:endParaRPr/>
          </a:p>
        </p:txBody>
      </p:sp>
      <p:sp>
        <p:nvSpPr>
          <p:cNvPr id="259" name="Google Shape;259;p26"/>
          <p:cNvSpPr txBox="1"/>
          <p:nvPr/>
        </p:nvSpPr>
        <p:spPr>
          <a:xfrm>
            <a:off x="1524000" y="4394745"/>
            <a:ext cx="9572625" cy="5637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B132B"/>
                </a:solidFill>
                <a:latin typeface="Inter"/>
                <a:ea typeface="Inter"/>
                <a:cs typeface="Inter"/>
                <a:sym typeface="Inter"/>
              </a:rPr>
              <a:t>Executive Jurisprudence:</a:t>
            </a:r>
            <a:r>
              <a:rPr lang="en-US" sz="1350" b="0" i="0" u="none" strike="noStrike" cap="none">
                <a:solidFill>
                  <a:srgbClr val="1C2541"/>
                </a:solidFill>
                <a:latin typeface="Inter"/>
                <a:ea typeface="Inter"/>
                <a:cs typeface="Inter"/>
                <a:sym typeface="Inter"/>
              </a:rPr>
              <a:t> Criticized by civil liberties groups as an unnecessary challenge to normal judicial independence.</a:t>
            </a:r>
            <a:endParaRPr/>
          </a:p>
        </p:txBody>
      </p:sp>
      <p:pic>
        <p:nvPicPr>
          <p:cNvPr id="260" name="Google Shape;260;p26" descr="image.png"/>
          <p:cNvPicPr preferRelativeResize="0"/>
          <p:nvPr/>
        </p:nvPicPr>
        <p:blipFill rotWithShape="1">
          <a:blip r:embed="rId4">
            <a:alphaModFix/>
          </a:blip>
          <a:srcRect/>
          <a:stretch/>
        </p:blipFill>
        <p:spPr>
          <a:xfrm>
            <a:off x="1095375" y="2566243"/>
            <a:ext cx="200025" cy="247650"/>
          </a:xfrm>
          <a:prstGeom prst="rect">
            <a:avLst/>
          </a:prstGeom>
          <a:noFill/>
          <a:ln>
            <a:noFill/>
          </a:ln>
        </p:spPr>
      </p:pic>
      <p:pic>
        <p:nvPicPr>
          <p:cNvPr id="261" name="Google Shape;261;p26" descr="image.png"/>
          <p:cNvPicPr preferRelativeResize="0"/>
          <p:nvPr/>
        </p:nvPicPr>
        <p:blipFill rotWithShape="1">
          <a:blip r:embed="rId5">
            <a:alphaModFix/>
          </a:blip>
          <a:srcRect/>
          <a:stretch/>
        </p:blipFill>
        <p:spPr>
          <a:xfrm>
            <a:off x="1095375" y="3368129"/>
            <a:ext cx="285750" cy="247650"/>
          </a:xfrm>
          <a:prstGeom prst="rect">
            <a:avLst/>
          </a:prstGeom>
          <a:noFill/>
          <a:ln>
            <a:noFill/>
          </a:ln>
        </p:spPr>
      </p:pic>
      <p:pic>
        <p:nvPicPr>
          <p:cNvPr id="262" name="Google Shape;262;p26" descr="image.png"/>
          <p:cNvPicPr preferRelativeResize="0"/>
          <p:nvPr/>
        </p:nvPicPr>
        <p:blipFill rotWithShape="1">
          <a:blip r:embed="rId6">
            <a:alphaModFix/>
          </a:blip>
          <a:srcRect/>
          <a:stretch/>
        </p:blipFill>
        <p:spPr>
          <a:xfrm>
            <a:off x="1095375" y="3895725"/>
            <a:ext cx="228600" cy="247650"/>
          </a:xfrm>
          <a:prstGeom prst="rect">
            <a:avLst/>
          </a:prstGeom>
          <a:noFill/>
          <a:ln>
            <a:noFill/>
          </a:ln>
        </p:spPr>
      </p:pic>
      <p:pic>
        <p:nvPicPr>
          <p:cNvPr id="263" name="Google Shape;263;p26" descr="image.png"/>
          <p:cNvPicPr preferRelativeResize="0"/>
          <p:nvPr/>
        </p:nvPicPr>
        <p:blipFill rotWithShape="1">
          <a:blip r:embed="rId7">
            <a:alphaModFix/>
          </a:blip>
          <a:srcRect/>
          <a:stretch/>
        </p:blipFill>
        <p:spPr>
          <a:xfrm>
            <a:off x="1095375" y="4423320"/>
            <a:ext cx="228600" cy="247650"/>
          </a:xfrm>
          <a:prstGeom prst="rect">
            <a:avLst/>
          </a:prstGeom>
          <a:noFill/>
          <a:ln>
            <a:noFill/>
          </a:ln>
        </p:spPr>
      </p:pic>
      <p:sp>
        <p:nvSpPr>
          <p:cNvPr id="264" name="Google Shape;264;p26"/>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10TH &amp; 12TH AMENDMENTS</a:t>
            </a:r>
            <a:endParaRPr/>
          </a:p>
        </p:txBody>
      </p:sp>
      <p:sp>
        <p:nvSpPr>
          <p:cNvPr id="265" name="Google Shape;265;p26"/>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Shape 269"/>
        <p:cNvGrpSpPr/>
        <p:nvPr/>
      </p:nvGrpSpPr>
      <p:grpSpPr>
        <a:xfrm>
          <a:off x="0" y="0"/>
          <a:ext cx="0" cy="0"/>
          <a:chOff x="0" y="0"/>
          <a:chExt cx="0" cy="0"/>
        </a:xfrm>
      </p:grpSpPr>
      <p:pic>
        <p:nvPicPr>
          <p:cNvPr id="270" name="Google Shape;270;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71" name="Google Shape;271;p27"/>
          <p:cNvSpPr/>
          <p:nvPr/>
        </p:nvSpPr>
        <p:spPr>
          <a:xfrm>
            <a:off x="5524500" y="2584251"/>
            <a:ext cx="1143000" cy="3810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2" name="Google Shape;272;p27"/>
          <p:cNvSpPr txBox="1"/>
          <p:nvPr/>
        </p:nvSpPr>
        <p:spPr>
          <a:xfrm>
            <a:off x="1360408" y="2908101"/>
            <a:ext cx="9471183" cy="64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750" b="1" i="0" u="none" strike="noStrike" cap="none">
                <a:solidFill>
                  <a:srgbClr val="FCFBFA"/>
                </a:solidFill>
                <a:latin typeface="Cinzel"/>
                <a:ea typeface="Cinzel"/>
                <a:cs typeface="Cinzel"/>
                <a:sym typeface="Cinzel"/>
              </a:rPr>
              <a:t>PART III: DEMOCRATIC RECOVERY</a:t>
            </a:r>
            <a:endParaRPr/>
          </a:p>
        </p:txBody>
      </p:sp>
      <p:sp>
        <p:nvSpPr>
          <p:cNvPr id="273" name="Google Shape;273;p27"/>
          <p:cNvSpPr txBox="1"/>
          <p:nvPr/>
        </p:nvSpPr>
        <p:spPr>
          <a:xfrm>
            <a:off x="2286000" y="3746301"/>
            <a:ext cx="7620000" cy="67032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CBD5E1"/>
                </a:solidFill>
                <a:latin typeface="Inter"/>
                <a:ea typeface="Inter"/>
                <a:cs typeface="Inter"/>
                <a:sym typeface="Inter"/>
              </a:rPr>
              <a:t>The Nawaz Sharif Administrations and the Structural Removal of Article 58(2)(b) (1990s)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277"/>
        <p:cNvGrpSpPr/>
        <p:nvPr/>
      </p:nvGrpSpPr>
      <p:grpSpPr>
        <a:xfrm>
          <a:off x="0" y="0"/>
          <a:ext cx="0" cy="0"/>
          <a:chOff x="0" y="0"/>
          <a:chExt cx="0" cy="0"/>
        </a:xfrm>
      </p:grpSpPr>
      <p:pic>
        <p:nvPicPr>
          <p:cNvPr id="278" name="Google Shape;278;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80" name="Google Shape;280;p28"/>
          <p:cNvSpPr txBox="1"/>
          <p:nvPr/>
        </p:nvSpPr>
        <p:spPr>
          <a:xfrm>
            <a:off x="771525" y="2057400"/>
            <a:ext cx="5290661" cy="666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Restoring Parliamentary Sovereignty</a:t>
            </a:r>
            <a:endParaRPr/>
          </a:p>
        </p:txBody>
      </p:sp>
      <p:sp>
        <p:nvSpPr>
          <p:cNvPr id="281" name="Google Shape;281;p28"/>
          <p:cNvSpPr txBox="1"/>
          <p:nvPr/>
        </p:nvSpPr>
        <p:spPr>
          <a:xfrm>
            <a:off x="771525" y="2867025"/>
            <a:ext cx="5038725"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Passed on April 3, 1997, after Prime Minister Nawaz Sharif secured a decisive two-thirds majority in general elections.</a:t>
            </a:r>
            <a:endParaRPr/>
          </a:p>
        </p:txBody>
      </p:sp>
      <p:sp>
        <p:nvSpPr>
          <p:cNvPr id="282" name="Google Shape;282;p28"/>
          <p:cNvSpPr txBox="1"/>
          <p:nvPr/>
        </p:nvSpPr>
        <p:spPr>
          <a:xfrm>
            <a:off x="1009650" y="3497460"/>
            <a:ext cx="4800600"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1" i="0" u="none" strike="noStrike" cap="none">
                <a:solidFill>
                  <a:srgbClr val="1C2541"/>
                </a:solidFill>
                <a:latin typeface="Inter"/>
                <a:ea typeface="Inter"/>
                <a:cs typeface="Inter"/>
                <a:sym typeface="Inter"/>
              </a:rPr>
              <a:t>Stripping Powers:</a:t>
            </a:r>
            <a:r>
              <a:rPr lang="en-US" sz="1275" b="0" i="0" u="none" strike="noStrike" cap="none">
                <a:solidFill>
                  <a:srgbClr val="1C2541"/>
                </a:solidFill>
                <a:latin typeface="Inter"/>
                <a:ea typeface="Inter"/>
                <a:cs typeface="Inter"/>
                <a:sym typeface="Inter"/>
              </a:rPr>
              <a:t> Eliminated the President's discretionary power to dissolve the National Assembly under 58(2)(b).</a:t>
            </a:r>
            <a:endParaRPr/>
          </a:p>
        </p:txBody>
      </p:sp>
      <p:sp>
        <p:nvSpPr>
          <p:cNvPr id="283" name="Google Shape;283;p28"/>
          <p:cNvSpPr txBox="1"/>
          <p:nvPr/>
        </p:nvSpPr>
        <p:spPr>
          <a:xfrm>
            <a:off x="1009650" y="4097535"/>
            <a:ext cx="4800600"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1" i="0" u="none" strike="noStrike" cap="none">
                <a:solidFill>
                  <a:srgbClr val="1C2541"/>
                </a:solidFill>
                <a:latin typeface="Inter"/>
                <a:ea typeface="Inter"/>
                <a:cs typeface="Inter"/>
                <a:sym typeface="Inter"/>
              </a:rPr>
              <a:t>Executive Realignment:</a:t>
            </a:r>
            <a:r>
              <a:rPr lang="en-US" sz="1275" b="0" i="0" u="none" strike="noStrike" cap="none">
                <a:solidFill>
                  <a:srgbClr val="1C2541"/>
                </a:solidFill>
                <a:latin typeface="Inter"/>
                <a:ea typeface="Inter"/>
                <a:cs typeface="Inter"/>
                <a:sym typeface="Inter"/>
              </a:rPr>
              <a:t> Restored the Prime Minister as the supreme, unchallengeable head of the government.</a:t>
            </a:r>
            <a:endParaRPr/>
          </a:p>
        </p:txBody>
      </p:sp>
      <p:sp>
        <p:nvSpPr>
          <p:cNvPr id="284" name="Google Shape;284;p28"/>
          <p:cNvSpPr txBox="1"/>
          <p:nvPr/>
        </p:nvSpPr>
        <p:spPr>
          <a:xfrm>
            <a:off x="1009650" y="4697610"/>
            <a:ext cx="4800600"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1" i="0" u="none" strike="noStrike" cap="none">
                <a:solidFill>
                  <a:srgbClr val="1C2541"/>
                </a:solidFill>
                <a:latin typeface="Inter"/>
                <a:ea typeface="Inter"/>
                <a:cs typeface="Inter"/>
                <a:sym typeface="Inter"/>
              </a:rPr>
              <a:t>Democratic Relief:</a:t>
            </a:r>
            <a:r>
              <a:rPr lang="en-US" sz="1275" b="0" i="0" u="none" strike="noStrike" cap="none">
                <a:solidFill>
                  <a:srgbClr val="1C2541"/>
                </a:solidFill>
                <a:latin typeface="Inter"/>
                <a:ea typeface="Inter"/>
                <a:cs typeface="Inter"/>
                <a:sym typeface="Inter"/>
              </a:rPr>
              <a:t> Widely celebrated for defusing the executive "sword of Damocles" over the legislature.</a:t>
            </a:r>
            <a:endParaRPr/>
          </a:p>
        </p:txBody>
      </p:sp>
      <p:sp>
        <p:nvSpPr>
          <p:cNvPr id="286" name="Google Shape;286;p28"/>
          <p:cNvSpPr txBox="1"/>
          <p:nvPr/>
        </p:nvSpPr>
        <p:spPr>
          <a:xfrm>
            <a:off x="819150" y="3478410"/>
            <a:ext cx="1047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DA250"/>
                </a:solidFill>
                <a:latin typeface="Inter"/>
                <a:ea typeface="Inter"/>
                <a:cs typeface="Inter"/>
                <a:sym typeface="Inter"/>
              </a:rPr>
              <a:t>•</a:t>
            </a:r>
            <a:endParaRPr/>
          </a:p>
        </p:txBody>
      </p:sp>
      <p:sp>
        <p:nvSpPr>
          <p:cNvPr id="287" name="Google Shape;287;p28"/>
          <p:cNvSpPr txBox="1"/>
          <p:nvPr/>
        </p:nvSpPr>
        <p:spPr>
          <a:xfrm>
            <a:off x="819150" y="4078485"/>
            <a:ext cx="1047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DA250"/>
                </a:solidFill>
                <a:latin typeface="Inter"/>
                <a:ea typeface="Inter"/>
                <a:cs typeface="Inter"/>
                <a:sym typeface="Inter"/>
              </a:rPr>
              <a:t>•</a:t>
            </a:r>
            <a:endParaRPr/>
          </a:p>
        </p:txBody>
      </p:sp>
      <p:sp>
        <p:nvSpPr>
          <p:cNvPr id="288" name="Google Shape;288;p28"/>
          <p:cNvSpPr txBox="1"/>
          <p:nvPr/>
        </p:nvSpPr>
        <p:spPr>
          <a:xfrm>
            <a:off x="819150" y="4678560"/>
            <a:ext cx="1047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DA250"/>
                </a:solidFill>
                <a:latin typeface="Inter"/>
                <a:ea typeface="Inter"/>
                <a:cs typeface="Inter"/>
                <a:sym typeface="Inter"/>
              </a:rPr>
              <a:t>•</a:t>
            </a:r>
            <a:endParaRPr/>
          </a:p>
        </p:txBody>
      </p:sp>
      <p:sp>
        <p:nvSpPr>
          <p:cNvPr id="289" name="Google Shape;289;p28"/>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13TH AMENDMENT: DEFUSING 58-2B</a:t>
            </a:r>
            <a:endParaRPr/>
          </a:p>
        </p:txBody>
      </p:sp>
      <p:sp>
        <p:nvSpPr>
          <p:cNvPr id="290" name="Google Shape;290;p28"/>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074" name="Picture 2">
            <a:extLst>
              <a:ext uri="{FF2B5EF4-FFF2-40B4-BE49-F238E27FC236}">
                <a16:creationId xmlns:a16="http://schemas.microsoft.com/office/drawing/2014/main" id="{91522C82-B91D-46D4-7966-9DE374B137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74194" y="1441019"/>
            <a:ext cx="3998656" cy="50543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294"/>
        <p:cNvGrpSpPr/>
        <p:nvPr/>
      </p:nvGrpSpPr>
      <p:grpSpPr>
        <a:xfrm>
          <a:off x="0" y="0"/>
          <a:ext cx="0" cy="0"/>
          <a:chOff x="0" y="0"/>
          <a:chExt cx="0" cy="0"/>
        </a:xfrm>
      </p:grpSpPr>
      <p:pic>
        <p:nvPicPr>
          <p:cNvPr id="295" name="Google Shape;295;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96" name="Google Shape;296;p29"/>
          <p:cNvSpPr txBox="1"/>
          <p:nvPr/>
        </p:nvSpPr>
        <p:spPr>
          <a:xfrm>
            <a:off x="1524000" y="2400448"/>
            <a:ext cx="9572625" cy="5637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B132B"/>
                </a:solidFill>
                <a:latin typeface="Inter"/>
                <a:ea typeface="Inter"/>
                <a:cs typeface="Inter"/>
                <a:sym typeface="Inter"/>
              </a:rPr>
              <a:t>Targeting Floor Crossing:</a:t>
            </a:r>
            <a:r>
              <a:rPr lang="en-US" sz="1350" b="0" i="0" u="none" strike="noStrike" cap="none">
                <a:solidFill>
                  <a:srgbClr val="1C2541"/>
                </a:solidFill>
                <a:latin typeface="Inter"/>
                <a:ea typeface="Inter"/>
                <a:cs typeface="Inter"/>
                <a:sym typeface="Inter"/>
              </a:rPr>
              <a:t> Passed on July 3, 1997, to eliminate the culture of shifting loyalties for financial and political gain.</a:t>
            </a:r>
            <a:endParaRPr/>
          </a:p>
        </p:txBody>
      </p:sp>
      <p:sp>
        <p:nvSpPr>
          <p:cNvPr id="297" name="Google Shape;297;p29"/>
          <p:cNvSpPr txBox="1"/>
          <p:nvPr/>
        </p:nvSpPr>
        <p:spPr>
          <a:xfrm>
            <a:off x="1524000" y="3202334"/>
            <a:ext cx="9572625" cy="5637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B132B"/>
                </a:solidFill>
                <a:latin typeface="Inter"/>
                <a:ea typeface="Inter"/>
                <a:cs typeface="Inter"/>
                <a:sym typeface="Inter"/>
              </a:rPr>
              <a:t>Power to Party Heads:</a:t>
            </a:r>
            <a:r>
              <a:rPr lang="en-US" sz="1350" b="0" i="0" u="none" strike="noStrike" cap="none">
                <a:solidFill>
                  <a:srgbClr val="1C2541"/>
                </a:solidFill>
                <a:latin typeface="Inter"/>
                <a:ea typeface="Inter"/>
                <a:cs typeface="Inter"/>
                <a:sym typeface="Inter"/>
              </a:rPr>
              <a:t> Granted political party leaders the authority to disqualify lawmakers who voted against the party line.</a:t>
            </a:r>
            <a:endParaRPr/>
          </a:p>
        </p:txBody>
      </p:sp>
      <p:sp>
        <p:nvSpPr>
          <p:cNvPr id="298" name="Google Shape;298;p29"/>
          <p:cNvSpPr txBox="1"/>
          <p:nvPr/>
        </p:nvSpPr>
        <p:spPr>
          <a:xfrm>
            <a:off x="1524000" y="4004220"/>
            <a:ext cx="9572625" cy="2894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B132B"/>
                </a:solidFill>
                <a:latin typeface="Inter"/>
                <a:ea typeface="Inter"/>
                <a:cs typeface="Inter"/>
                <a:sym typeface="Inter"/>
              </a:rPr>
              <a:t>Stable Coalitions:</a:t>
            </a:r>
            <a:r>
              <a:rPr lang="en-US" sz="1350" b="0" i="0" u="none" strike="noStrike" cap="none">
                <a:solidFill>
                  <a:srgbClr val="1C2541"/>
                </a:solidFill>
                <a:latin typeface="Inter"/>
                <a:ea typeface="Inter"/>
                <a:cs typeface="Inter"/>
                <a:sym typeface="Inter"/>
              </a:rPr>
              <a:t> Successfully ended the practice of engineering political shifts through floor-crossing.</a:t>
            </a:r>
            <a:endParaRPr/>
          </a:p>
        </p:txBody>
      </p:sp>
      <p:sp>
        <p:nvSpPr>
          <p:cNvPr id="299" name="Google Shape;299;p29"/>
          <p:cNvSpPr txBox="1"/>
          <p:nvPr/>
        </p:nvSpPr>
        <p:spPr>
          <a:xfrm>
            <a:off x="1524000" y="4531816"/>
            <a:ext cx="9572625" cy="5637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B132B"/>
                </a:solidFill>
                <a:latin typeface="Inter"/>
                <a:ea typeface="Inter"/>
                <a:cs typeface="Inter"/>
                <a:sym typeface="Inter"/>
              </a:rPr>
              <a:t>Intra-Party Debate:</a:t>
            </a:r>
            <a:r>
              <a:rPr lang="en-US" sz="1350" b="0" i="0" u="none" strike="noStrike" cap="none">
                <a:solidFill>
                  <a:srgbClr val="1C2541"/>
                </a:solidFill>
                <a:latin typeface="Inter"/>
                <a:ea typeface="Inter"/>
                <a:cs typeface="Inter"/>
                <a:sym typeface="Inter"/>
              </a:rPr>
              <a:t> Criticized for centralizing party control, limiting the freedom of speech of individual members of parliament.</a:t>
            </a:r>
            <a:endParaRPr/>
          </a:p>
        </p:txBody>
      </p:sp>
      <p:pic>
        <p:nvPicPr>
          <p:cNvPr id="300" name="Google Shape;300;p29" descr="image.png"/>
          <p:cNvPicPr preferRelativeResize="0"/>
          <p:nvPr/>
        </p:nvPicPr>
        <p:blipFill rotWithShape="1">
          <a:blip r:embed="rId4">
            <a:alphaModFix/>
          </a:blip>
          <a:srcRect/>
          <a:stretch/>
        </p:blipFill>
        <p:spPr>
          <a:xfrm>
            <a:off x="1095375" y="2429023"/>
            <a:ext cx="228600" cy="247650"/>
          </a:xfrm>
          <a:prstGeom prst="rect">
            <a:avLst/>
          </a:prstGeom>
          <a:noFill/>
          <a:ln>
            <a:noFill/>
          </a:ln>
        </p:spPr>
      </p:pic>
      <p:pic>
        <p:nvPicPr>
          <p:cNvPr id="301" name="Google Shape;301;p29" descr="image.png"/>
          <p:cNvPicPr preferRelativeResize="0"/>
          <p:nvPr/>
        </p:nvPicPr>
        <p:blipFill rotWithShape="1">
          <a:blip r:embed="rId5">
            <a:alphaModFix/>
          </a:blip>
          <a:srcRect/>
          <a:stretch/>
        </p:blipFill>
        <p:spPr>
          <a:xfrm>
            <a:off x="1095375" y="3230909"/>
            <a:ext cx="285750" cy="247650"/>
          </a:xfrm>
          <a:prstGeom prst="rect">
            <a:avLst/>
          </a:prstGeom>
          <a:noFill/>
          <a:ln>
            <a:noFill/>
          </a:ln>
        </p:spPr>
      </p:pic>
      <p:pic>
        <p:nvPicPr>
          <p:cNvPr id="302" name="Google Shape;302;p29" descr="image.png"/>
          <p:cNvPicPr preferRelativeResize="0"/>
          <p:nvPr/>
        </p:nvPicPr>
        <p:blipFill rotWithShape="1">
          <a:blip r:embed="rId6">
            <a:alphaModFix/>
          </a:blip>
          <a:srcRect/>
          <a:stretch/>
        </p:blipFill>
        <p:spPr>
          <a:xfrm>
            <a:off x="1095375" y="4032795"/>
            <a:ext cx="228600" cy="247650"/>
          </a:xfrm>
          <a:prstGeom prst="rect">
            <a:avLst/>
          </a:prstGeom>
          <a:noFill/>
          <a:ln>
            <a:noFill/>
          </a:ln>
        </p:spPr>
      </p:pic>
      <p:sp>
        <p:nvSpPr>
          <p:cNvPr id="303" name="Google Shape;303;p29"/>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14TH AMENDMENT: ANTI-DEFECTION</a:t>
            </a:r>
            <a:endParaRPr/>
          </a:p>
        </p:txBody>
      </p:sp>
      <p:sp>
        <p:nvSpPr>
          <p:cNvPr id="304" name="Google Shape;304;p29"/>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Shape 308"/>
        <p:cNvGrpSpPr/>
        <p:nvPr/>
      </p:nvGrpSpPr>
      <p:grpSpPr>
        <a:xfrm>
          <a:off x="0" y="0"/>
          <a:ext cx="0" cy="0"/>
          <a:chOff x="0" y="0"/>
          <a:chExt cx="0" cy="0"/>
        </a:xfrm>
      </p:grpSpPr>
      <p:pic>
        <p:nvPicPr>
          <p:cNvPr id="309" name="Google Shape;309;p3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10" name="Google Shape;310;p30"/>
          <p:cNvSpPr/>
          <p:nvPr/>
        </p:nvSpPr>
        <p:spPr>
          <a:xfrm>
            <a:off x="5524500" y="2584251"/>
            <a:ext cx="1143000" cy="3810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1" name="Google Shape;311;p30"/>
          <p:cNvSpPr txBox="1"/>
          <p:nvPr/>
        </p:nvSpPr>
        <p:spPr>
          <a:xfrm>
            <a:off x="1715452" y="2908101"/>
            <a:ext cx="8761095" cy="64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750" b="1" i="0" u="none" strike="noStrike" cap="none">
                <a:solidFill>
                  <a:srgbClr val="FCFBFA"/>
                </a:solidFill>
                <a:latin typeface="Cinzel"/>
                <a:ea typeface="Cinzel"/>
                <a:cs typeface="Cinzel"/>
                <a:sym typeface="Cinzel"/>
              </a:rPr>
              <a:t>PART IV: THE MILITARY REGIME</a:t>
            </a:r>
            <a:endParaRPr/>
          </a:p>
        </p:txBody>
      </p:sp>
      <p:sp>
        <p:nvSpPr>
          <p:cNvPr id="312" name="Google Shape;312;p30"/>
          <p:cNvSpPr txBox="1"/>
          <p:nvPr/>
        </p:nvSpPr>
        <p:spPr>
          <a:xfrm>
            <a:off x="2286000" y="3746301"/>
            <a:ext cx="7620000" cy="67032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CBD5E1"/>
                </a:solidFill>
                <a:latin typeface="Inter"/>
                <a:ea typeface="Inter"/>
                <a:cs typeface="Inter"/>
                <a:sym typeface="Inter"/>
              </a:rPr>
              <a:t>The Coup of 1999, Pervez Musharraf's Administration, and the Seventeenth Amendment (1999–2008)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316"/>
        <p:cNvGrpSpPr/>
        <p:nvPr/>
      </p:nvGrpSpPr>
      <p:grpSpPr>
        <a:xfrm>
          <a:off x="0" y="0"/>
          <a:ext cx="0" cy="0"/>
          <a:chOff x="0" y="0"/>
          <a:chExt cx="0" cy="0"/>
        </a:xfrm>
      </p:grpSpPr>
      <p:pic>
        <p:nvPicPr>
          <p:cNvPr id="317" name="Google Shape;317;p3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19" name="Google Shape;319;p31"/>
          <p:cNvSpPr txBox="1"/>
          <p:nvPr/>
        </p:nvSpPr>
        <p:spPr>
          <a:xfrm>
            <a:off x="771525" y="2057400"/>
            <a:ext cx="529066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Validating Military Supremacy</a:t>
            </a:r>
            <a:endParaRPr/>
          </a:p>
        </p:txBody>
      </p:sp>
      <p:sp>
        <p:nvSpPr>
          <p:cNvPr id="320" name="Google Shape;320;p31"/>
          <p:cNvSpPr txBox="1"/>
          <p:nvPr/>
        </p:nvSpPr>
        <p:spPr>
          <a:xfrm>
            <a:off x="771525" y="2533650"/>
            <a:ext cx="5038725"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Enacted on December 31, 2003, this amendment consolidated the Legal Framework Order (LFO) issued by Pervez Musharraf.</a:t>
            </a:r>
            <a:endParaRPr/>
          </a:p>
        </p:txBody>
      </p:sp>
      <p:sp>
        <p:nvSpPr>
          <p:cNvPr id="321" name="Google Shape;321;p31"/>
          <p:cNvSpPr txBox="1"/>
          <p:nvPr/>
        </p:nvSpPr>
        <p:spPr>
          <a:xfrm>
            <a:off x="1009650" y="3164085"/>
            <a:ext cx="4800600"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1" i="0" u="none" strike="noStrike" cap="none">
                <a:solidFill>
                  <a:srgbClr val="1C2541"/>
                </a:solidFill>
                <a:latin typeface="Inter"/>
                <a:ea typeface="Inter"/>
                <a:cs typeface="Inter"/>
                <a:sym typeface="Inter"/>
              </a:rPr>
              <a:t>Resurrecting 58(2)(b):</a:t>
            </a:r>
            <a:r>
              <a:rPr lang="en-US" sz="1275" b="0" i="0" u="none" strike="noStrike" cap="none">
                <a:solidFill>
                  <a:srgbClr val="1C2541"/>
                </a:solidFill>
                <a:latin typeface="Inter"/>
                <a:ea typeface="Inter"/>
                <a:cs typeface="Inter"/>
                <a:sym typeface="Inter"/>
              </a:rPr>
              <a:t> Re-empowered the President to dissolve the National Assembly unilaterally.</a:t>
            </a:r>
            <a:endParaRPr/>
          </a:p>
        </p:txBody>
      </p:sp>
      <p:sp>
        <p:nvSpPr>
          <p:cNvPr id="322" name="Google Shape;322;p31"/>
          <p:cNvSpPr txBox="1"/>
          <p:nvPr/>
        </p:nvSpPr>
        <p:spPr>
          <a:xfrm>
            <a:off x="1009650" y="3764160"/>
            <a:ext cx="4800600"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1" i="0" u="none" strike="noStrike" cap="none">
                <a:solidFill>
                  <a:srgbClr val="1C2541"/>
                </a:solidFill>
                <a:latin typeface="Inter"/>
                <a:ea typeface="Inter"/>
                <a:cs typeface="Inter"/>
                <a:sym typeface="Inter"/>
              </a:rPr>
              <a:t>Indemnity for Coup:</a:t>
            </a:r>
            <a:r>
              <a:rPr lang="en-US" sz="1275" b="0" i="0" u="none" strike="noStrike" cap="none">
                <a:solidFill>
                  <a:srgbClr val="1C2541"/>
                </a:solidFill>
                <a:latin typeface="Inter"/>
                <a:ea typeface="Inter"/>
                <a:cs typeface="Inter"/>
                <a:sym typeface="Inter"/>
              </a:rPr>
              <a:t> Provided judicial and legislative validation to the 1999 military takeover.</a:t>
            </a:r>
            <a:endParaRPr/>
          </a:p>
        </p:txBody>
      </p:sp>
      <p:sp>
        <p:nvSpPr>
          <p:cNvPr id="323" name="Google Shape;323;p31"/>
          <p:cNvSpPr txBox="1"/>
          <p:nvPr/>
        </p:nvSpPr>
        <p:spPr>
          <a:xfrm>
            <a:off x="1009650" y="4364235"/>
            <a:ext cx="4800600"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1" i="0" u="none" strike="noStrike" cap="none">
                <a:solidFill>
                  <a:srgbClr val="1C2541"/>
                </a:solidFill>
                <a:latin typeface="Inter"/>
                <a:ea typeface="Inter"/>
                <a:cs typeface="Inter"/>
                <a:sym typeface="Inter"/>
              </a:rPr>
              <a:t>Presidency Confirmed:</a:t>
            </a:r>
            <a:r>
              <a:rPr lang="en-US" sz="1275" b="0" i="0" u="none" strike="noStrike" cap="none">
                <a:solidFill>
                  <a:srgbClr val="1C2541"/>
                </a:solidFill>
                <a:latin typeface="Inter"/>
                <a:ea typeface="Inter"/>
                <a:cs typeface="Inter"/>
                <a:sym typeface="Inter"/>
              </a:rPr>
              <a:t> Legalized Musharraf's status as President, bypassing standard parliamentary procedures.</a:t>
            </a:r>
            <a:endParaRPr/>
          </a:p>
        </p:txBody>
      </p:sp>
      <p:sp>
        <p:nvSpPr>
          <p:cNvPr id="325" name="Google Shape;325;p31"/>
          <p:cNvSpPr txBox="1"/>
          <p:nvPr/>
        </p:nvSpPr>
        <p:spPr>
          <a:xfrm>
            <a:off x="819150" y="3145035"/>
            <a:ext cx="1047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DA250"/>
                </a:solidFill>
                <a:latin typeface="Inter"/>
                <a:ea typeface="Inter"/>
                <a:cs typeface="Inter"/>
                <a:sym typeface="Inter"/>
              </a:rPr>
              <a:t>•</a:t>
            </a:r>
            <a:endParaRPr/>
          </a:p>
        </p:txBody>
      </p:sp>
      <p:sp>
        <p:nvSpPr>
          <p:cNvPr id="326" name="Google Shape;326;p31"/>
          <p:cNvSpPr txBox="1"/>
          <p:nvPr/>
        </p:nvSpPr>
        <p:spPr>
          <a:xfrm>
            <a:off x="819150" y="3745110"/>
            <a:ext cx="1047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DA250"/>
                </a:solidFill>
                <a:latin typeface="Inter"/>
                <a:ea typeface="Inter"/>
                <a:cs typeface="Inter"/>
                <a:sym typeface="Inter"/>
              </a:rPr>
              <a:t>•</a:t>
            </a:r>
            <a:endParaRPr/>
          </a:p>
        </p:txBody>
      </p:sp>
      <p:sp>
        <p:nvSpPr>
          <p:cNvPr id="327" name="Google Shape;327;p31"/>
          <p:cNvSpPr txBox="1"/>
          <p:nvPr/>
        </p:nvSpPr>
        <p:spPr>
          <a:xfrm>
            <a:off x="819150" y="4345185"/>
            <a:ext cx="1047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DA250"/>
                </a:solidFill>
                <a:latin typeface="Inter"/>
                <a:ea typeface="Inter"/>
                <a:cs typeface="Inter"/>
                <a:sym typeface="Inter"/>
              </a:rPr>
              <a:t>•</a:t>
            </a:r>
            <a:endParaRPr/>
          </a:p>
        </p:txBody>
      </p:sp>
      <p:sp>
        <p:nvSpPr>
          <p:cNvPr id="328" name="Google Shape;328;p31"/>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17TH AMENDMENT: ZIA REVIVED</a:t>
            </a:r>
            <a:endParaRPr/>
          </a:p>
        </p:txBody>
      </p:sp>
      <p:sp>
        <p:nvSpPr>
          <p:cNvPr id="329" name="Google Shape;329;p31"/>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098" name="Picture 2">
            <a:extLst>
              <a:ext uri="{FF2B5EF4-FFF2-40B4-BE49-F238E27FC236}">
                <a16:creationId xmlns:a16="http://schemas.microsoft.com/office/drawing/2014/main" id="{19C49908-6121-F133-E532-393F5038DC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9246" y="1402266"/>
            <a:ext cx="3763604" cy="50131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Shape 333"/>
        <p:cNvGrpSpPr/>
        <p:nvPr/>
      </p:nvGrpSpPr>
      <p:grpSpPr>
        <a:xfrm>
          <a:off x="0" y="0"/>
          <a:ext cx="0" cy="0"/>
          <a:chOff x="0" y="0"/>
          <a:chExt cx="0" cy="0"/>
        </a:xfrm>
      </p:grpSpPr>
      <p:pic>
        <p:nvPicPr>
          <p:cNvPr id="334" name="Google Shape;334;p3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35" name="Google Shape;335;p32"/>
          <p:cNvSpPr/>
          <p:nvPr/>
        </p:nvSpPr>
        <p:spPr>
          <a:xfrm>
            <a:off x="5524500" y="2584251"/>
            <a:ext cx="1143000" cy="3810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6" name="Google Shape;336;p32"/>
          <p:cNvSpPr txBox="1"/>
          <p:nvPr/>
        </p:nvSpPr>
        <p:spPr>
          <a:xfrm>
            <a:off x="1595437" y="2908101"/>
            <a:ext cx="9001125" cy="64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750" b="1" i="0" u="none" strike="noStrike" cap="none">
                <a:solidFill>
                  <a:srgbClr val="FCFBFA"/>
                </a:solidFill>
                <a:latin typeface="Cinzel"/>
                <a:ea typeface="Cinzel"/>
                <a:cs typeface="Cinzel"/>
                <a:sym typeface="Cinzel"/>
              </a:rPr>
              <a:t>PART V: PARLIAMENT RESTORED</a:t>
            </a:r>
            <a:endParaRPr/>
          </a:p>
        </p:txBody>
      </p:sp>
      <p:sp>
        <p:nvSpPr>
          <p:cNvPr id="337" name="Google Shape;337;p32"/>
          <p:cNvSpPr txBox="1"/>
          <p:nvPr/>
        </p:nvSpPr>
        <p:spPr>
          <a:xfrm>
            <a:off x="2286000" y="3746301"/>
            <a:ext cx="7620000" cy="67032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CBD5E1"/>
                </a:solidFill>
                <a:latin typeface="Inter"/>
                <a:ea typeface="Inter"/>
                <a:cs typeface="Inter"/>
                <a:sym typeface="Inter"/>
              </a:rPr>
              <a:t>The Eighteenth Amendment, Provincial Autonomy, and Historic Power Devolution (2010s)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341"/>
        <p:cNvGrpSpPr/>
        <p:nvPr/>
      </p:nvGrpSpPr>
      <p:grpSpPr>
        <a:xfrm>
          <a:off x="0" y="0"/>
          <a:ext cx="0" cy="0"/>
          <a:chOff x="0" y="0"/>
          <a:chExt cx="0" cy="0"/>
        </a:xfrm>
      </p:grpSpPr>
      <p:pic>
        <p:nvPicPr>
          <p:cNvPr id="342" name="Google Shape;342;p3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44" name="Google Shape;344;p33"/>
          <p:cNvSpPr txBox="1"/>
          <p:nvPr/>
        </p:nvSpPr>
        <p:spPr>
          <a:xfrm>
            <a:off x="771525" y="2057400"/>
            <a:ext cx="529066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dirty="0">
                <a:solidFill>
                  <a:srgbClr val="0B132B"/>
                </a:solidFill>
                <a:latin typeface="Cinzel SemiBold"/>
                <a:ea typeface="Cinzel SemiBold"/>
                <a:cs typeface="Cinzel SemiBold"/>
                <a:sym typeface="Cinzel SemiBold"/>
              </a:rPr>
              <a:t>Restructuring the Federation</a:t>
            </a:r>
            <a:endParaRPr dirty="0"/>
          </a:p>
        </p:txBody>
      </p:sp>
      <p:sp>
        <p:nvSpPr>
          <p:cNvPr id="345" name="Google Shape;345;p33"/>
          <p:cNvSpPr txBox="1"/>
          <p:nvPr/>
        </p:nvSpPr>
        <p:spPr>
          <a:xfrm>
            <a:off x="771525" y="2533650"/>
            <a:ext cx="5038725"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Passed unanimously on April 19, 2010, the 18th Amendment is considered the most comprehensive reform in Pakistan's constitutional history.</a:t>
            </a:r>
            <a:endParaRPr/>
          </a:p>
        </p:txBody>
      </p:sp>
      <p:sp>
        <p:nvSpPr>
          <p:cNvPr id="346" name="Google Shape;346;p33"/>
          <p:cNvSpPr txBox="1"/>
          <p:nvPr/>
        </p:nvSpPr>
        <p:spPr>
          <a:xfrm>
            <a:off x="1009650" y="3407866"/>
            <a:ext cx="4800600"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1" i="0" u="none" strike="noStrike" cap="none">
                <a:solidFill>
                  <a:srgbClr val="1C2541"/>
                </a:solidFill>
                <a:latin typeface="Inter"/>
                <a:ea typeface="Inter"/>
                <a:cs typeface="Inter"/>
                <a:sym typeface="Inter"/>
              </a:rPr>
              <a:t>Definitive Repeal of 58(2)(b):</a:t>
            </a:r>
            <a:r>
              <a:rPr lang="en-US" sz="1275" b="0" i="0" u="none" strike="noStrike" cap="none">
                <a:solidFill>
                  <a:srgbClr val="1C2541"/>
                </a:solidFill>
                <a:latin typeface="Inter"/>
                <a:ea typeface="Inter"/>
                <a:cs typeface="Inter"/>
                <a:sym typeface="Inter"/>
              </a:rPr>
              <a:t> Permanently removed the President's power to dissolve parliament.</a:t>
            </a:r>
            <a:endParaRPr/>
          </a:p>
        </p:txBody>
      </p:sp>
      <p:sp>
        <p:nvSpPr>
          <p:cNvPr id="347" name="Google Shape;347;p33"/>
          <p:cNvSpPr txBox="1"/>
          <p:nvPr/>
        </p:nvSpPr>
        <p:spPr>
          <a:xfrm>
            <a:off x="1009650" y="4007941"/>
            <a:ext cx="4800600"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1" i="0" u="none" strike="noStrike" cap="none">
                <a:solidFill>
                  <a:srgbClr val="1C2541"/>
                </a:solidFill>
                <a:latin typeface="Inter"/>
                <a:ea typeface="Inter"/>
                <a:cs typeface="Inter"/>
                <a:sym typeface="Inter"/>
              </a:rPr>
              <a:t>Provincial Autonomy:</a:t>
            </a:r>
            <a:r>
              <a:rPr lang="en-US" sz="1275" b="0" i="0" u="none" strike="noStrike" cap="none">
                <a:solidFill>
                  <a:srgbClr val="1C2541"/>
                </a:solidFill>
                <a:latin typeface="Inter"/>
                <a:ea typeface="Inter"/>
                <a:cs typeface="Inter"/>
                <a:sym typeface="Inter"/>
              </a:rPr>
              <a:t> Devolved massive administrative powers directly to the federating units.</a:t>
            </a:r>
            <a:endParaRPr/>
          </a:p>
        </p:txBody>
      </p:sp>
      <p:sp>
        <p:nvSpPr>
          <p:cNvPr id="348" name="Google Shape;348;p33"/>
          <p:cNvSpPr txBox="1"/>
          <p:nvPr/>
        </p:nvSpPr>
        <p:spPr>
          <a:xfrm>
            <a:off x="1009650" y="4608016"/>
            <a:ext cx="4800600"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1" i="0" u="none" strike="noStrike" cap="none">
                <a:solidFill>
                  <a:srgbClr val="1C2541"/>
                </a:solidFill>
                <a:latin typeface="Inter"/>
                <a:ea typeface="Inter"/>
                <a:cs typeface="Inter"/>
                <a:sym typeface="Inter"/>
              </a:rPr>
              <a:t>Cultural Identity:</a:t>
            </a:r>
            <a:r>
              <a:rPr lang="en-US" sz="1275" b="0" i="0" u="none" strike="noStrike" cap="none">
                <a:solidFill>
                  <a:srgbClr val="1C2541"/>
                </a:solidFill>
                <a:latin typeface="Inter"/>
                <a:ea typeface="Inter"/>
                <a:cs typeface="Inter"/>
                <a:sym typeface="Inter"/>
              </a:rPr>
              <a:t> Renamed North-West Frontier Province (NWFP) to Khyber Pakhtunkhwa (KP).</a:t>
            </a:r>
            <a:endParaRPr/>
          </a:p>
        </p:txBody>
      </p:sp>
      <p:sp>
        <p:nvSpPr>
          <p:cNvPr id="350" name="Google Shape;350;p33"/>
          <p:cNvSpPr txBox="1"/>
          <p:nvPr/>
        </p:nvSpPr>
        <p:spPr>
          <a:xfrm>
            <a:off x="819150" y="3388816"/>
            <a:ext cx="1047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DA250"/>
                </a:solidFill>
                <a:latin typeface="Inter"/>
                <a:ea typeface="Inter"/>
                <a:cs typeface="Inter"/>
                <a:sym typeface="Inter"/>
              </a:rPr>
              <a:t>•</a:t>
            </a:r>
            <a:endParaRPr/>
          </a:p>
        </p:txBody>
      </p:sp>
      <p:sp>
        <p:nvSpPr>
          <p:cNvPr id="351" name="Google Shape;351;p33"/>
          <p:cNvSpPr txBox="1"/>
          <p:nvPr/>
        </p:nvSpPr>
        <p:spPr>
          <a:xfrm>
            <a:off x="819150" y="3988891"/>
            <a:ext cx="1047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DA250"/>
                </a:solidFill>
                <a:latin typeface="Inter"/>
                <a:ea typeface="Inter"/>
                <a:cs typeface="Inter"/>
                <a:sym typeface="Inter"/>
              </a:rPr>
              <a:t>•</a:t>
            </a:r>
            <a:endParaRPr/>
          </a:p>
        </p:txBody>
      </p:sp>
      <p:sp>
        <p:nvSpPr>
          <p:cNvPr id="352" name="Google Shape;352;p33"/>
          <p:cNvSpPr txBox="1"/>
          <p:nvPr/>
        </p:nvSpPr>
        <p:spPr>
          <a:xfrm>
            <a:off x="819150" y="4588966"/>
            <a:ext cx="1047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DA250"/>
                </a:solidFill>
                <a:latin typeface="Inter"/>
                <a:ea typeface="Inter"/>
                <a:cs typeface="Inter"/>
                <a:sym typeface="Inter"/>
              </a:rPr>
              <a:t>•</a:t>
            </a:r>
            <a:endParaRPr/>
          </a:p>
        </p:txBody>
      </p:sp>
      <p:sp>
        <p:nvSpPr>
          <p:cNvPr id="353" name="Google Shape;353;p33"/>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18TH AMENDMENT: HISTORIC DEVOLUTION</a:t>
            </a:r>
            <a:endParaRPr/>
          </a:p>
        </p:txBody>
      </p:sp>
      <p:sp>
        <p:nvSpPr>
          <p:cNvPr id="354" name="Google Shape;354;p33"/>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5122" name="Picture 2" descr="18th amendment signed into law">
            <a:extLst>
              <a:ext uri="{FF2B5EF4-FFF2-40B4-BE49-F238E27FC236}">
                <a16:creationId xmlns:a16="http://schemas.microsoft.com/office/drawing/2014/main" id="{A982BC88-64DE-8154-40BB-A7C310A302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1139" y="1638300"/>
            <a:ext cx="4739336" cy="42763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358"/>
        <p:cNvGrpSpPr/>
        <p:nvPr/>
      </p:nvGrpSpPr>
      <p:grpSpPr>
        <a:xfrm>
          <a:off x="0" y="0"/>
          <a:ext cx="0" cy="0"/>
          <a:chOff x="0" y="0"/>
          <a:chExt cx="0" cy="0"/>
        </a:xfrm>
      </p:grpSpPr>
      <p:pic>
        <p:nvPicPr>
          <p:cNvPr id="359" name="Google Shape;359;p3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60" name="Google Shape;360;p34" descr="image.png"/>
          <p:cNvPicPr preferRelativeResize="0"/>
          <p:nvPr/>
        </p:nvPicPr>
        <p:blipFill rotWithShape="1">
          <a:blip r:embed="rId4">
            <a:alphaModFix/>
          </a:blip>
          <a:srcRect/>
          <a:stretch/>
        </p:blipFill>
        <p:spPr>
          <a:xfrm>
            <a:off x="771525" y="2849016"/>
            <a:ext cx="5038725" cy="2036266"/>
          </a:xfrm>
          <a:prstGeom prst="rect">
            <a:avLst/>
          </a:prstGeom>
          <a:noFill/>
          <a:ln>
            <a:noFill/>
          </a:ln>
        </p:spPr>
      </p:pic>
      <p:pic>
        <p:nvPicPr>
          <p:cNvPr id="361" name="Google Shape;361;p34" descr="image.png"/>
          <p:cNvPicPr preferRelativeResize="0"/>
          <p:nvPr/>
        </p:nvPicPr>
        <p:blipFill rotWithShape="1">
          <a:blip r:embed="rId4">
            <a:alphaModFix/>
          </a:blip>
          <a:srcRect/>
          <a:stretch/>
        </p:blipFill>
        <p:spPr>
          <a:xfrm>
            <a:off x="6381750" y="2849016"/>
            <a:ext cx="5038725" cy="2036266"/>
          </a:xfrm>
          <a:prstGeom prst="rect">
            <a:avLst/>
          </a:prstGeom>
          <a:noFill/>
          <a:ln>
            <a:noFill/>
          </a:ln>
        </p:spPr>
      </p:pic>
      <p:sp>
        <p:nvSpPr>
          <p:cNvPr id="362" name="Google Shape;362;p34"/>
          <p:cNvSpPr txBox="1"/>
          <p:nvPr/>
        </p:nvSpPr>
        <p:spPr>
          <a:xfrm>
            <a:off x="1114425" y="3191916"/>
            <a:ext cx="457057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Concurrent List Abolished</a:t>
            </a:r>
            <a:endParaRPr/>
          </a:p>
        </p:txBody>
      </p:sp>
      <p:sp>
        <p:nvSpPr>
          <p:cNvPr id="363" name="Google Shape;363;p34"/>
          <p:cNvSpPr txBox="1"/>
          <p:nvPr/>
        </p:nvSpPr>
        <p:spPr>
          <a:xfrm>
            <a:off x="1114425" y="3668166"/>
            <a:ext cx="4352925"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Devolved seventeen federal ministries, including Education and Health, directly to provincial cabinets, redefining the nature of Pakistani federalism.</a:t>
            </a:r>
            <a:endParaRPr/>
          </a:p>
        </p:txBody>
      </p:sp>
      <p:sp>
        <p:nvSpPr>
          <p:cNvPr id="364" name="Google Shape;364;p34"/>
          <p:cNvSpPr txBox="1"/>
          <p:nvPr/>
        </p:nvSpPr>
        <p:spPr>
          <a:xfrm>
            <a:off x="6724650" y="3191916"/>
            <a:ext cx="457057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NFC Award Protection</a:t>
            </a:r>
            <a:endParaRPr/>
          </a:p>
        </p:txBody>
      </p:sp>
      <p:sp>
        <p:nvSpPr>
          <p:cNvPr id="365" name="Google Shape;365;p34"/>
          <p:cNvSpPr txBox="1"/>
          <p:nvPr/>
        </p:nvSpPr>
        <p:spPr>
          <a:xfrm>
            <a:off x="6724650" y="3668166"/>
            <a:ext cx="4352925"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Stipulated that the financial share of the provinces in subsequent National Finance Commission (NFC) awards can never drop below the previous share.</a:t>
            </a:r>
            <a:endParaRPr/>
          </a:p>
        </p:txBody>
      </p:sp>
      <p:sp>
        <p:nvSpPr>
          <p:cNvPr id="366" name="Google Shape;366;p34"/>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18TH AMENDMENT: POWER SHIFT</a:t>
            </a:r>
            <a:endParaRPr/>
          </a:p>
        </p:txBody>
      </p:sp>
      <p:sp>
        <p:nvSpPr>
          <p:cNvPr id="367" name="Google Shape;367;p34"/>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371"/>
        <p:cNvGrpSpPr/>
        <p:nvPr/>
      </p:nvGrpSpPr>
      <p:grpSpPr>
        <a:xfrm>
          <a:off x="0" y="0"/>
          <a:ext cx="0" cy="0"/>
          <a:chOff x="0" y="0"/>
          <a:chExt cx="0" cy="0"/>
        </a:xfrm>
      </p:grpSpPr>
      <p:pic>
        <p:nvPicPr>
          <p:cNvPr id="372" name="Google Shape;372;p3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73" name="Google Shape;373;p35" descr="image.png"/>
          <p:cNvPicPr preferRelativeResize="0"/>
          <p:nvPr/>
        </p:nvPicPr>
        <p:blipFill rotWithShape="1">
          <a:blip r:embed="rId4">
            <a:alphaModFix/>
          </a:blip>
          <a:srcRect/>
          <a:stretch/>
        </p:blipFill>
        <p:spPr>
          <a:xfrm>
            <a:off x="771525" y="2157561"/>
            <a:ext cx="3359199" cy="3419177"/>
          </a:xfrm>
          <a:prstGeom prst="rect">
            <a:avLst/>
          </a:prstGeom>
          <a:noFill/>
          <a:ln>
            <a:noFill/>
          </a:ln>
        </p:spPr>
      </p:pic>
      <p:pic>
        <p:nvPicPr>
          <p:cNvPr id="374" name="Google Shape;374;p35" descr="image.png"/>
          <p:cNvPicPr preferRelativeResize="0"/>
          <p:nvPr/>
        </p:nvPicPr>
        <p:blipFill rotWithShape="1">
          <a:blip r:embed="rId5">
            <a:alphaModFix/>
          </a:blip>
          <a:srcRect/>
          <a:stretch/>
        </p:blipFill>
        <p:spPr>
          <a:xfrm>
            <a:off x="4416474" y="2157561"/>
            <a:ext cx="3359199" cy="3419177"/>
          </a:xfrm>
          <a:prstGeom prst="rect">
            <a:avLst/>
          </a:prstGeom>
          <a:noFill/>
          <a:ln>
            <a:noFill/>
          </a:ln>
        </p:spPr>
      </p:pic>
      <p:pic>
        <p:nvPicPr>
          <p:cNvPr id="375" name="Google Shape;375;p35" descr="image.png"/>
          <p:cNvPicPr preferRelativeResize="0"/>
          <p:nvPr/>
        </p:nvPicPr>
        <p:blipFill rotWithShape="1">
          <a:blip r:embed="rId6">
            <a:alphaModFix/>
          </a:blip>
          <a:srcRect/>
          <a:stretch/>
        </p:blipFill>
        <p:spPr>
          <a:xfrm>
            <a:off x="8061424" y="2157561"/>
            <a:ext cx="3359199" cy="3419177"/>
          </a:xfrm>
          <a:prstGeom prst="rect">
            <a:avLst/>
          </a:prstGeom>
          <a:noFill/>
          <a:ln>
            <a:noFill/>
          </a:ln>
        </p:spPr>
      </p:pic>
      <p:sp>
        <p:nvSpPr>
          <p:cNvPr id="376" name="Google Shape;376;p35"/>
          <p:cNvSpPr txBox="1"/>
          <p:nvPr/>
        </p:nvSpPr>
        <p:spPr>
          <a:xfrm>
            <a:off x="997583" y="3110061"/>
            <a:ext cx="2907082" cy="6667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Judicial Nominations</a:t>
            </a:r>
            <a:endParaRPr/>
          </a:p>
        </p:txBody>
      </p:sp>
      <p:sp>
        <p:nvSpPr>
          <p:cNvPr id="377" name="Google Shape;377;p35"/>
          <p:cNvSpPr txBox="1"/>
          <p:nvPr/>
        </p:nvSpPr>
        <p:spPr>
          <a:xfrm>
            <a:off x="1066800" y="3919686"/>
            <a:ext cx="2768649" cy="1218902"/>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The 19th Amendment (2011) restructured the Judicial Commission of Pakistan (JCP), adjusting the appointment system for superior judges.</a:t>
            </a:r>
            <a:endParaRPr/>
          </a:p>
        </p:txBody>
      </p:sp>
      <p:sp>
        <p:nvSpPr>
          <p:cNvPr id="378" name="Google Shape;378;p35"/>
          <p:cNvSpPr txBox="1"/>
          <p:nvPr/>
        </p:nvSpPr>
        <p:spPr>
          <a:xfrm>
            <a:off x="4642533" y="3110061"/>
            <a:ext cx="2907082" cy="6667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Caretaker Cabinets</a:t>
            </a:r>
            <a:endParaRPr/>
          </a:p>
        </p:txBody>
      </p:sp>
      <p:sp>
        <p:nvSpPr>
          <p:cNvPr id="379" name="Google Shape;379;p35"/>
          <p:cNvSpPr txBox="1"/>
          <p:nvPr/>
        </p:nvSpPr>
        <p:spPr>
          <a:xfrm>
            <a:off x="4711749" y="3919686"/>
            <a:ext cx="2768649" cy="97512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The 20th Amendment (2012) refined the legal process for establishing neutral caretaker governments to supervise general elections.</a:t>
            </a:r>
            <a:endParaRPr/>
          </a:p>
        </p:txBody>
      </p:sp>
      <p:sp>
        <p:nvSpPr>
          <p:cNvPr id="380" name="Google Shape;380;p35"/>
          <p:cNvSpPr txBox="1"/>
          <p:nvPr/>
        </p:nvSpPr>
        <p:spPr>
          <a:xfrm>
            <a:off x="8655813" y="3110061"/>
            <a:ext cx="2170271"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ECP Autonomy</a:t>
            </a:r>
            <a:endParaRPr/>
          </a:p>
        </p:txBody>
      </p:sp>
      <p:sp>
        <p:nvSpPr>
          <p:cNvPr id="381" name="Google Shape;381;p35"/>
          <p:cNvSpPr txBox="1"/>
          <p:nvPr/>
        </p:nvSpPr>
        <p:spPr>
          <a:xfrm>
            <a:off x="8356699" y="3586311"/>
            <a:ext cx="2768649" cy="97512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Both amendments strengthened democratic institutions, adding credibility to electoral systems and transfer of power.</a:t>
            </a:r>
            <a:endParaRPr/>
          </a:p>
        </p:txBody>
      </p:sp>
      <p:pic>
        <p:nvPicPr>
          <p:cNvPr id="382" name="Google Shape;382;p35" descr="image.png"/>
          <p:cNvPicPr preferRelativeResize="0"/>
          <p:nvPr/>
        </p:nvPicPr>
        <p:blipFill rotWithShape="1">
          <a:blip r:embed="rId7">
            <a:alphaModFix/>
          </a:blip>
          <a:srcRect/>
          <a:stretch/>
        </p:blipFill>
        <p:spPr>
          <a:xfrm>
            <a:off x="2212925" y="2490936"/>
            <a:ext cx="476250" cy="381000"/>
          </a:xfrm>
          <a:prstGeom prst="rect">
            <a:avLst/>
          </a:prstGeom>
          <a:noFill/>
          <a:ln>
            <a:noFill/>
          </a:ln>
        </p:spPr>
      </p:pic>
      <p:pic>
        <p:nvPicPr>
          <p:cNvPr id="383" name="Google Shape;383;p35" descr="image.png"/>
          <p:cNvPicPr preferRelativeResize="0"/>
          <p:nvPr/>
        </p:nvPicPr>
        <p:blipFill rotWithShape="1">
          <a:blip r:embed="rId8">
            <a:alphaModFix/>
          </a:blip>
          <a:srcRect/>
          <a:stretch/>
        </p:blipFill>
        <p:spPr>
          <a:xfrm>
            <a:off x="5881687" y="2490936"/>
            <a:ext cx="428625" cy="381000"/>
          </a:xfrm>
          <a:prstGeom prst="rect">
            <a:avLst/>
          </a:prstGeom>
          <a:noFill/>
          <a:ln>
            <a:noFill/>
          </a:ln>
        </p:spPr>
      </p:pic>
      <p:pic>
        <p:nvPicPr>
          <p:cNvPr id="384" name="Google Shape;384;p35" descr="image.png"/>
          <p:cNvPicPr preferRelativeResize="0"/>
          <p:nvPr/>
        </p:nvPicPr>
        <p:blipFill rotWithShape="1">
          <a:blip r:embed="rId9">
            <a:alphaModFix/>
          </a:blip>
          <a:srcRect/>
          <a:stretch/>
        </p:blipFill>
        <p:spPr>
          <a:xfrm>
            <a:off x="9502824" y="2490936"/>
            <a:ext cx="476250" cy="381000"/>
          </a:xfrm>
          <a:prstGeom prst="rect">
            <a:avLst/>
          </a:prstGeom>
          <a:noFill/>
          <a:ln>
            <a:noFill/>
          </a:ln>
        </p:spPr>
      </p:pic>
      <p:sp>
        <p:nvSpPr>
          <p:cNvPr id="385" name="Google Shape;385;p35"/>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19TH &amp; 20TH AMENDMENTS</a:t>
            </a:r>
            <a:endParaRPr/>
          </a:p>
        </p:txBody>
      </p:sp>
      <p:sp>
        <p:nvSpPr>
          <p:cNvPr id="386" name="Google Shape;386;p35"/>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390"/>
        <p:cNvGrpSpPr/>
        <p:nvPr/>
      </p:nvGrpSpPr>
      <p:grpSpPr>
        <a:xfrm>
          <a:off x="0" y="0"/>
          <a:ext cx="0" cy="0"/>
          <a:chOff x="0" y="0"/>
          <a:chExt cx="0" cy="0"/>
        </a:xfrm>
      </p:grpSpPr>
      <p:pic>
        <p:nvPicPr>
          <p:cNvPr id="391" name="Google Shape;391;p3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92" name="Google Shape;392;p36"/>
          <p:cNvSpPr txBox="1"/>
          <p:nvPr/>
        </p:nvSpPr>
        <p:spPr>
          <a:xfrm>
            <a:off x="1524000" y="2263378"/>
            <a:ext cx="9572625" cy="5637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B132B"/>
                </a:solidFill>
                <a:latin typeface="Inter"/>
                <a:ea typeface="Inter"/>
                <a:cs typeface="Inter"/>
                <a:sym typeface="Inter"/>
              </a:rPr>
              <a:t>APS Massacre Backlash:</a:t>
            </a:r>
            <a:r>
              <a:rPr lang="en-US" sz="1350" b="0" i="0" u="none" strike="noStrike" cap="none">
                <a:solidFill>
                  <a:srgbClr val="1C2541"/>
                </a:solidFill>
                <a:latin typeface="Inter"/>
                <a:ea typeface="Inter"/>
                <a:cs typeface="Inter"/>
                <a:sym typeface="Inter"/>
              </a:rPr>
              <a:t> Passed following the tragic terrorist attack on the Army Public School in Peshawar in December 2014.</a:t>
            </a:r>
            <a:endParaRPr/>
          </a:p>
        </p:txBody>
      </p:sp>
      <p:sp>
        <p:nvSpPr>
          <p:cNvPr id="393" name="Google Shape;393;p36"/>
          <p:cNvSpPr txBox="1"/>
          <p:nvPr/>
        </p:nvSpPr>
        <p:spPr>
          <a:xfrm>
            <a:off x="1524000" y="3065264"/>
            <a:ext cx="9572625" cy="5637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B132B"/>
                </a:solidFill>
                <a:latin typeface="Inter"/>
                <a:ea typeface="Inter"/>
                <a:cs typeface="Inter"/>
                <a:sym typeface="Inter"/>
              </a:rPr>
              <a:t>Speedy Military Trials:</a:t>
            </a:r>
            <a:r>
              <a:rPr lang="en-US" sz="1350" b="0" i="0" u="none" strike="noStrike" cap="none">
                <a:solidFill>
                  <a:srgbClr val="1C2541"/>
                </a:solidFill>
                <a:latin typeface="Inter"/>
                <a:ea typeface="Inter"/>
                <a:cs typeface="Inter"/>
                <a:sym typeface="Inter"/>
              </a:rPr>
              <a:t> Authorized the establishment of special military tribunals to conduct rapid trials of active terrorists.</a:t>
            </a:r>
            <a:endParaRPr/>
          </a:p>
        </p:txBody>
      </p:sp>
      <p:sp>
        <p:nvSpPr>
          <p:cNvPr id="394" name="Google Shape;394;p36"/>
          <p:cNvSpPr txBox="1"/>
          <p:nvPr/>
        </p:nvSpPr>
        <p:spPr>
          <a:xfrm>
            <a:off x="1524000" y="3867150"/>
            <a:ext cx="9572625" cy="5637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B132B"/>
                </a:solidFill>
                <a:latin typeface="Inter"/>
                <a:ea typeface="Inter"/>
                <a:cs typeface="Inter"/>
                <a:sym typeface="Inter"/>
              </a:rPr>
              <a:t>21st Amendment (2015):</a:t>
            </a:r>
            <a:r>
              <a:rPr lang="en-US" sz="1350" b="0" i="0" u="none" strike="noStrike" cap="none">
                <a:solidFill>
                  <a:srgbClr val="1C2541"/>
                </a:solidFill>
                <a:latin typeface="Inter"/>
                <a:ea typeface="Inter"/>
                <a:cs typeface="Inter"/>
                <a:sym typeface="Inter"/>
              </a:rPr>
              <a:t> Established a strict two-year sunset clause to prevent the courts from becoming permanent.</a:t>
            </a:r>
            <a:endParaRPr/>
          </a:p>
        </p:txBody>
      </p:sp>
      <p:sp>
        <p:nvSpPr>
          <p:cNvPr id="395" name="Google Shape;395;p36"/>
          <p:cNvSpPr txBox="1"/>
          <p:nvPr/>
        </p:nvSpPr>
        <p:spPr>
          <a:xfrm>
            <a:off x="1524000" y="4669035"/>
            <a:ext cx="9572625" cy="5637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0B132B"/>
                </a:solidFill>
                <a:latin typeface="Inter"/>
                <a:ea typeface="Inter"/>
                <a:cs typeface="Inter"/>
                <a:sym typeface="Inter"/>
              </a:rPr>
              <a:t>23rd Amendment (2017):</a:t>
            </a:r>
            <a:r>
              <a:rPr lang="en-US" sz="1350" b="0" i="0" u="none" strike="noStrike" cap="none">
                <a:solidFill>
                  <a:srgbClr val="1C2541"/>
                </a:solidFill>
                <a:latin typeface="Inter"/>
                <a:ea typeface="Inter"/>
                <a:cs typeface="Inter"/>
                <a:sym typeface="Inter"/>
              </a:rPr>
              <a:t> Extended the authorization of these military courts for another two-year period following subsequent regional security challenges.</a:t>
            </a:r>
            <a:endParaRPr/>
          </a:p>
        </p:txBody>
      </p:sp>
      <p:pic>
        <p:nvPicPr>
          <p:cNvPr id="396" name="Google Shape;396;p36" descr="image.png"/>
          <p:cNvPicPr preferRelativeResize="0"/>
          <p:nvPr/>
        </p:nvPicPr>
        <p:blipFill rotWithShape="1">
          <a:blip r:embed="rId4">
            <a:alphaModFix/>
          </a:blip>
          <a:srcRect/>
          <a:stretch/>
        </p:blipFill>
        <p:spPr>
          <a:xfrm>
            <a:off x="1095375" y="2291953"/>
            <a:ext cx="228600" cy="247650"/>
          </a:xfrm>
          <a:prstGeom prst="rect">
            <a:avLst/>
          </a:prstGeom>
          <a:noFill/>
          <a:ln>
            <a:noFill/>
          </a:ln>
        </p:spPr>
      </p:pic>
      <p:pic>
        <p:nvPicPr>
          <p:cNvPr id="397" name="Google Shape;397;p36" descr="image.png"/>
          <p:cNvPicPr preferRelativeResize="0"/>
          <p:nvPr/>
        </p:nvPicPr>
        <p:blipFill rotWithShape="1">
          <a:blip r:embed="rId5">
            <a:alphaModFix/>
          </a:blip>
          <a:srcRect/>
          <a:stretch/>
        </p:blipFill>
        <p:spPr>
          <a:xfrm>
            <a:off x="1095375" y="3093839"/>
            <a:ext cx="228600" cy="247650"/>
          </a:xfrm>
          <a:prstGeom prst="rect">
            <a:avLst/>
          </a:prstGeom>
          <a:noFill/>
          <a:ln>
            <a:noFill/>
          </a:ln>
        </p:spPr>
      </p:pic>
      <p:pic>
        <p:nvPicPr>
          <p:cNvPr id="398" name="Google Shape;398;p36" descr="image.png"/>
          <p:cNvPicPr preferRelativeResize="0"/>
          <p:nvPr/>
        </p:nvPicPr>
        <p:blipFill rotWithShape="1">
          <a:blip r:embed="rId6">
            <a:alphaModFix/>
          </a:blip>
          <a:srcRect/>
          <a:stretch/>
        </p:blipFill>
        <p:spPr>
          <a:xfrm>
            <a:off x="1095375" y="3895725"/>
            <a:ext cx="228600" cy="247650"/>
          </a:xfrm>
          <a:prstGeom prst="rect">
            <a:avLst/>
          </a:prstGeom>
          <a:noFill/>
          <a:ln>
            <a:noFill/>
          </a:ln>
        </p:spPr>
      </p:pic>
      <p:pic>
        <p:nvPicPr>
          <p:cNvPr id="399" name="Google Shape;399;p36" descr="image.png"/>
          <p:cNvPicPr preferRelativeResize="0"/>
          <p:nvPr/>
        </p:nvPicPr>
        <p:blipFill rotWithShape="1">
          <a:blip r:embed="rId7">
            <a:alphaModFix/>
          </a:blip>
          <a:srcRect/>
          <a:stretch/>
        </p:blipFill>
        <p:spPr>
          <a:xfrm>
            <a:off x="1095375" y="4697610"/>
            <a:ext cx="228600" cy="247650"/>
          </a:xfrm>
          <a:prstGeom prst="rect">
            <a:avLst/>
          </a:prstGeom>
          <a:noFill/>
          <a:ln>
            <a:noFill/>
          </a:ln>
        </p:spPr>
      </p:pic>
      <p:sp>
        <p:nvSpPr>
          <p:cNvPr id="400" name="Google Shape;400;p36"/>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21ST &amp; 23RD: MILITARY COURTS</a:t>
            </a:r>
            <a:endParaRPr/>
          </a:p>
        </p:txBody>
      </p:sp>
      <p:sp>
        <p:nvSpPr>
          <p:cNvPr id="401" name="Google Shape;401;p36"/>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405"/>
        <p:cNvGrpSpPr/>
        <p:nvPr/>
      </p:nvGrpSpPr>
      <p:grpSpPr>
        <a:xfrm>
          <a:off x="0" y="0"/>
          <a:ext cx="0" cy="0"/>
          <a:chOff x="0" y="0"/>
          <a:chExt cx="0" cy="0"/>
        </a:xfrm>
      </p:grpSpPr>
      <p:pic>
        <p:nvPicPr>
          <p:cNvPr id="406" name="Google Shape;406;p3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08" name="Google Shape;408;p37"/>
          <p:cNvSpPr txBox="1"/>
          <p:nvPr/>
        </p:nvSpPr>
        <p:spPr>
          <a:xfrm>
            <a:off x="771525" y="2057400"/>
            <a:ext cx="529066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Mainstreaming the Frontier Belt</a:t>
            </a:r>
            <a:endParaRPr/>
          </a:p>
        </p:txBody>
      </p:sp>
      <p:sp>
        <p:nvSpPr>
          <p:cNvPr id="409" name="Google Shape;409;p37"/>
          <p:cNvSpPr txBox="1"/>
          <p:nvPr/>
        </p:nvSpPr>
        <p:spPr>
          <a:xfrm>
            <a:off x="771525" y="2533650"/>
            <a:ext cx="5038725"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Enacted on May 31, 2018, bringing a formal conclusion to the decades-long administrative isolation of the Federally Administered Tribal Areas.</a:t>
            </a:r>
            <a:endParaRPr/>
          </a:p>
        </p:txBody>
      </p:sp>
      <p:sp>
        <p:nvSpPr>
          <p:cNvPr id="410" name="Google Shape;410;p37"/>
          <p:cNvSpPr txBox="1"/>
          <p:nvPr/>
        </p:nvSpPr>
        <p:spPr>
          <a:xfrm>
            <a:off x="1009650" y="3407866"/>
            <a:ext cx="4800600"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1" i="0" u="none" strike="noStrike" cap="none">
                <a:solidFill>
                  <a:srgbClr val="1C2541"/>
                </a:solidFill>
                <a:latin typeface="Inter"/>
                <a:ea typeface="Inter"/>
                <a:cs typeface="Inter"/>
                <a:sym typeface="Inter"/>
              </a:rPr>
              <a:t>FATA Merged to KP:</a:t>
            </a:r>
            <a:r>
              <a:rPr lang="en-US" sz="1275" b="0" i="0" u="none" strike="noStrike" cap="none">
                <a:solidFill>
                  <a:srgbClr val="1C2541"/>
                </a:solidFill>
                <a:latin typeface="Inter"/>
                <a:ea typeface="Inter"/>
                <a:cs typeface="Inter"/>
                <a:sym typeface="Inter"/>
              </a:rPr>
              <a:t> Integrated the seven tribal agencies directly into the Khyber Pakhtunkhwa province.</a:t>
            </a:r>
            <a:endParaRPr/>
          </a:p>
        </p:txBody>
      </p:sp>
      <p:sp>
        <p:nvSpPr>
          <p:cNvPr id="411" name="Google Shape;411;p37"/>
          <p:cNvSpPr txBox="1"/>
          <p:nvPr/>
        </p:nvSpPr>
        <p:spPr>
          <a:xfrm>
            <a:off x="1009650" y="4007941"/>
            <a:ext cx="4800600"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1" i="0" u="none" strike="noStrike" cap="none">
                <a:solidFill>
                  <a:srgbClr val="1C2541"/>
                </a:solidFill>
                <a:latin typeface="Inter"/>
                <a:ea typeface="Inter"/>
                <a:cs typeface="Inter"/>
                <a:sym typeface="Inter"/>
              </a:rPr>
              <a:t>Civil Liberties Extended:</a:t>
            </a:r>
            <a:r>
              <a:rPr lang="en-US" sz="1275" b="0" i="0" u="none" strike="noStrike" cap="none">
                <a:solidFill>
                  <a:srgbClr val="1C2541"/>
                </a:solidFill>
                <a:latin typeface="Inter"/>
                <a:ea typeface="Inter"/>
                <a:cs typeface="Inter"/>
                <a:sym typeface="Inter"/>
              </a:rPr>
              <a:t> Abolished the colonial-era Frontier Crimes Regulation (FCR) in favor of standard civil rights.</a:t>
            </a:r>
            <a:endParaRPr/>
          </a:p>
        </p:txBody>
      </p:sp>
      <p:sp>
        <p:nvSpPr>
          <p:cNvPr id="412" name="Google Shape;412;p37"/>
          <p:cNvSpPr txBox="1"/>
          <p:nvPr/>
        </p:nvSpPr>
        <p:spPr>
          <a:xfrm>
            <a:off x="1009650" y="4608016"/>
            <a:ext cx="4800600"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1" i="0" u="none" strike="noStrike" cap="none">
                <a:solidFill>
                  <a:srgbClr val="1C2541"/>
                </a:solidFill>
                <a:latin typeface="Inter"/>
                <a:ea typeface="Inter"/>
                <a:cs typeface="Inter"/>
                <a:sym typeface="Inter"/>
              </a:rPr>
              <a:t>Democratic Seats:</a:t>
            </a:r>
            <a:r>
              <a:rPr lang="en-US" sz="1275" b="0" i="0" u="none" strike="noStrike" cap="none">
                <a:solidFill>
                  <a:srgbClr val="1C2541"/>
                </a:solidFill>
                <a:latin typeface="Inter"/>
                <a:ea typeface="Inter"/>
                <a:cs typeface="Inter"/>
                <a:sym typeface="Inter"/>
              </a:rPr>
              <a:t> Provided tribal citizens with direct representation in provincial and federal assemblies.</a:t>
            </a:r>
            <a:endParaRPr/>
          </a:p>
        </p:txBody>
      </p:sp>
      <p:sp>
        <p:nvSpPr>
          <p:cNvPr id="414" name="Google Shape;414;p37"/>
          <p:cNvSpPr txBox="1"/>
          <p:nvPr/>
        </p:nvSpPr>
        <p:spPr>
          <a:xfrm>
            <a:off x="819150" y="3388816"/>
            <a:ext cx="1047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DA250"/>
                </a:solidFill>
                <a:latin typeface="Inter"/>
                <a:ea typeface="Inter"/>
                <a:cs typeface="Inter"/>
                <a:sym typeface="Inter"/>
              </a:rPr>
              <a:t>•</a:t>
            </a:r>
            <a:endParaRPr/>
          </a:p>
        </p:txBody>
      </p:sp>
      <p:sp>
        <p:nvSpPr>
          <p:cNvPr id="415" name="Google Shape;415;p37"/>
          <p:cNvSpPr txBox="1"/>
          <p:nvPr/>
        </p:nvSpPr>
        <p:spPr>
          <a:xfrm>
            <a:off x="819150" y="3988891"/>
            <a:ext cx="1047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DA250"/>
                </a:solidFill>
                <a:latin typeface="Inter"/>
                <a:ea typeface="Inter"/>
                <a:cs typeface="Inter"/>
                <a:sym typeface="Inter"/>
              </a:rPr>
              <a:t>•</a:t>
            </a:r>
            <a:endParaRPr/>
          </a:p>
        </p:txBody>
      </p:sp>
      <p:sp>
        <p:nvSpPr>
          <p:cNvPr id="416" name="Google Shape;416;p37"/>
          <p:cNvSpPr txBox="1"/>
          <p:nvPr/>
        </p:nvSpPr>
        <p:spPr>
          <a:xfrm>
            <a:off x="819150" y="4588966"/>
            <a:ext cx="1047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DA250"/>
                </a:solidFill>
                <a:latin typeface="Inter"/>
                <a:ea typeface="Inter"/>
                <a:cs typeface="Inter"/>
                <a:sym typeface="Inter"/>
              </a:rPr>
              <a:t>•</a:t>
            </a:r>
            <a:endParaRPr/>
          </a:p>
        </p:txBody>
      </p:sp>
      <p:sp>
        <p:nvSpPr>
          <p:cNvPr id="417" name="Google Shape;417;p37"/>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25TH AMENDMENT: FATA MERGER</a:t>
            </a:r>
            <a:endParaRPr/>
          </a:p>
        </p:txBody>
      </p:sp>
      <p:sp>
        <p:nvSpPr>
          <p:cNvPr id="418" name="Google Shape;418;p37"/>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6146" name="Picture 2" descr="Map of the Federally Administered Tribal Areas (FATA) along the Afghanistan  Pakistan border, showing agencies such as Bajaur, Mohmand, Khyber, Orakzai,  Kurram, North Waziristan, and South Waziristan, with adjacent regions of  Afghanistan">
            <a:extLst>
              <a:ext uri="{FF2B5EF4-FFF2-40B4-BE49-F238E27FC236}">
                <a16:creationId xmlns:a16="http://schemas.microsoft.com/office/drawing/2014/main" id="{F8F90116-F455-DA10-26DA-DCC5AC70CC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4930" y="1397602"/>
            <a:ext cx="4190078" cy="49788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Shape 422"/>
        <p:cNvGrpSpPr/>
        <p:nvPr/>
      </p:nvGrpSpPr>
      <p:grpSpPr>
        <a:xfrm>
          <a:off x="0" y="0"/>
          <a:ext cx="0" cy="0"/>
          <a:chOff x="0" y="0"/>
          <a:chExt cx="0" cy="0"/>
        </a:xfrm>
      </p:grpSpPr>
      <p:pic>
        <p:nvPicPr>
          <p:cNvPr id="423" name="Google Shape;423;p3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24" name="Google Shape;424;p38"/>
          <p:cNvSpPr/>
          <p:nvPr/>
        </p:nvSpPr>
        <p:spPr>
          <a:xfrm>
            <a:off x="5524500" y="2584251"/>
            <a:ext cx="1143000" cy="3810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5" name="Google Shape;425;p38"/>
          <p:cNvSpPr txBox="1"/>
          <p:nvPr/>
        </p:nvSpPr>
        <p:spPr>
          <a:xfrm>
            <a:off x="1055369" y="2908101"/>
            <a:ext cx="10081260" cy="64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750" b="1" i="0" u="none" strike="noStrike" cap="none">
                <a:solidFill>
                  <a:srgbClr val="FCFBFA"/>
                </a:solidFill>
                <a:latin typeface="Cinzel"/>
                <a:ea typeface="Cinzel"/>
                <a:cs typeface="Cinzel"/>
                <a:sym typeface="Cinzel"/>
              </a:rPr>
              <a:t>PART VI: CONTEMPORARY REFORMS</a:t>
            </a:r>
            <a:endParaRPr/>
          </a:p>
        </p:txBody>
      </p:sp>
      <p:sp>
        <p:nvSpPr>
          <p:cNvPr id="426" name="Google Shape;426;p38"/>
          <p:cNvSpPr txBox="1"/>
          <p:nvPr/>
        </p:nvSpPr>
        <p:spPr>
          <a:xfrm>
            <a:off x="2286000" y="3746301"/>
            <a:ext cx="7620000" cy="67032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CBD5E1"/>
                </a:solidFill>
                <a:latin typeface="Inter"/>
                <a:ea typeface="Inter"/>
                <a:cs typeface="Inter"/>
                <a:sym typeface="Inter"/>
              </a:rPr>
              <a:t>Judicial Restructuring, Institutional Transparency, and the Passing of the Twenty-Sixth Amendment (2020s)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430"/>
        <p:cNvGrpSpPr/>
        <p:nvPr/>
      </p:nvGrpSpPr>
      <p:grpSpPr>
        <a:xfrm>
          <a:off x="0" y="0"/>
          <a:ext cx="0" cy="0"/>
          <a:chOff x="0" y="0"/>
          <a:chExt cx="0" cy="0"/>
        </a:xfrm>
      </p:grpSpPr>
      <p:pic>
        <p:nvPicPr>
          <p:cNvPr id="431" name="Google Shape;431;p3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32" name="Google Shape;432;p39" descr="image.png"/>
          <p:cNvPicPr preferRelativeResize="0"/>
          <p:nvPr/>
        </p:nvPicPr>
        <p:blipFill rotWithShape="1">
          <a:blip r:embed="rId4">
            <a:alphaModFix/>
          </a:blip>
          <a:srcRect/>
          <a:stretch/>
        </p:blipFill>
        <p:spPr>
          <a:xfrm>
            <a:off x="6381750" y="2057400"/>
            <a:ext cx="5038725" cy="3619500"/>
          </a:xfrm>
          <a:prstGeom prst="rect">
            <a:avLst/>
          </a:prstGeom>
          <a:noFill/>
          <a:ln>
            <a:noFill/>
          </a:ln>
        </p:spPr>
      </p:pic>
      <p:sp>
        <p:nvSpPr>
          <p:cNvPr id="433" name="Google Shape;433;p39"/>
          <p:cNvSpPr txBox="1"/>
          <p:nvPr/>
        </p:nvSpPr>
        <p:spPr>
          <a:xfrm>
            <a:off x="771525" y="2057400"/>
            <a:ext cx="5290661"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The Judicial Overhaul</a:t>
            </a:r>
            <a:endParaRPr/>
          </a:p>
        </p:txBody>
      </p:sp>
      <p:sp>
        <p:nvSpPr>
          <p:cNvPr id="434" name="Google Shape;434;p39"/>
          <p:cNvSpPr txBox="1"/>
          <p:nvPr/>
        </p:nvSpPr>
        <p:spPr>
          <a:xfrm>
            <a:off x="771525" y="2533650"/>
            <a:ext cx="5038725"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Passed on October 21, 2024, under Shehbaz Sharif's administration. It targeted procedural delays in the superior judiciary.</a:t>
            </a:r>
            <a:endParaRPr/>
          </a:p>
        </p:txBody>
      </p:sp>
      <p:sp>
        <p:nvSpPr>
          <p:cNvPr id="435" name="Google Shape;435;p39"/>
          <p:cNvSpPr txBox="1"/>
          <p:nvPr/>
        </p:nvSpPr>
        <p:spPr>
          <a:xfrm>
            <a:off x="1009650" y="3164085"/>
            <a:ext cx="4800600"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1" i="0" u="none" strike="noStrike" cap="none">
                <a:solidFill>
                  <a:srgbClr val="1C2541"/>
                </a:solidFill>
                <a:latin typeface="Inter"/>
                <a:ea typeface="Inter"/>
                <a:cs typeface="Inter"/>
                <a:sym typeface="Inter"/>
              </a:rPr>
              <a:t>CJP Term Limit:</a:t>
            </a:r>
            <a:r>
              <a:rPr lang="en-US" sz="1275" b="0" i="0" u="none" strike="noStrike" cap="none">
                <a:solidFill>
                  <a:srgbClr val="1C2541"/>
                </a:solidFill>
                <a:latin typeface="Inter"/>
                <a:ea typeface="Inter"/>
                <a:cs typeface="Inter"/>
                <a:sym typeface="Inter"/>
              </a:rPr>
              <a:t> Fixed the tenure of the Chief Justice of Pakistan (CJP) at a strict maximum of three years.</a:t>
            </a:r>
            <a:endParaRPr/>
          </a:p>
        </p:txBody>
      </p:sp>
      <p:sp>
        <p:nvSpPr>
          <p:cNvPr id="436" name="Google Shape;436;p39"/>
          <p:cNvSpPr txBox="1"/>
          <p:nvPr/>
        </p:nvSpPr>
        <p:spPr>
          <a:xfrm>
            <a:off x="1009650" y="3764160"/>
            <a:ext cx="4800600"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1" i="0" u="none" strike="noStrike" cap="none">
                <a:solidFill>
                  <a:srgbClr val="1C2541"/>
                </a:solidFill>
                <a:latin typeface="Inter"/>
                <a:ea typeface="Inter"/>
                <a:cs typeface="Inter"/>
                <a:sym typeface="Inter"/>
              </a:rPr>
              <a:t>Parliamentary Nominations:</a:t>
            </a:r>
            <a:r>
              <a:rPr lang="en-US" sz="1275" b="0" i="0" u="none" strike="noStrike" cap="none">
                <a:solidFill>
                  <a:srgbClr val="1C2541"/>
                </a:solidFill>
                <a:latin typeface="Inter"/>
                <a:ea typeface="Inter"/>
                <a:cs typeface="Inter"/>
                <a:sym typeface="Inter"/>
              </a:rPr>
              <a:t> Tasked a special parliamentary committee to select the CJP from the 3 senior-most judges.</a:t>
            </a:r>
            <a:endParaRPr/>
          </a:p>
        </p:txBody>
      </p:sp>
      <p:sp>
        <p:nvSpPr>
          <p:cNvPr id="437" name="Google Shape;437;p39"/>
          <p:cNvSpPr txBox="1"/>
          <p:nvPr/>
        </p:nvSpPr>
        <p:spPr>
          <a:xfrm>
            <a:off x="1009650" y="4364235"/>
            <a:ext cx="4800600"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1" i="0" u="none" strike="noStrike" cap="none">
                <a:solidFill>
                  <a:srgbClr val="1C2541"/>
                </a:solidFill>
                <a:latin typeface="Inter"/>
                <a:ea typeface="Inter"/>
                <a:cs typeface="Inter"/>
                <a:sym typeface="Inter"/>
              </a:rPr>
              <a:t>Ending Automatic Seniority:</a:t>
            </a:r>
            <a:r>
              <a:rPr lang="en-US" sz="1275" b="0" i="0" u="none" strike="noStrike" cap="none">
                <a:solidFill>
                  <a:srgbClr val="1C2541"/>
                </a:solidFill>
                <a:latin typeface="Inter"/>
                <a:ea typeface="Inter"/>
                <a:cs typeface="Inter"/>
                <a:sym typeface="Inter"/>
              </a:rPr>
              <a:t> Replaced the automatic elevation of the senior-most judge with legislative selection.</a:t>
            </a:r>
            <a:endParaRPr/>
          </a:p>
        </p:txBody>
      </p:sp>
      <p:pic>
        <p:nvPicPr>
          <p:cNvPr id="438" name="Google Shape;438;p39" descr="image.png"/>
          <p:cNvPicPr preferRelativeResize="0"/>
          <p:nvPr/>
        </p:nvPicPr>
        <p:blipFill rotWithShape="1">
          <a:blip r:embed="rId5">
            <a:alphaModFix/>
          </a:blip>
          <a:srcRect/>
          <a:stretch/>
        </p:blipFill>
        <p:spPr>
          <a:xfrm>
            <a:off x="6400800" y="2076450"/>
            <a:ext cx="5000625" cy="3581400"/>
          </a:xfrm>
          <a:prstGeom prst="rect">
            <a:avLst/>
          </a:prstGeom>
          <a:noFill/>
          <a:ln>
            <a:noFill/>
          </a:ln>
        </p:spPr>
      </p:pic>
      <p:sp>
        <p:nvSpPr>
          <p:cNvPr id="439" name="Google Shape;439;p39"/>
          <p:cNvSpPr txBox="1"/>
          <p:nvPr/>
        </p:nvSpPr>
        <p:spPr>
          <a:xfrm>
            <a:off x="819150" y="3145035"/>
            <a:ext cx="1047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DA250"/>
                </a:solidFill>
                <a:latin typeface="Inter"/>
                <a:ea typeface="Inter"/>
                <a:cs typeface="Inter"/>
                <a:sym typeface="Inter"/>
              </a:rPr>
              <a:t>•</a:t>
            </a:r>
            <a:endParaRPr/>
          </a:p>
        </p:txBody>
      </p:sp>
      <p:sp>
        <p:nvSpPr>
          <p:cNvPr id="440" name="Google Shape;440;p39"/>
          <p:cNvSpPr txBox="1"/>
          <p:nvPr/>
        </p:nvSpPr>
        <p:spPr>
          <a:xfrm>
            <a:off x="819150" y="3745110"/>
            <a:ext cx="1047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DA250"/>
                </a:solidFill>
                <a:latin typeface="Inter"/>
                <a:ea typeface="Inter"/>
                <a:cs typeface="Inter"/>
                <a:sym typeface="Inter"/>
              </a:rPr>
              <a:t>•</a:t>
            </a:r>
            <a:endParaRPr/>
          </a:p>
        </p:txBody>
      </p:sp>
      <p:sp>
        <p:nvSpPr>
          <p:cNvPr id="441" name="Google Shape;441;p39"/>
          <p:cNvSpPr txBox="1"/>
          <p:nvPr/>
        </p:nvSpPr>
        <p:spPr>
          <a:xfrm>
            <a:off x="819150" y="4345185"/>
            <a:ext cx="1047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CDA250"/>
                </a:solidFill>
                <a:latin typeface="Inter"/>
                <a:ea typeface="Inter"/>
                <a:cs typeface="Inter"/>
                <a:sym typeface="Inter"/>
              </a:rPr>
              <a:t>•</a:t>
            </a:r>
            <a:endParaRPr/>
          </a:p>
        </p:txBody>
      </p:sp>
      <p:sp>
        <p:nvSpPr>
          <p:cNvPr id="442" name="Google Shape;442;p39"/>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26TH AMENDMENT: COURT REFORMS</a:t>
            </a:r>
            <a:endParaRPr/>
          </a:p>
        </p:txBody>
      </p:sp>
      <p:sp>
        <p:nvSpPr>
          <p:cNvPr id="443" name="Google Shape;443;p39"/>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447"/>
        <p:cNvGrpSpPr/>
        <p:nvPr/>
      </p:nvGrpSpPr>
      <p:grpSpPr>
        <a:xfrm>
          <a:off x="0" y="0"/>
          <a:ext cx="0" cy="0"/>
          <a:chOff x="0" y="0"/>
          <a:chExt cx="0" cy="0"/>
        </a:xfrm>
      </p:grpSpPr>
      <p:pic>
        <p:nvPicPr>
          <p:cNvPr id="448" name="Google Shape;448;p4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49" name="Google Shape;449;p40" descr="image.png"/>
          <p:cNvPicPr preferRelativeResize="0"/>
          <p:nvPr/>
        </p:nvPicPr>
        <p:blipFill rotWithShape="1">
          <a:blip r:embed="rId4">
            <a:alphaModFix/>
          </a:blip>
          <a:srcRect/>
          <a:stretch/>
        </p:blipFill>
        <p:spPr>
          <a:xfrm>
            <a:off x="771525" y="2279451"/>
            <a:ext cx="3359199" cy="3175396"/>
          </a:xfrm>
          <a:prstGeom prst="rect">
            <a:avLst/>
          </a:prstGeom>
          <a:noFill/>
          <a:ln>
            <a:noFill/>
          </a:ln>
        </p:spPr>
      </p:pic>
      <p:pic>
        <p:nvPicPr>
          <p:cNvPr id="450" name="Google Shape;450;p40" descr="image.png"/>
          <p:cNvPicPr preferRelativeResize="0"/>
          <p:nvPr/>
        </p:nvPicPr>
        <p:blipFill rotWithShape="1">
          <a:blip r:embed="rId5">
            <a:alphaModFix/>
          </a:blip>
          <a:srcRect/>
          <a:stretch/>
        </p:blipFill>
        <p:spPr>
          <a:xfrm>
            <a:off x="4416474" y="2279451"/>
            <a:ext cx="3359199" cy="3175396"/>
          </a:xfrm>
          <a:prstGeom prst="rect">
            <a:avLst/>
          </a:prstGeom>
          <a:noFill/>
          <a:ln>
            <a:noFill/>
          </a:ln>
        </p:spPr>
      </p:pic>
      <p:pic>
        <p:nvPicPr>
          <p:cNvPr id="451" name="Google Shape;451;p40" descr="image.png"/>
          <p:cNvPicPr preferRelativeResize="0"/>
          <p:nvPr/>
        </p:nvPicPr>
        <p:blipFill rotWithShape="1">
          <a:blip r:embed="rId6">
            <a:alphaModFix/>
          </a:blip>
          <a:srcRect/>
          <a:stretch/>
        </p:blipFill>
        <p:spPr>
          <a:xfrm>
            <a:off x="8061424" y="2279451"/>
            <a:ext cx="3359199" cy="3175396"/>
          </a:xfrm>
          <a:prstGeom prst="rect">
            <a:avLst/>
          </a:prstGeom>
          <a:noFill/>
          <a:ln>
            <a:noFill/>
          </a:ln>
        </p:spPr>
      </p:pic>
      <p:sp>
        <p:nvSpPr>
          <p:cNvPr id="452" name="Google Shape;452;p40"/>
          <p:cNvSpPr txBox="1"/>
          <p:nvPr/>
        </p:nvSpPr>
        <p:spPr>
          <a:xfrm>
            <a:off x="997583" y="3231951"/>
            <a:ext cx="2907082" cy="6667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Constitutional Benches</a:t>
            </a:r>
            <a:endParaRPr/>
          </a:p>
        </p:txBody>
      </p:sp>
      <p:sp>
        <p:nvSpPr>
          <p:cNvPr id="453" name="Google Shape;453;p40"/>
          <p:cNvSpPr txBox="1"/>
          <p:nvPr/>
        </p:nvSpPr>
        <p:spPr>
          <a:xfrm>
            <a:off x="1066800" y="4041576"/>
            <a:ext cx="2768649" cy="97512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Established dedicated Constitutional Benches inside the Supreme Court and High Courts to exclusively handle basic rights disputes.</a:t>
            </a:r>
            <a:endParaRPr/>
          </a:p>
        </p:txBody>
      </p:sp>
      <p:sp>
        <p:nvSpPr>
          <p:cNvPr id="454" name="Google Shape;454;p40"/>
          <p:cNvSpPr txBox="1"/>
          <p:nvPr/>
        </p:nvSpPr>
        <p:spPr>
          <a:xfrm>
            <a:off x="4642533" y="3231951"/>
            <a:ext cx="2907082" cy="6667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Environmental Rights</a:t>
            </a:r>
            <a:endParaRPr/>
          </a:p>
        </p:txBody>
      </p:sp>
      <p:sp>
        <p:nvSpPr>
          <p:cNvPr id="455" name="Google Shape;455;p40"/>
          <p:cNvSpPr txBox="1"/>
          <p:nvPr/>
        </p:nvSpPr>
        <p:spPr>
          <a:xfrm>
            <a:off x="4711749" y="4041576"/>
            <a:ext cx="2768649" cy="97512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Introduced Article 9A, establishing a clean, healthy, and sustainable environment as a core fundamental right of citizens.</a:t>
            </a:r>
            <a:endParaRPr/>
          </a:p>
        </p:txBody>
      </p:sp>
      <p:sp>
        <p:nvSpPr>
          <p:cNvPr id="456" name="Google Shape;456;p40"/>
          <p:cNvSpPr txBox="1"/>
          <p:nvPr/>
        </p:nvSpPr>
        <p:spPr>
          <a:xfrm>
            <a:off x="8488293" y="3231951"/>
            <a:ext cx="2505313"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a:solidFill>
                  <a:srgbClr val="0B132B"/>
                </a:solidFill>
                <a:latin typeface="Cinzel SemiBold"/>
                <a:ea typeface="Cinzel SemiBold"/>
                <a:cs typeface="Cinzel SemiBold"/>
                <a:sym typeface="Cinzel SemiBold"/>
              </a:rPr>
              <a:t>Islamic Economy</a:t>
            </a:r>
            <a:endParaRPr/>
          </a:p>
        </p:txBody>
      </p:sp>
      <p:sp>
        <p:nvSpPr>
          <p:cNvPr id="457" name="Google Shape;457;p40"/>
          <p:cNvSpPr txBox="1"/>
          <p:nvPr/>
        </p:nvSpPr>
        <p:spPr>
          <a:xfrm>
            <a:off x="8356699" y="3708201"/>
            <a:ext cx="2768649" cy="97512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1C2541"/>
                </a:solidFill>
                <a:latin typeface="Inter"/>
                <a:ea typeface="Inter"/>
                <a:cs typeface="Inter"/>
                <a:sym typeface="Inter"/>
              </a:rPr>
              <a:t>Set a constitutional deadline to eliminate Riba (usury/interest) from the financial machinery of Pakistan by January 1, 2028.</a:t>
            </a:r>
            <a:endParaRPr/>
          </a:p>
        </p:txBody>
      </p:sp>
      <p:pic>
        <p:nvPicPr>
          <p:cNvPr id="458" name="Google Shape;458;p40" descr="image.png"/>
          <p:cNvPicPr preferRelativeResize="0"/>
          <p:nvPr/>
        </p:nvPicPr>
        <p:blipFill rotWithShape="1">
          <a:blip r:embed="rId7">
            <a:alphaModFix/>
          </a:blip>
          <a:srcRect/>
          <a:stretch/>
        </p:blipFill>
        <p:spPr>
          <a:xfrm>
            <a:off x="2212925" y="2612826"/>
            <a:ext cx="476250" cy="381000"/>
          </a:xfrm>
          <a:prstGeom prst="rect">
            <a:avLst/>
          </a:prstGeom>
          <a:noFill/>
          <a:ln>
            <a:noFill/>
          </a:ln>
        </p:spPr>
      </p:pic>
      <p:pic>
        <p:nvPicPr>
          <p:cNvPr id="459" name="Google Shape;459;p40" descr="image.png"/>
          <p:cNvPicPr preferRelativeResize="0"/>
          <p:nvPr/>
        </p:nvPicPr>
        <p:blipFill rotWithShape="1">
          <a:blip r:embed="rId8">
            <a:alphaModFix/>
          </a:blip>
          <a:srcRect/>
          <a:stretch/>
        </p:blipFill>
        <p:spPr>
          <a:xfrm>
            <a:off x="5905500" y="2612826"/>
            <a:ext cx="381000" cy="381000"/>
          </a:xfrm>
          <a:prstGeom prst="rect">
            <a:avLst/>
          </a:prstGeom>
          <a:noFill/>
          <a:ln>
            <a:noFill/>
          </a:ln>
        </p:spPr>
      </p:pic>
      <p:pic>
        <p:nvPicPr>
          <p:cNvPr id="460" name="Google Shape;460;p40" descr="image.png"/>
          <p:cNvPicPr preferRelativeResize="0"/>
          <p:nvPr/>
        </p:nvPicPr>
        <p:blipFill rotWithShape="1">
          <a:blip r:embed="rId9">
            <a:alphaModFix/>
          </a:blip>
          <a:srcRect/>
          <a:stretch/>
        </p:blipFill>
        <p:spPr>
          <a:xfrm>
            <a:off x="9550449" y="2612826"/>
            <a:ext cx="381000" cy="381000"/>
          </a:xfrm>
          <a:prstGeom prst="rect">
            <a:avLst/>
          </a:prstGeom>
          <a:noFill/>
          <a:ln>
            <a:noFill/>
          </a:ln>
        </p:spPr>
      </p:pic>
      <p:sp>
        <p:nvSpPr>
          <p:cNvPr id="461" name="Google Shape;461;p40"/>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26TH AMENDMENT: HIGHLIGHTS</a:t>
            </a:r>
            <a:endParaRPr/>
          </a:p>
        </p:txBody>
      </p:sp>
      <p:sp>
        <p:nvSpPr>
          <p:cNvPr id="462" name="Google Shape;462;p40"/>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CFBFA"/>
        </a:solidFill>
        <a:effectLst/>
      </p:bgPr>
    </p:bg>
    <p:spTree>
      <p:nvGrpSpPr>
        <p:cNvPr id="1" name="Shape 466"/>
        <p:cNvGrpSpPr/>
        <p:nvPr/>
      </p:nvGrpSpPr>
      <p:grpSpPr>
        <a:xfrm>
          <a:off x="0" y="0"/>
          <a:ext cx="0" cy="0"/>
          <a:chOff x="0" y="0"/>
          <a:chExt cx="0" cy="0"/>
        </a:xfrm>
      </p:grpSpPr>
      <p:pic>
        <p:nvPicPr>
          <p:cNvPr id="467" name="Google Shape;467;p4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68" name="Google Shape;468;p41" descr="image.png"/>
          <p:cNvPicPr preferRelativeResize="0"/>
          <p:nvPr/>
        </p:nvPicPr>
        <p:blipFill rotWithShape="1">
          <a:blip r:embed="rId4">
            <a:alphaModFix/>
          </a:blip>
          <a:srcRect/>
          <a:stretch/>
        </p:blipFill>
        <p:spPr>
          <a:xfrm>
            <a:off x="771525" y="1819275"/>
            <a:ext cx="10648950" cy="4095750"/>
          </a:xfrm>
          <a:prstGeom prst="rect">
            <a:avLst/>
          </a:prstGeom>
          <a:noFill/>
          <a:ln>
            <a:noFill/>
          </a:ln>
        </p:spPr>
      </p:pic>
      <p:graphicFrame>
        <p:nvGraphicFramePr>
          <p:cNvPr id="469" name="Google Shape;469;p41"/>
          <p:cNvGraphicFramePr/>
          <p:nvPr/>
        </p:nvGraphicFramePr>
        <p:xfrm>
          <a:off x="781050" y="1828800"/>
          <a:ext cx="10629900" cy="4076700"/>
        </p:xfrm>
        <a:graphic>
          <a:graphicData uri="http://schemas.openxmlformats.org/drawingml/2006/table">
            <a:tbl>
              <a:tblPr firstRow="1" bandRow="1">
                <a:noFill/>
                <a:tableStyleId>{7659C9AA-2BB7-458E-A99B-8F29E46BA081}</a:tableStyleId>
              </a:tblPr>
              <a:tblGrid>
                <a:gridCol w="2241950">
                  <a:extLst>
                    <a:ext uri="{9D8B030D-6E8A-4147-A177-3AD203B41FA5}">
                      <a16:colId xmlns:a16="http://schemas.microsoft.com/office/drawing/2014/main" val="20000"/>
                    </a:ext>
                  </a:extLst>
                </a:gridCol>
                <a:gridCol w="1609125">
                  <a:extLst>
                    <a:ext uri="{9D8B030D-6E8A-4147-A177-3AD203B41FA5}">
                      <a16:colId xmlns:a16="http://schemas.microsoft.com/office/drawing/2014/main" val="20001"/>
                    </a:ext>
                  </a:extLst>
                </a:gridCol>
                <a:gridCol w="4807000">
                  <a:extLst>
                    <a:ext uri="{9D8B030D-6E8A-4147-A177-3AD203B41FA5}">
                      <a16:colId xmlns:a16="http://schemas.microsoft.com/office/drawing/2014/main" val="20002"/>
                    </a:ext>
                  </a:extLst>
                </a:gridCol>
                <a:gridCol w="1971825">
                  <a:extLst>
                    <a:ext uri="{9D8B030D-6E8A-4147-A177-3AD203B41FA5}">
                      <a16:colId xmlns:a16="http://schemas.microsoft.com/office/drawing/2014/main" val="20003"/>
                    </a:ext>
                  </a:extLst>
                </a:gridCol>
              </a:tblGrid>
              <a:tr h="679450">
                <a:tc>
                  <a:txBody>
                    <a:bodyPr/>
                    <a:lstStyle/>
                    <a:p>
                      <a:pPr marL="0" marR="0" lvl="0" indent="0" algn="l" rtl="0">
                        <a:spcBef>
                          <a:spcPts val="0"/>
                        </a:spcBef>
                        <a:spcAft>
                          <a:spcPts val="0"/>
                        </a:spcAft>
                        <a:buNone/>
                      </a:pPr>
                      <a:r>
                        <a:rPr lang="en-US" sz="1350" b="1" i="0" u="none" strike="noStrike" cap="none">
                          <a:solidFill>
                            <a:srgbClr val="FCFBFA"/>
                          </a:solidFill>
                          <a:latin typeface="Cinzel"/>
                          <a:ea typeface="Cinzel"/>
                          <a:cs typeface="Cinzel"/>
                          <a:sym typeface="Cinzel"/>
                        </a:rPr>
                        <a:t>Amendment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B132B"/>
                    </a:solidFill>
                  </a:tcPr>
                </a:tc>
                <a:tc>
                  <a:txBody>
                    <a:bodyPr/>
                    <a:lstStyle/>
                    <a:p>
                      <a:pPr marL="0" marR="0" lvl="0" indent="0" algn="l" rtl="0">
                        <a:spcBef>
                          <a:spcPts val="0"/>
                        </a:spcBef>
                        <a:spcAft>
                          <a:spcPts val="0"/>
                        </a:spcAft>
                        <a:buNone/>
                      </a:pPr>
                      <a:r>
                        <a:rPr lang="en-US" sz="1350" b="1" i="0" u="none" strike="noStrike" cap="none">
                          <a:solidFill>
                            <a:srgbClr val="FCFBFA"/>
                          </a:solidFill>
                          <a:latin typeface="Cinzel"/>
                          <a:ea typeface="Cinzel"/>
                          <a:cs typeface="Cinzel"/>
                          <a:sym typeface="Cinzel"/>
                        </a:rPr>
                        <a:t>Year Enacted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B132B"/>
                    </a:solidFill>
                  </a:tcPr>
                </a:tc>
                <a:tc>
                  <a:txBody>
                    <a:bodyPr/>
                    <a:lstStyle/>
                    <a:p>
                      <a:pPr marL="0" marR="0" lvl="0" indent="0" algn="l" rtl="0">
                        <a:spcBef>
                          <a:spcPts val="0"/>
                        </a:spcBef>
                        <a:spcAft>
                          <a:spcPts val="0"/>
                        </a:spcAft>
                        <a:buNone/>
                      </a:pPr>
                      <a:r>
                        <a:rPr lang="en-US" sz="1350" b="1" i="0" u="none" strike="noStrike" cap="none">
                          <a:solidFill>
                            <a:srgbClr val="FCFBFA"/>
                          </a:solidFill>
                          <a:latin typeface="Cinzel"/>
                          <a:ea typeface="Cinzel"/>
                          <a:cs typeface="Cinzel"/>
                          <a:sym typeface="Cinzel"/>
                        </a:rPr>
                        <a:t>Status of Presidential Power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B132B"/>
                    </a:solidFill>
                  </a:tcPr>
                </a:tc>
                <a:tc>
                  <a:txBody>
                    <a:bodyPr/>
                    <a:lstStyle/>
                    <a:p>
                      <a:pPr marL="0" marR="0" lvl="0" indent="0" algn="l" rtl="0">
                        <a:spcBef>
                          <a:spcPts val="0"/>
                        </a:spcBef>
                        <a:spcAft>
                          <a:spcPts val="0"/>
                        </a:spcAft>
                        <a:buNone/>
                      </a:pPr>
                      <a:r>
                        <a:rPr lang="en-US" sz="1350" b="1" i="0" u="none" strike="noStrike" cap="none">
                          <a:solidFill>
                            <a:srgbClr val="FCFBFA"/>
                          </a:solidFill>
                          <a:latin typeface="Cinzel"/>
                          <a:ea typeface="Cinzel"/>
                          <a:cs typeface="Cinzel"/>
                          <a:sym typeface="Cinzel"/>
                        </a:rPr>
                        <a:t>System Style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B132B"/>
                    </a:solidFill>
                  </a:tcPr>
                </a:tc>
                <a:extLst>
                  <a:ext uri="{0D108BD9-81ED-4DB2-BD59-A6C34878D82A}">
                    <a16:rowId xmlns:a16="http://schemas.microsoft.com/office/drawing/2014/main" val="10000"/>
                  </a:ext>
                </a:extLst>
              </a:tr>
              <a:tr h="679450">
                <a:tc>
                  <a:txBody>
                    <a:bodyPr/>
                    <a:lstStyle/>
                    <a:p>
                      <a:pPr marL="0" marR="0" lvl="0" indent="0" algn="l" rtl="0">
                        <a:spcBef>
                          <a:spcPts val="0"/>
                        </a:spcBef>
                        <a:spcAft>
                          <a:spcPts val="0"/>
                        </a:spcAft>
                        <a:buNone/>
                      </a:pPr>
                      <a:r>
                        <a:rPr lang="en-US" sz="1200" b="1" i="0" u="none" strike="noStrike" cap="none">
                          <a:solidFill>
                            <a:srgbClr val="1C2541"/>
                          </a:solidFill>
                          <a:latin typeface="Inter"/>
                          <a:ea typeface="Inter"/>
                          <a:cs typeface="Inter"/>
                          <a:sym typeface="Inter"/>
                        </a:rPr>
                        <a:t>Original 1973 Text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BFA"/>
                    </a:solidFill>
                  </a:tcPr>
                </a:tc>
                <a:tc>
                  <a:txBody>
                    <a:bodyPr/>
                    <a:lstStyle/>
                    <a:p>
                      <a:pPr marL="0" marR="0" lvl="0" indent="0" algn="l" rtl="0">
                        <a:spcBef>
                          <a:spcPts val="0"/>
                        </a:spcBef>
                        <a:spcAft>
                          <a:spcPts val="0"/>
                        </a:spcAft>
                        <a:buNone/>
                      </a:pPr>
                      <a:r>
                        <a:rPr lang="en-US" sz="1200" b="0" i="0" u="none" strike="noStrike" cap="none">
                          <a:solidFill>
                            <a:srgbClr val="1C2541"/>
                          </a:solidFill>
                          <a:latin typeface="Inter"/>
                          <a:ea typeface="Inter"/>
                          <a:cs typeface="Inter"/>
                          <a:sym typeface="Inter"/>
                        </a:rPr>
                        <a:t>1973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BFA"/>
                    </a:solidFill>
                  </a:tcPr>
                </a:tc>
                <a:tc>
                  <a:txBody>
                    <a:bodyPr/>
                    <a:lstStyle/>
                    <a:p>
                      <a:pPr marL="0" marR="0" lvl="0" indent="0" algn="l" rtl="0">
                        <a:spcBef>
                          <a:spcPts val="0"/>
                        </a:spcBef>
                        <a:spcAft>
                          <a:spcPts val="0"/>
                        </a:spcAft>
                        <a:buNone/>
                      </a:pPr>
                      <a:r>
                        <a:rPr lang="en-US" sz="1200" b="0" i="0" u="none" strike="noStrike" cap="none">
                          <a:solidFill>
                            <a:srgbClr val="1C2541"/>
                          </a:solidFill>
                          <a:latin typeface="Inter"/>
                          <a:ea typeface="Inter"/>
                          <a:cs typeface="Inter"/>
                          <a:sym typeface="Inter"/>
                        </a:rPr>
                        <a:t>No unilateral power; President bound by prime ministerial counsel.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BFA"/>
                    </a:solidFill>
                  </a:tcPr>
                </a:tc>
                <a:tc>
                  <a:txBody>
                    <a:bodyPr/>
                    <a:lstStyle/>
                    <a:p>
                      <a:pPr marL="0" marR="0" lvl="0" indent="0" algn="l" rtl="0">
                        <a:spcBef>
                          <a:spcPts val="0"/>
                        </a:spcBef>
                        <a:spcAft>
                          <a:spcPts val="0"/>
                        </a:spcAft>
                        <a:buNone/>
                      </a:pPr>
                      <a:r>
                        <a:rPr lang="en-US" sz="1200" b="0" i="0" u="none" strike="noStrike" cap="none">
                          <a:solidFill>
                            <a:srgbClr val="1C2541"/>
                          </a:solidFill>
                          <a:latin typeface="Inter"/>
                          <a:ea typeface="Inter"/>
                          <a:cs typeface="Inter"/>
                          <a:sym typeface="Inter"/>
                        </a:rPr>
                        <a:t>Strict Parliamentary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BFA"/>
                    </a:solidFill>
                  </a:tcPr>
                </a:tc>
                <a:extLst>
                  <a:ext uri="{0D108BD9-81ED-4DB2-BD59-A6C34878D82A}">
                    <a16:rowId xmlns:a16="http://schemas.microsoft.com/office/drawing/2014/main" val="10001"/>
                  </a:ext>
                </a:extLst>
              </a:tr>
              <a:tr h="679450">
                <a:tc>
                  <a:txBody>
                    <a:bodyPr/>
                    <a:lstStyle/>
                    <a:p>
                      <a:pPr marL="0" marR="0" lvl="0" indent="0" algn="l" rtl="0">
                        <a:spcBef>
                          <a:spcPts val="0"/>
                        </a:spcBef>
                        <a:spcAft>
                          <a:spcPts val="0"/>
                        </a:spcAft>
                        <a:buNone/>
                      </a:pPr>
                      <a:r>
                        <a:rPr lang="en-US" sz="1200" b="1" i="0" u="none" strike="noStrike" cap="none">
                          <a:solidFill>
                            <a:srgbClr val="1C2541"/>
                          </a:solidFill>
                          <a:latin typeface="Inter"/>
                          <a:ea typeface="Inter"/>
                          <a:cs typeface="Inter"/>
                          <a:sym typeface="Inter"/>
                        </a:rPr>
                        <a:t>Eighth Amendment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BFA"/>
                    </a:solidFill>
                  </a:tcPr>
                </a:tc>
                <a:tc>
                  <a:txBody>
                    <a:bodyPr/>
                    <a:lstStyle/>
                    <a:p>
                      <a:pPr marL="0" marR="0" lvl="0" indent="0" algn="l" rtl="0">
                        <a:spcBef>
                          <a:spcPts val="0"/>
                        </a:spcBef>
                        <a:spcAft>
                          <a:spcPts val="0"/>
                        </a:spcAft>
                        <a:buNone/>
                      </a:pPr>
                      <a:r>
                        <a:rPr lang="en-US" sz="1200" b="0" i="0" u="none" strike="noStrike" cap="none">
                          <a:solidFill>
                            <a:srgbClr val="1C2541"/>
                          </a:solidFill>
                          <a:latin typeface="Inter"/>
                          <a:ea typeface="Inter"/>
                          <a:cs typeface="Inter"/>
                          <a:sym typeface="Inter"/>
                        </a:rPr>
                        <a:t>1985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BFA"/>
                    </a:solidFill>
                  </a:tcPr>
                </a:tc>
                <a:tc>
                  <a:txBody>
                    <a:bodyPr/>
                    <a:lstStyle/>
                    <a:p>
                      <a:pPr marL="0" marR="0" lvl="0" indent="0" algn="l" rtl="0">
                        <a:spcBef>
                          <a:spcPts val="0"/>
                        </a:spcBef>
                        <a:spcAft>
                          <a:spcPts val="0"/>
                        </a:spcAft>
                        <a:buNone/>
                      </a:pPr>
                      <a:r>
                        <a:rPr lang="en-US" sz="1200" b="0" i="0" u="none" strike="noStrike" cap="none">
                          <a:solidFill>
                            <a:srgbClr val="1C2541"/>
                          </a:solidFill>
                          <a:latin typeface="Inter"/>
                          <a:ea typeface="Inter"/>
                          <a:cs typeface="Inter"/>
                          <a:sym typeface="Inter"/>
                        </a:rPr>
                        <a:t>Acquired unilateral authority to dissolve National Assembly at will.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BFA"/>
                    </a:solidFill>
                  </a:tcPr>
                </a:tc>
                <a:tc>
                  <a:txBody>
                    <a:bodyPr/>
                    <a:lstStyle/>
                    <a:p>
                      <a:pPr marL="0" marR="0" lvl="0" indent="0" algn="l" rtl="0">
                        <a:spcBef>
                          <a:spcPts val="0"/>
                        </a:spcBef>
                        <a:spcAft>
                          <a:spcPts val="0"/>
                        </a:spcAft>
                        <a:buNone/>
                      </a:pPr>
                      <a:r>
                        <a:rPr lang="en-US" sz="1200" b="0" i="0" u="none" strike="noStrike" cap="none">
                          <a:solidFill>
                            <a:srgbClr val="1C2541"/>
                          </a:solidFill>
                          <a:latin typeface="Inter"/>
                          <a:ea typeface="Inter"/>
                          <a:cs typeface="Inter"/>
                          <a:sym typeface="Inter"/>
                        </a:rPr>
                        <a:t>Semi-Presidential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BFA"/>
                    </a:solidFill>
                  </a:tcPr>
                </a:tc>
                <a:extLst>
                  <a:ext uri="{0D108BD9-81ED-4DB2-BD59-A6C34878D82A}">
                    <a16:rowId xmlns:a16="http://schemas.microsoft.com/office/drawing/2014/main" val="10002"/>
                  </a:ext>
                </a:extLst>
              </a:tr>
              <a:tr h="679450">
                <a:tc>
                  <a:txBody>
                    <a:bodyPr/>
                    <a:lstStyle/>
                    <a:p>
                      <a:pPr marL="0" marR="0" lvl="0" indent="0" algn="l" rtl="0">
                        <a:spcBef>
                          <a:spcPts val="0"/>
                        </a:spcBef>
                        <a:spcAft>
                          <a:spcPts val="0"/>
                        </a:spcAft>
                        <a:buNone/>
                      </a:pPr>
                      <a:r>
                        <a:rPr lang="en-US" sz="1200" b="1" i="0" u="none" strike="noStrike" cap="none">
                          <a:solidFill>
                            <a:srgbClr val="1C2541"/>
                          </a:solidFill>
                          <a:latin typeface="Inter"/>
                          <a:ea typeface="Inter"/>
                          <a:cs typeface="Inter"/>
                          <a:sym typeface="Inter"/>
                        </a:rPr>
                        <a:t>Thirteenth Amendment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BFA"/>
                    </a:solidFill>
                  </a:tcPr>
                </a:tc>
                <a:tc>
                  <a:txBody>
                    <a:bodyPr/>
                    <a:lstStyle/>
                    <a:p>
                      <a:pPr marL="0" marR="0" lvl="0" indent="0" algn="l" rtl="0">
                        <a:spcBef>
                          <a:spcPts val="0"/>
                        </a:spcBef>
                        <a:spcAft>
                          <a:spcPts val="0"/>
                        </a:spcAft>
                        <a:buNone/>
                      </a:pPr>
                      <a:r>
                        <a:rPr lang="en-US" sz="1200" b="0" i="0" u="none" strike="noStrike" cap="none">
                          <a:solidFill>
                            <a:srgbClr val="1C2541"/>
                          </a:solidFill>
                          <a:latin typeface="Inter"/>
                          <a:ea typeface="Inter"/>
                          <a:cs typeface="Inter"/>
                          <a:sym typeface="Inter"/>
                        </a:rPr>
                        <a:t>1997</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BFA"/>
                    </a:solidFill>
                  </a:tcPr>
                </a:tc>
                <a:tc>
                  <a:txBody>
                    <a:bodyPr/>
                    <a:lstStyle/>
                    <a:p>
                      <a:pPr marL="0" marR="0" lvl="0" indent="0" algn="l" rtl="0">
                        <a:spcBef>
                          <a:spcPts val="0"/>
                        </a:spcBef>
                        <a:spcAft>
                          <a:spcPts val="0"/>
                        </a:spcAft>
                        <a:buNone/>
                      </a:pPr>
                      <a:r>
                        <a:rPr lang="en-US" sz="1200" b="0" i="0" u="none" strike="noStrike" cap="none">
                          <a:solidFill>
                            <a:srgbClr val="1C2541"/>
                          </a:solidFill>
                          <a:latin typeface="Inter"/>
                          <a:ea typeface="Inter"/>
                          <a:cs typeface="Inter"/>
                          <a:sym typeface="Inter"/>
                        </a:rPr>
                        <a:t>Power revoked; re-established parliamentary supremacy.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BFA"/>
                    </a:solidFill>
                  </a:tcPr>
                </a:tc>
                <a:tc>
                  <a:txBody>
                    <a:bodyPr/>
                    <a:lstStyle/>
                    <a:p>
                      <a:pPr marL="0" marR="0" lvl="0" indent="0" algn="l" rtl="0">
                        <a:spcBef>
                          <a:spcPts val="0"/>
                        </a:spcBef>
                        <a:spcAft>
                          <a:spcPts val="0"/>
                        </a:spcAft>
                        <a:buNone/>
                      </a:pPr>
                      <a:r>
                        <a:rPr lang="en-US" sz="1200" b="0" i="0" u="none" strike="noStrike" cap="none">
                          <a:solidFill>
                            <a:srgbClr val="1C2541"/>
                          </a:solidFill>
                          <a:latin typeface="Inter"/>
                          <a:ea typeface="Inter"/>
                          <a:cs typeface="Inter"/>
                          <a:sym typeface="Inter"/>
                        </a:rPr>
                        <a:t>Strict Parliamentary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BFA"/>
                    </a:solidFill>
                  </a:tcPr>
                </a:tc>
                <a:extLst>
                  <a:ext uri="{0D108BD9-81ED-4DB2-BD59-A6C34878D82A}">
                    <a16:rowId xmlns:a16="http://schemas.microsoft.com/office/drawing/2014/main" val="10003"/>
                  </a:ext>
                </a:extLst>
              </a:tr>
              <a:tr h="679450">
                <a:tc>
                  <a:txBody>
                    <a:bodyPr/>
                    <a:lstStyle/>
                    <a:p>
                      <a:pPr marL="0" marR="0" lvl="0" indent="0" algn="l" rtl="0">
                        <a:spcBef>
                          <a:spcPts val="0"/>
                        </a:spcBef>
                        <a:spcAft>
                          <a:spcPts val="0"/>
                        </a:spcAft>
                        <a:buNone/>
                      </a:pPr>
                      <a:r>
                        <a:rPr lang="en-US" sz="1200" b="1" i="0" u="none" strike="noStrike" cap="none">
                          <a:solidFill>
                            <a:srgbClr val="1C2541"/>
                          </a:solidFill>
                          <a:latin typeface="Inter"/>
                          <a:ea typeface="Inter"/>
                          <a:cs typeface="Inter"/>
                          <a:sym typeface="Inter"/>
                        </a:rPr>
                        <a:t>Seventeenth Amendment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BFA"/>
                    </a:solidFill>
                  </a:tcPr>
                </a:tc>
                <a:tc>
                  <a:txBody>
                    <a:bodyPr/>
                    <a:lstStyle/>
                    <a:p>
                      <a:pPr marL="0" marR="0" lvl="0" indent="0" algn="l" rtl="0">
                        <a:spcBef>
                          <a:spcPts val="0"/>
                        </a:spcBef>
                        <a:spcAft>
                          <a:spcPts val="0"/>
                        </a:spcAft>
                        <a:buNone/>
                      </a:pPr>
                      <a:r>
                        <a:rPr lang="en-US" sz="1200" b="0" i="0" u="none" strike="noStrike" cap="none">
                          <a:solidFill>
                            <a:srgbClr val="1C2541"/>
                          </a:solidFill>
                          <a:latin typeface="Inter"/>
                          <a:ea typeface="Inter"/>
                          <a:cs typeface="Inter"/>
                          <a:sym typeface="Inter"/>
                        </a:rPr>
                        <a:t>2003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BFA"/>
                    </a:solidFill>
                  </a:tcPr>
                </a:tc>
                <a:tc>
                  <a:txBody>
                    <a:bodyPr/>
                    <a:lstStyle/>
                    <a:p>
                      <a:pPr marL="0" marR="0" lvl="0" indent="0" algn="l" rtl="0">
                        <a:spcBef>
                          <a:spcPts val="0"/>
                        </a:spcBef>
                        <a:spcAft>
                          <a:spcPts val="0"/>
                        </a:spcAft>
                        <a:buNone/>
                      </a:pPr>
                      <a:r>
                        <a:rPr lang="en-US" sz="1200" b="0" i="0" u="none" strike="noStrike" cap="none">
                          <a:solidFill>
                            <a:srgbClr val="1C2541"/>
                          </a:solidFill>
                          <a:latin typeface="Inter"/>
                          <a:ea typeface="Inter"/>
                          <a:cs typeface="Inter"/>
                          <a:sym typeface="Inter"/>
                        </a:rPr>
                        <a:t>Power restored under military Legal Framework Order.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BFA"/>
                    </a:solidFill>
                  </a:tcPr>
                </a:tc>
                <a:tc>
                  <a:txBody>
                    <a:bodyPr/>
                    <a:lstStyle/>
                    <a:p>
                      <a:pPr marL="0" marR="0" lvl="0" indent="0" algn="l" rtl="0">
                        <a:spcBef>
                          <a:spcPts val="0"/>
                        </a:spcBef>
                        <a:spcAft>
                          <a:spcPts val="0"/>
                        </a:spcAft>
                        <a:buNone/>
                      </a:pPr>
                      <a:r>
                        <a:rPr lang="en-US" sz="1200" b="0" i="0" u="none" strike="noStrike" cap="none">
                          <a:solidFill>
                            <a:srgbClr val="1C2541"/>
                          </a:solidFill>
                          <a:latin typeface="Inter"/>
                          <a:ea typeface="Inter"/>
                          <a:cs typeface="Inter"/>
                          <a:sym typeface="Inter"/>
                        </a:rPr>
                        <a:t>Semi-Presidential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BFA"/>
                    </a:solidFill>
                  </a:tcPr>
                </a:tc>
                <a:extLst>
                  <a:ext uri="{0D108BD9-81ED-4DB2-BD59-A6C34878D82A}">
                    <a16:rowId xmlns:a16="http://schemas.microsoft.com/office/drawing/2014/main" val="10004"/>
                  </a:ext>
                </a:extLst>
              </a:tr>
              <a:tr h="679450">
                <a:tc>
                  <a:txBody>
                    <a:bodyPr/>
                    <a:lstStyle/>
                    <a:p>
                      <a:pPr marL="0" marR="0" lvl="0" indent="0" algn="l" rtl="0">
                        <a:spcBef>
                          <a:spcPts val="0"/>
                        </a:spcBef>
                        <a:spcAft>
                          <a:spcPts val="0"/>
                        </a:spcAft>
                        <a:buNone/>
                      </a:pPr>
                      <a:r>
                        <a:rPr lang="en-US" sz="1200" b="1" i="0" u="none" strike="noStrike" cap="none">
                          <a:solidFill>
                            <a:srgbClr val="1C2541"/>
                          </a:solidFill>
                          <a:latin typeface="Inter"/>
                          <a:ea typeface="Inter"/>
                          <a:cs typeface="Inter"/>
                          <a:sym typeface="Inter"/>
                        </a:rPr>
                        <a:t>Eighteenth Amendment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BFA"/>
                    </a:solidFill>
                  </a:tcPr>
                </a:tc>
                <a:tc>
                  <a:txBody>
                    <a:bodyPr/>
                    <a:lstStyle/>
                    <a:p>
                      <a:pPr marL="0" marR="0" lvl="0" indent="0" algn="l" rtl="0">
                        <a:spcBef>
                          <a:spcPts val="0"/>
                        </a:spcBef>
                        <a:spcAft>
                          <a:spcPts val="0"/>
                        </a:spcAft>
                        <a:buNone/>
                      </a:pPr>
                      <a:r>
                        <a:rPr lang="en-US" sz="1200" b="0" i="0" u="none" strike="noStrike" cap="none">
                          <a:solidFill>
                            <a:srgbClr val="1C2541"/>
                          </a:solidFill>
                          <a:latin typeface="Inter"/>
                          <a:ea typeface="Inter"/>
                          <a:cs typeface="Inter"/>
                          <a:sym typeface="Inter"/>
                        </a:rPr>
                        <a:t>2010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BFA"/>
                    </a:solidFill>
                  </a:tcPr>
                </a:tc>
                <a:tc>
                  <a:txBody>
                    <a:bodyPr/>
                    <a:lstStyle/>
                    <a:p>
                      <a:pPr marL="0" marR="0" lvl="0" indent="0" algn="l" rtl="0">
                        <a:spcBef>
                          <a:spcPts val="0"/>
                        </a:spcBef>
                        <a:spcAft>
                          <a:spcPts val="0"/>
                        </a:spcAft>
                        <a:buNone/>
                      </a:pPr>
                      <a:r>
                        <a:rPr lang="en-US" sz="1200" b="0" i="0" u="none" strike="noStrike" cap="none">
                          <a:solidFill>
                            <a:srgbClr val="1C2541"/>
                          </a:solidFill>
                          <a:latin typeface="Inter"/>
                          <a:ea typeface="Inter"/>
                          <a:cs typeface="Inter"/>
                          <a:sym typeface="Inter"/>
                        </a:rPr>
                        <a:t>Power permanently removed. Provincial autonomy restored.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BFA"/>
                    </a:solidFill>
                  </a:tcPr>
                </a:tc>
                <a:tc>
                  <a:txBody>
                    <a:bodyPr/>
                    <a:lstStyle/>
                    <a:p>
                      <a:pPr marL="0" marR="0" lvl="0" indent="0" algn="l" rtl="0">
                        <a:spcBef>
                          <a:spcPts val="0"/>
                        </a:spcBef>
                        <a:spcAft>
                          <a:spcPts val="0"/>
                        </a:spcAft>
                        <a:buNone/>
                      </a:pPr>
                      <a:r>
                        <a:rPr lang="en-US" sz="1200" b="0" i="0" u="none" strike="noStrike" cap="none">
                          <a:solidFill>
                            <a:srgbClr val="1C2541"/>
                          </a:solidFill>
                          <a:latin typeface="Inter"/>
                          <a:ea typeface="Inter"/>
                          <a:cs typeface="Inter"/>
                          <a:sym typeface="Inter"/>
                        </a:rPr>
                        <a:t>Absolute Parliamentary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BFA"/>
                    </a:solidFill>
                  </a:tcPr>
                </a:tc>
                <a:extLst>
                  <a:ext uri="{0D108BD9-81ED-4DB2-BD59-A6C34878D82A}">
                    <a16:rowId xmlns:a16="http://schemas.microsoft.com/office/drawing/2014/main" val="10005"/>
                  </a:ext>
                </a:extLst>
              </a:tr>
            </a:tbl>
          </a:graphicData>
        </a:graphic>
      </p:graphicFrame>
      <p:sp>
        <p:nvSpPr>
          <p:cNvPr id="470" name="Google Shape;470;p41"/>
          <p:cNvSpPr/>
          <p:nvPr/>
        </p:nvSpPr>
        <p:spPr>
          <a:xfrm>
            <a:off x="781050" y="2600325"/>
            <a:ext cx="2241946"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1" name="Google Shape;471;p41"/>
          <p:cNvSpPr/>
          <p:nvPr/>
        </p:nvSpPr>
        <p:spPr>
          <a:xfrm>
            <a:off x="3022996" y="2600325"/>
            <a:ext cx="1609129"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2" name="Google Shape;472;p41"/>
          <p:cNvSpPr/>
          <p:nvPr/>
        </p:nvSpPr>
        <p:spPr>
          <a:xfrm>
            <a:off x="4632126" y="2600325"/>
            <a:ext cx="4806999"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3" name="Google Shape;473;p41"/>
          <p:cNvSpPr/>
          <p:nvPr/>
        </p:nvSpPr>
        <p:spPr>
          <a:xfrm>
            <a:off x="9439126" y="2600325"/>
            <a:ext cx="1971823"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4" name="Google Shape;474;p41"/>
          <p:cNvSpPr/>
          <p:nvPr/>
        </p:nvSpPr>
        <p:spPr>
          <a:xfrm>
            <a:off x="781050" y="3309937"/>
            <a:ext cx="2241946" cy="9525"/>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5" name="Google Shape;475;p41"/>
          <p:cNvSpPr/>
          <p:nvPr/>
        </p:nvSpPr>
        <p:spPr>
          <a:xfrm>
            <a:off x="3022996" y="3309937"/>
            <a:ext cx="1609129" cy="9525"/>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6" name="Google Shape;476;p41"/>
          <p:cNvSpPr/>
          <p:nvPr/>
        </p:nvSpPr>
        <p:spPr>
          <a:xfrm>
            <a:off x="4632126" y="3309937"/>
            <a:ext cx="4806999" cy="9525"/>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7" name="Google Shape;477;p41"/>
          <p:cNvSpPr/>
          <p:nvPr/>
        </p:nvSpPr>
        <p:spPr>
          <a:xfrm>
            <a:off x="9439126" y="3309937"/>
            <a:ext cx="1971823" cy="9525"/>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8" name="Google Shape;478;p41"/>
          <p:cNvSpPr/>
          <p:nvPr/>
        </p:nvSpPr>
        <p:spPr>
          <a:xfrm>
            <a:off x="781050" y="4005262"/>
            <a:ext cx="2241946" cy="9525"/>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9" name="Google Shape;479;p41"/>
          <p:cNvSpPr/>
          <p:nvPr/>
        </p:nvSpPr>
        <p:spPr>
          <a:xfrm>
            <a:off x="3022996" y="4005262"/>
            <a:ext cx="1609129" cy="9525"/>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0" name="Google Shape;480;p41"/>
          <p:cNvSpPr/>
          <p:nvPr/>
        </p:nvSpPr>
        <p:spPr>
          <a:xfrm>
            <a:off x="4632126" y="4005262"/>
            <a:ext cx="4806999" cy="9525"/>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1" name="Google Shape;481;p41"/>
          <p:cNvSpPr/>
          <p:nvPr/>
        </p:nvSpPr>
        <p:spPr>
          <a:xfrm>
            <a:off x="9439126" y="4005262"/>
            <a:ext cx="1971823" cy="9525"/>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2" name="Google Shape;482;p41"/>
          <p:cNvSpPr/>
          <p:nvPr/>
        </p:nvSpPr>
        <p:spPr>
          <a:xfrm>
            <a:off x="781050" y="4510087"/>
            <a:ext cx="2241946" cy="9525"/>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3" name="Google Shape;483;p41"/>
          <p:cNvSpPr/>
          <p:nvPr/>
        </p:nvSpPr>
        <p:spPr>
          <a:xfrm>
            <a:off x="3022996" y="4510087"/>
            <a:ext cx="1609129" cy="9525"/>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4" name="Google Shape;484;p41"/>
          <p:cNvSpPr/>
          <p:nvPr/>
        </p:nvSpPr>
        <p:spPr>
          <a:xfrm>
            <a:off x="4632126" y="4510087"/>
            <a:ext cx="4806999" cy="9525"/>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5" name="Google Shape;485;p41"/>
          <p:cNvSpPr/>
          <p:nvPr/>
        </p:nvSpPr>
        <p:spPr>
          <a:xfrm>
            <a:off x="9439126" y="4510087"/>
            <a:ext cx="1971823" cy="9525"/>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6" name="Google Shape;486;p41"/>
          <p:cNvSpPr/>
          <p:nvPr/>
        </p:nvSpPr>
        <p:spPr>
          <a:xfrm>
            <a:off x="781050" y="5205412"/>
            <a:ext cx="2241946" cy="9525"/>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7" name="Google Shape;487;p41"/>
          <p:cNvSpPr/>
          <p:nvPr/>
        </p:nvSpPr>
        <p:spPr>
          <a:xfrm>
            <a:off x="3022996" y="5205412"/>
            <a:ext cx="1609129" cy="9525"/>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8" name="Google Shape;488;p41"/>
          <p:cNvSpPr/>
          <p:nvPr/>
        </p:nvSpPr>
        <p:spPr>
          <a:xfrm>
            <a:off x="4632126" y="5205412"/>
            <a:ext cx="4806999" cy="9525"/>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9" name="Google Shape;489;p41"/>
          <p:cNvSpPr/>
          <p:nvPr/>
        </p:nvSpPr>
        <p:spPr>
          <a:xfrm>
            <a:off x="9439126" y="5205412"/>
            <a:ext cx="1971823" cy="9525"/>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0" name="Google Shape;490;p41"/>
          <p:cNvSpPr txBox="1"/>
          <p:nvPr/>
        </p:nvSpPr>
        <p:spPr>
          <a:xfrm>
            <a:off x="771525" y="581025"/>
            <a:ext cx="11181397"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0B132B"/>
                </a:solidFill>
                <a:latin typeface="Cinzel"/>
                <a:ea typeface="Cinzel"/>
                <a:cs typeface="Cinzel"/>
                <a:sym typeface="Cinzel"/>
              </a:rPr>
              <a:t>TIMELINE OF ARTICLE 58(2)(B)</a:t>
            </a:r>
            <a:endParaRPr/>
          </a:p>
        </p:txBody>
      </p:sp>
      <p:sp>
        <p:nvSpPr>
          <p:cNvPr id="491" name="Google Shape;491;p41"/>
          <p:cNvSpPr/>
          <p:nvPr/>
        </p:nvSpPr>
        <p:spPr>
          <a:xfrm>
            <a:off x="771525" y="1152525"/>
            <a:ext cx="10648950" cy="19050"/>
          </a:xfrm>
          <a:prstGeom prst="rect">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Shape 495"/>
        <p:cNvGrpSpPr/>
        <p:nvPr/>
      </p:nvGrpSpPr>
      <p:grpSpPr>
        <a:xfrm>
          <a:off x="0" y="0"/>
          <a:ext cx="0" cy="0"/>
          <a:chOff x="0" y="0"/>
          <a:chExt cx="0" cy="0"/>
        </a:xfrm>
      </p:grpSpPr>
      <p:pic>
        <p:nvPicPr>
          <p:cNvPr id="496" name="Google Shape;496;p4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98" name="Google Shape;498;p42"/>
          <p:cNvSpPr/>
          <p:nvPr/>
        </p:nvSpPr>
        <p:spPr>
          <a:xfrm>
            <a:off x="5715000" y="1685032"/>
            <a:ext cx="762000" cy="57150"/>
          </a:xfrm>
          <a:prstGeom prst="roundRect">
            <a:avLst>
              <a:gd name="adj" fmla="val 33333"/>
            </a:avLst>
          </a:prstGeom>
          <a:solidFill>
            <a:srgbClr val="CDA25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9" name="Google Shape;499;p42"/>
          <p:cNvSpPr txBox="1"/>
          <p:nvPr/>
        </p:nvSpPr>
        <p:spPr>
          <a:xfrm>
            <a:off x="3800713" y="2027932"/>
            <a:ext cx="4590573" cy="132576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350" b="0" i="0" u="none" strike="noStrike" cap="none">
                <a:solidFill>
                  <a:srgbClr val="FCFBFA"/>
                </a:solidFill>
                <a:latin typeface="Cinzel ExtraBold"/>
                <a:ea typeface="Cinzel ExtraBold"/>
                <a:cs typeface="Cinzel ExtraBold"/>
                <a:sym typeface="Cinzel ExtraBold"/>
              </a:rPr>
              <a:t>QUESTIONS &amp;</a:t>
            </a:r>
            <a:br>
              <a:rPr lang="en-US" sz="1800" b="0" i="0" u="none" strike="noStrike" cap="none">
                <a:solidFill>
                  <a:schemeClr val="dk1"/>
                </a:solidFill>
                <a:latin typeface="Calibri"/>
                <a:ea typeface="Calibri"/>
                <a:cs typeface="Calibri"/>
                <a:sym typeface="Calibri"/>
              </a:rPr>
            </a:br>
            <a:r>
              <a:rPr lang="en-US" sz="4350" b="0" i="0" u="none" strike="noStrike" cap="none">
                <a:solidFill>
                  <a:srgbClr val="FCFBFA"/>
                </a:solidFill>
                <a:latin typeface="Cinzel ExtraBold"/>
                <a:ea typeface="Cinzel ExtraBold"/>
                <a:cs typeface="Cinzel ExtraBold"/>
                <a:sym typeface="Cinzel ExtraBold"/>
              </a:rPr>
              <a:t> DISCUSSION</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D5E1B92BA41E944B973FA5834FD04C8" ma:contentTypeVersion="7" ma:contentTypeDescription="Create a new document." ma:contentTypeScope="" ma:versionID="1b38b069734ef9489dcbb789a885aebb">
  <xsd:schema xmlns:xsd="http://www.w3.org/2001/XMLSchema" xmlns:xs="http://www.w3.org/2001/XMLSchema" xmlns:p="http://schemas.microsoft.com/office/2006/metadata/properties" xmlns:ns2="e564586d-5d80-455b-a1c7-db0629daa30a" targetNamespace="http://schemas.microsoft.com/office/2006/metadata/properties" ma:root="true" ma:fieldsID="87579b98c1197177159376d4e71f7b63" ns2:_="">
    <xsd:import namespace="e564586d-5d80-455b-a1c7-db0629daa30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64586d-5d80-455b-a1c7-db0629daa3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4A7EFB3-7325-4C87-BCE6-ECD6C8EBF167}"/>
</file>

<file path=customXml/itemProps2.xml><?xml version="1.0" encoding="utf-8"?>
<ds:datastoreItem xmlns:ds="http://schemas.openxmlformats.org/officeDocument/2006/customXml" ds:itemID="{298E476B-D1AC-457B-8D7C-89CEAF81531E}"/>
</file>

<file path=customXml/itemProps3.xml><?xml version="1.0" encoding="utf-8"?>
<ds:datastoreItem xmlns:ds="http://schemas.openxmlformats.org/officeDocument/2006/customXml" ds:itemID="{896164E5-2820-46FE-907E-F434F79EA4BC}"/>
</file>

<file path=docProps/app.xml><?xml version="1.0" encoding="utf-8"?>
<Properties xmlns="http://schemas.openxmlformats.org/officeDocument/2006/extended-properties" xmlns:vt="http://schemas.openxmlformats.org/officeDocument/2006/docPropsVTypes">
  <TotalTime>11</TotalTime>
  <Words>1812</Words>
  <Application>Microsoft Office PowerPoint</Application>
  <PresentationFormat>Widescreen</PresentationFormat>
  <Paragraphs>178</Paragraphs>
  <Slides>30</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Cinzel ExtraBold</vt:lpstr>
      <vt:lpstr>Arial</vt:lpstr>
      <vt:lpstr>Cinzel</vt:lpstr>
      <vt:lpstr>Calibri</vt:lpstr>
      <vt:lpstr>Cinzel SemiBold</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Mukhtiar Ahmed</cp:lastModifiedBy>
  <cp:revision>2</cp:revision>
  <dcterms:modified xsi:type="dcterms:W3CDTF">2026-05-22T06:08:10Z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0x010100DD5E1B92BA41E944B973FA5834FD04C8</vt:lpwstr>
  </property>
</Properties>
</file>