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9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506518-9589-44B5-8E98-82D2BE841E35}"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302096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506518-9589-44B5-8E98-82D2BE841E35}"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715442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506518-9589-44B5-8E98-82D2BE841E35}"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1301765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506518-9589-44B5-8E98-82D2BE841E35}"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2280355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506518-9589-44B5-8E98-82D2BE841E35}"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2975918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506518-9589-44B5-8E98-82D2BE841E35}"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1788407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506518-9589-44B5-8E98-82D2BE841E35}"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2338720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506518-9589-44B5-8E98-82D2BE841E35}"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1749680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506518-9589-44B5-8E98-82D2BE841E35}"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874683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506518-9589-44B5-8E98-82D2BE841E35}"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3418440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506518-9589-44B5-8E98-82D2BE841E35}"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C0586-5A77-404B-BB8D-15F92BAFC350}" type="slidenum">
              <a:rPr lang="en-US" smtClean="0"/>
              <a:t>‹#›</a:t>
            </a:fld>
            <a:endParaRPr lang="en-US"/>
          </a:p>
        </p:txBody>
      </p:sp>
    </p:spTree>
    <p:extLst>
      <p:ext uri="{BB962C8B-B14F-4D97-AF65-F5344CB8AC3E}">
        <p14:creationId xmlns:p14="http://schemas.microsoft.com/office/powerpoint/2010/main" val="1081305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506518-9589-44B5-8E98-82D2BE841E35}" type="datetimeFigureOut">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BC0586-5A77-404B-BB8D-15F92BAFC350}" type="slidenum">
              <a:rPr lang="en-US" smtClean="0"/>
              <a:t>‹#›</a:t>
            </a:fld>
            <a:endParaRPr lang="en-US"/>
          </a:p>
        </p:txBody>
      </p:sp>
    </p:spTree>
    <p:extLst>
      <p:ext uri="{BB962C8B-B14F-4D97-AF65-F5344CB8AC3E}">
        <p14:creationId xmlns:p14="http://schemas.microsoft.com/office/powerpoint/2010/main" val="3315255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4400" b="1" dirty="0" smtClean="0">
                <a:effectLst>
                  <a:outerShdw blurRad="38100" dist="38100" dir="2700000" algn="tl">
                    <a:srgbClr val="000000">
                      <a:alpha val="43137"/>
                    </a:srgbClr>
                  </a:outerShdw>
                </a:effectLst>
              </a:rPr>
              <a:t>CONTEMPORARY ISSUES IN</a:t>
            </a:r>
          </a:p>
          <a:p>
            <a:r>
              <a:rPr lang="en-US" sz="4400" b="1" dirty="0" smtClean="0">
                <a:effectLst>
                  <a:outerShdw blurRad="38100" dist="38100" dir="2700000" algn="tl">
                    <a:srgbClr val="000000">
                      <a:alpha val="43137"/>
                    </a:srgbClr>
                  </a:outerShdw>
                </a:effectLst>
              </a:rPr>
              <a:t>CONSTITUTIONAL DEVELOPMENT</a:t>
            </a:r>
            <a:endParaRPr lang="en-US" sz="4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79275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TOPICS TO BE COVERED </a:t>
            </a:r>
            <a:endParaRPr lang="en-US" b="1" dirty="0"/>
          </a:p>
        </p:txBody>
      </p:sp>
      <p:sp>
        <p:nvSpPr>
          <p:cNvPr id="3" name="Content Placeholder 2"/>
          <p:cNvSpPr>
            <a:spLocks noGrp="1"/>
          </p:cNvSpPr>
          <p:nvPr>
            <p:ph idx="1"/>
          </p:nvPr>
        </p:nvSpPr>
        <p:spPr/>
        <p:txBody>
          <a:bodyPr/>
          <a:lstStyle/>
          <a:p>
            <a:r>
              <a:rPr lang="en-US" dirty="0" smtClean="0"/>
              <a:t>Current constitutional debates and reforms;</a:t>
            </a:r>
          </a:p>
          <a:p>
            <a:r>
              <a:rPr lang="en-US" dirty="0" smtClean="0"/>
              <a:t>a</a:t>
            </a:r>
            <a:r>
              <a:rPr lang="en-US" b="1" dirty="0" smtClean="0"/>
              <a:t>. Electoral reforms</a:t>
            </a:r>
          </a:p>
          <a:p>
            <a:r>
              <a:rPr lang="en-US" b="1" dirty="0" smtClean="0"/>
              <a:t>b. Judicial reforms</a:t>
            </a:r>
          </a:p>
          <a:p>
            <a:r>
              <a:rPr lang="en-US" b="1" dirty="0" smtClean="0"/>
              <a:t>c. Provincial Autonomy</a:t>
            </a:r>
          </a:p>
          <a:p>
            <a:r>
              <a:rPr lang="en-US" b="1" dirty="0" smtClean="0"/>
              <a:t>d. Minority rights</a:t>
            </a:r>
            <a:endParaRPr lang="en-US" b="1" dirty="0"/>
          </a:p>
        </p:txBody>
      </p:sp>
    </p:spTree>
    <p:extLst>
      <p:ext uri="{BB962C8B-B14F-4D97-AF65-F5344CB8AC3E}">
        <p14:creationId xmlns:p14="http://schemas.microsoft.com/office/powerpoint/2010/main" val="3811920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228600" lvl="0" indent="-228600" algn="ctr">
              <a:spcBef>
                <a:spcPts val="1000"/>
              </a:spcBef>
            </a:pPr>
            <a:r>
              <a:rPr lang="en-US" sz="5400" dirty="0" smtClean="0">
                <a:solidFill>
                  <a:prstClr val="black"/>
                </a:solidFill>
                <a:effectLst>
                  <a:outerShdw blurRad="38100" dist="38100" dir="2700000" algn="tl">
                    <a:srgbClr val="000000">
                      <a:alpha val="43137"/>
                    </a:srgbClr>
                  </a:outerShdw>
                </a:effectLst>
                <a:latin typeface="Calibri" panose="020F0502020204030204"/>
              </a:rPr>
              <a:t>A</a:t>
            </a:r>
            <a:r>
              <a:rPr lang="en-US" sz="5400" b="1" dirty="0" smtClean="0">
                <a:solidFill>
                  <a:prstClr val="black"/>
                </a:solidFill>
                <a:effectLst>
                  <a:outerShdw blurRad="38100" dist="38100" dir="2700000" algn="tl">
                    <a:srgbClr val="000000">
                      <a:alpha val="43137"/>
                    </a:srgbClr>
                  </a:outerShdw>
                </a:effectLst>
                <a:latin typeface="Calibri" panose="020F0502020204030204"/>
              </a:rPr>
              <a:t>. ELECTORAL REFORMS</a:t>
            </a:r>
            <a:br>
              <a:rPr lang="en-US" sz="5400" b="1" dirty="0" smtClean="0">
                <a:solidFill>
                  <a:prstClr val="black"/>
                </a:solidFill>
                <a:effectLst>
                  <a:outerShdw blurRad="38100" dist="38100" dir="2700000" algn="tl">
                    <a:srgbClr val="000000">
                      <a:alpha val="43137"/>
                    </a:srgbClr>
                  </a:outerShdw>
                </a:effectLst>
                <a:latin typeface="Calibri" panose="020F0502020204030204"/>
              </a:rPr>
            </a:br>
            <a:endParaRPr lang="en-US" sz="54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
            <a:r>
              <a:rPr lang="en-US" sz="3600" dirty="0" smtClean="0"/>
              <a:t>Significant electoral reforms already in place </a:t>
            </a:r>
          </a:p>
          <a:p>
            <a:pPr algn="just"/>
            <a:r>
              <a:rPr lang="en-US" sz="3600" dirty="0" smtClean="0"/>
              <a:t>Reforms are an ongoing process</a:t>
            </a:r>
          </a:p>
          <a:p>
            <a:pPr algn="just"/>
            <a:r>
              <a:rPr lang="en-US" sz="3600" dirty="0" smtClean="0"/>
              <a:t>Reforms themselves would not guarantee good results; implementation and enforcement is important</a:t>
            </a:r>
          </a:p>
          <a:p>
            <a:pPr algn="just"/>
            <a:r>
              <a:rPr lang="en-US" sz="3600" dirty="0" smtClean="0"/>
              <a:t>For the implementation of electoral reforms continuity of democratic order is of great importance</a:t>
            </a:r>
            <a:endParaRPr lang="en-US" sz="3600" dirty="0"/>
          </a:p>
        </p:txBody>
      </p:sp>
    </p:spTree>
    <p:extLst>
      <p:ext uri="{BB962C8B-B14F-4D97-AF65-F5344CB8AC3E}">
        <p14:creationId xmlns:p14="http://schemas.microsoft.com/office/powerpoint/2010/main" val="2904489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rPr>
              <a:t>SOME SIGNIFICANT ELECTORAL REFORMS DURING MUSHARRAF REGIME (1999-2009)</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
            <a:endParaRPr lang="en-US" sz="3600" dirty="0" smtClean="0"/>
          </a:p>
          <a:p>
            <a:pPr algn="just"/>
            <a:r>
              <a:rPr lang="en-US" sz="3600" dirty="0" smtClean="0"/>
              <a:t>Reduced voting age to 18 Years</a:t>
            </a:r>
          </a:p>
          <a:p>
            <a:pPr algn="just"/>
            <a:r>
              <a:rPr lang="en-US" sz="3600" dirty="0"/>
              <a:t>I</a:t>
            </a:r>
            <a:r>
              <a:rPr lang="en-US" sz="3600" dirty="0" smtClean="0"/>
              <a:t>ncreased number of seats in legislatures</a:t>
            </a:r>
          </a:p>
          <a:p>
            <a:pPr algn="just"/>
            <a:r>
              <a:rPr lang="en-US" sz="3600" dirty="0" smtClean="0"/>
              <a:t>Increased Women’s Reserved Seats</a:t>
            </a:r>
          </a:p>
          <a:p>
            <a:pPr algn="just"/>
            <a:r>
              <a:rPr lang="en-US" sz="3600" dirty="0" smtClean="0"/>
              <a:t>Introduced University Degree as a</a:t>
            </a:r>
          </a:p>
          <a:p>
            <a:pPr algn="just"/>
            <a:r>
              <a:rPr lang="en-US" sz="3600" dirty="0" smtClean="0"/>
              <a:t>Candidate’s Qualification </a:t>
            </a:r>
            <a:endParaRPr lang="en-US" sz="3600" dirty="0"/>
          </a:p>
        </p:txBody>
      </p:sp>
    </p:spTree>
    <p:extLst>
      <p:ext uri="{BB962C8B-B14F-4D97-AF65-F5344CB8AC3E}">
        <p14:creationId xmlns:p14="http://schemas.microsoft.com/office/powerpoint/2010/main" val="2064634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rPr>
              <a:t>KEY ELECTORAL REFORMS DURING PPPP GOVERNMENT (2008-2013)</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
            <a:r>
              <a:rPr lang="en-US" sz="3600" dirty="0" smtClean="0"/>
              <a:t>A full time Election Commission</a:t>
            </a:r>
          </a:p>
          <a:p>
            <a:pPr algn="just"/>
            <a:r>
              <a:rPr lang="en-US" sz="3600" dirty="0" smtClean="0"/>
              <a:t>Bi-partisan appointment of CEC &amp; Members</a:t>
            </a:r>
          </a:p>
          <a:p>
            <a:pPr algn="just"/>
            <a:r>
              <a:rPr lang="en-US" sz="3600" dirty="0" smtClean="0"/>
              <a:t>Bi-partisan appointment of Caretaker </a:t>
            </a:r>
            <a:r>
              <a:rPr lang="en-US" sz="3600" dirty="0" err="1" smtClean="0"/>
              <a:t>Govts</a:t>
            </a:r>
            <a:r>
              <a:rPr lang="en-US" sz="3600" dirty="0" smtClean="0"/>
              <a:t>.</a:t>
            </a:r>
          </a:p>
          <a:p>
            <a:pPr algn="just"/>
            <a:r>
              <a:rPr lang="en-US" sz="3600" dirty="0" smtClean="0"/>
              <a:t>CNIC must for vote registration &amp; casting </a:t>
            </a:r>
          </a:p>
          <a:p>
            <a:pPr algn="just"/>
            <a:r>
              <a:rPr lang="en-US" sz="3600" dirty="0" err="1" smtClean="0"/>
              <a:t>Computerised</a:t>
            </a:r>
            <a:r>
              <a:rPr lang="en-US" sz="3600" dirty="0" smtClean="0"/>
              <a:t> Electoral Rolls</a:t>
            </a:r>
          </a:p>
          <a:p>
            <a:pPr algn="just"/>
            <a:r>
              <a:rPr lang="en-US" sz="3600" dirty="0" smtClean="0"/>
              <a:t>Full-time, Dedicated Election Tribunals</a:t>
            </a:r>
            <a:endParaRPr lang="en-US" sz="3600" dirty="0"/>
          </a:p>
        </p:txBody>
      </p:sp>
    </p:spTree>
    <p:extLst>
      <p:ext uri="{BB962C8B-B14F-4D97-AF65-F5344CB8AC3E}">
        <p14:creationId xmlns:p14="http://schemas.microsoft.com/office/powerpoint/2010/main" val="3725340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rPr>
              <a:t>Why Electoral Reforms NOW?</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Low"/>
            <a:r>
              <a:rPr lang="en-US" sz="4000" dirty="0" smtClean="0"/>
              <a:t>Continuing low Public Trust in Electoral Process will Discredit Democracy</a:t>
            </a:r>
          </a:p>
          <a:p>
            <a:pPr algn="justLow"/>
            <a:r>
              <a:rPr lang="en-US" sz="4000" dirty="0" smtClean="0"/>
              <a:t>Experiences of 2013 Election still Fresh</a:t>
            </a:r>
          </a:p>
          <a:p>
            <a:pPr algn="justLow"/>
            <a:r>
              <a:rPr lang="en-US" sz="4000" dirty="0" smtClean="0"/>
              <a:t>Consensus on Electoral Reforms becomes difficult closer to next election </a:t>
            </a:r>
          </a:p>
          <a:p>
            <a:pPr algn="just"/>
            <a:endParaRPr lang="en-US" sz="4000" dirty="0"/>
          </a:p>
        </p:txBody>
      </p:sp>
    </p:spTree>
    <p:extLst>
      <p:ext uri="{BB962C8B-B14F-4D97-AF65-F5344CB8AC3E}">
        <p14:creationId xmlns:p14="http://schemas.microsoft.com/office/powerpoint/2010/main" val="2199213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smtClean="0">
                <a:effectLst>
                  <a:outerShdw blurRad="38100" dist="38100" dir="2700000" algn="tl">
                    <a:srgbClr val="000000">
                      <a:alpha val="43137"/>
                    </a:srgbClr>
                  </a:outerShdw>
                </a:effectLst>
              </a:rPr>
              <a:t>PROPOSALS</a:t>
            </a:r>
            <a:endParaRPr lang="en-US" sz="4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Qualifications of EC Members &amp; CEC in the constitution be amended; CEC &amp; Members may not necessarily be from Judiciary </a:t>
            </a:r>
            <a:endParaRPr lang="en-US" b="1" dirty="0"/>
          </a:p>
          <a:p>
            <a:r>
              <a:rPr lang="en-US" b="1" dirty="0" smtClean="0"/>
              <a:t>Retired Judges Should Not Be Appointed in EC directly after Retirement</a:t>
            </a:r>
          </a:p>
          <a:p>
            <a:r>
              <a:rPr lang="en-US" b="1" dirty="0" smtClean="0"/>
              <a:t>Biometric verification of voter before voting </a:t>
            </a:r>
          </a:p>
          <a:p>
            <a:r>
              <a:rPr lang="en-US" b="1" dirty="0" smtClean="0"/>
              <a:t>Electronic Voting Machine </a:t>
            </a:r>
            <a:endParaRPr lang="en-US" b="1" dirty="0"/>
          </a:p>
          <a:p>
            <a:r>
              <a:rPr lang="en-US" b="1" dirty="0" smtClean="0"/>
              <a:t>Law to limit &amp; Regulate Election Spending by Political Parties</a:t>
            </a:r>
            <a:endParaRPr lang="en-US" b="1" dirty="0"/>
          </a:p>
        </p:txBody>
      </p:sp>
    </p:spTree>
    <p:extLst>
      <p:ext uri="{BB962C8B-B14F-4D97-AF65-F5344CB8AC3E}">
        <p14:creationId xmlns:p14="http://schemas.microsoft.com/office/powerpoint/2010/main" val="2668932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smtClean="0"/>
              <a:t>ECP should strengthen system of constituency monitors </a:t>
            </a:r>
            <a:endParaRPr lang="en-US" b="1" dirty="0"/>
          </a:p>
          <a:p>
            <a:r>
              <a:rPr lang="en-US" b="1" dirty="0" smtClean="0"/>
              <a:t>Law and Mechanism to Control outgoing Government’s Influence in Elections; (</a:t>
            </a:r>
            <a:r>
              <a:rPr lang="en-US" b="1" dirty="0" err="1" smtClean="0"/>
              <a:t>e.g</a:t>
            </a:r>
            <a:r>
              <a:rPr lang="en-US" b="1" dirty="0" smtClean="0"/>
              <a:t> </a:t>
            </a:r>
            <a:r>
              <a:rPr lang="en-US" b="1" dirty="0" err="1" smtClean="0"/>
              <a:t>Dev</a:t>
            </a:r>
            <a:r>
              <a:rPr lang="en-US" b="1" dirty="0" smtClean="0"/>
              <a:t> Funds, Advance Payment to TV Channels) </a:t>
            </a:r>
            <a:endParaRPr lang="en-US" b="1" dirty="0"/>
          </a:p>
          <a:p>
            <a:r>
              <a:rPr lang="en-US" b="1" dirty="0" smtClean="0"/>
              <a:t>ECP Should Exercise Control, Superintendence and Discipline on Election Staff seconded to it </a:t>
            </a:r>
          </a:p>
          <a:p>
            <a:r>
              <a:rPr lang="en-US" b="1" dirty="0" smtClean="0"/>
              <a:t>Increase the number of Polling Stations &amp; make them Permanent </a:t>
            </a:r>
          </a:p>
          <a:p>
            <a:pPr marL="0" indent="0">
              <a:buNone/>
            </a:pPr>
            <a:r>
              <a:rPr lang="en-US" b="1" dirty="0" smtClean="0"/>
              <a:t>• Post polling-station wise statement of count on ECP website as soon as received </a:t>
            </a:r>
          </a:p>
          <a:p>
            <a:pPr marL="0" indent="0">
              <a:buNone/>
            </a:pPr>
            <a:r>
              <a:rPr lang="en-US" b="1" dirty="0" smtClean="0"/>
              <a:t>• Strict Compliance of Electoral Code of Conduct and giving it a legal cover </a:t>
            </a:r>
            <a:endParaRPr lang="en-US" b="1" dirty="0"/>
          </a:p>
        </p:txBody>
      </p:sp>
    </p:spTree>
    <p:extLst>
      <p:ext uri="{BB962C8B-B14F-4D97-AF65-F5344CB8AC3E}">
        <p14:creationId xmlns:p14="http://schemas.microsoft.com/office/powerpoint/2010/main" val="45665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Mechanism be devised for Voting by Overseas Pakistanis; Are we ready for massive postal balloting? </a:t>
            </a:r>
            <a:endParaRPr lang="en-US" b="1" dirty="0"/>
          </a:p>
          <a:p>
            <a:r>
              <a:rPr lang="en-US" b="1" dirty="0" smtClean="0"/>
              <a:t>Extend the period of scrutiny of candidates nomination papers </a:t>
            </a:r>
            <a:endParaRPr lang="en-US" b="1" dirty="0"/>
          </a:p>
          <a:p>
            <a:r>
              <a:rPr lang="en-US" b="1" dirty="0" smtClean="0"/>
              <a:t>Improve the enforceability of Articles 62 and 63 of the Constitution</a:t>
            </a:r>
          </a:p>
          <a:p>
            <a:r>
              <a:rPr lang="en-US" b="1" dirty="0" smtClean="0"/>
              <a:t> Proportional Representation System </a:t>
            </a:r>
            <a:endParaRPr lang="en-US" b="1" dirty="0"/>
          </a:p>
          <a:p>
            <a:r>
              <a:rPr lang="en-US" b="1" dirty="0" smtClean="0"/>
              <a:t>System to elect women on quota needs improvement</a:t>
            </a:r>
            <a:endParaRPr lang="en-US" b="1" dirty="0"/>
          </a:p>
        </p:txBody>
      </p:sp>
    </p:spTree>
    <p:extLst>
      <p:ext uri="{BB962C8B-B14F-4D97-AF65-F5344CB8AC3E}">
        <p14:creationId xmlns:p14="http://schemas.microsoft.com/office/powerpoint/2010/main" val="3097600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228600" lvl="0" indent="-228600" algn="ctr">
              <a:spcBef>
                <a:spcPts val="1000"/>
              </a:spcBef>
            </a:pPr>
            <a:r>
              <a:rPr lang="en-US" sz="4800" b="1" dirty="0" smtClean="0">
                <a:solidFill>
                  <a:prstClr val="black"/>
                </a:solidFill>
                <a:effectLst>
                  <a:outerShdw blurRad="38100" dist="38100" dir="2700000" algn="tl">
                    <a:srgbClr val="000000">
                      <a:alpha val="43137"/>
                    </a:srgbClr>
                  </a:outerShdw>
                </a:effectLst>
                <a:latin typeface="Calibri" panose="020F0502020204030204"/>
              </a:rPr>
              <a:t>B. JUDICIAL REFORMS</a:t>
            </a:r>
            <a:endParaRPr lang="en-US" sz="4800" b="1" dirty="0">
              <a:solidFill>
                <a:prstClr val="black"/>
              </a:solidFill>
              <a:effectLst>
                <a:outerShdw blurRad="38100" dist="38100" dir="2700000" algn="tl">
                  <a:srgbClr val="000000">
                    <a:alpha val="43137"/>
                  </a:srgbClr>
                </a:outerShdw>
              </a:effectLst>
              <a:latin typeface="Calibri" panose="020F0502020204030204"/>
            </a:endParaRPr>
          </a:p>
        </p:txBody>
      </p:sp>
      <p:sp>
        <p:nvSpPr>
          <p:cNvPr id="3" name="Content Placeholder 2"/>
          <p:cNvSpPr>
            <a:spLocks noGrp="1"/>
          </p:cNvSpPr>
          <p:nvPr>
            <p:ph idx="1"/>
          </p:nvPr>
        </p:nvSpPr>
        <p:spPr/>
        <p:txBody>
          <a:bodyPr/>
          <a:lstStyle/>
          <a:p>
            <a:pPr algn="just"/>
            <a:r>
              <a:rPr lang="en-US" dirty="0" smtClean="0"/>
              <a:t>Judiciary in Pakistan is no doubt facing multiple challenges from different fronts.</a:t>
            </a:r>
          </a:p>
          <a:p>
            <a:pPr algn="just"/>
            <a:r>
              <a:rPr lang="en-US" dirty="0"/>
              <a:t> </a:t>
            </a:r>
            <a:r>
              <a:rPr lang="en-US" dirty="0" smtClean="0"/>
              <a:t>The past of judiciary in Pakistan is full of such decisions which rightfully brings credibility of institution under question.</a:t>
            </a:r>
          </a:p>
          <a:p>
            <a:pPr algn="just"/>
            <a:r>
              <a:rPr lang="en-US" dirty="0" smtClean="0"/>
              <a:t>Besides this, it is no hidden fact that it has become very difficult for an ordinary person to receive justice in Pakistan due to administrative delays.</a:t>
            </a:r>
          </a:p>
          <a:p>
            <a:pPr algn="just"/>
            <a:r>
              <a:rPr lang="en-US" dirty="0" smtClean="0"/>
              <a:t>All such scenarios demands an urgent remedies in the institution.</a:t>
            </a:r>
            <a:endParaRPr lang="en-US" dirty="0"/>
          </a:p>
        </p:txBody>
      </p:sp>
    </p:spTree>
    <p:extLst>
      <p:ext uri="{BB962C8B-B14F-4D97-AF65-F5344CB8AC3E}">
        <p14:creationId xmlns:p14="http://schemas.microsoft.com/office/powerpoint/2010/main" val="1845891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rPr>
              <a:t>REMEDIES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pPr algn="justLow"/>
            <a:r>
              <a:rPr lang="en-US" dirty="0"/>
              <a:t>Discourage frivolous litigation by imposing court costs and levying hefty charges on those seeking frequent adjournments, while </a:t>
            </a:r>
            <a:r>
              <a:rPr lang="en-US" dirty="0" err="1"/>
              <a:t>recognising</a:t>
            </a:r>
            <a:r>
              <a:rPr lang="en-US" dirty="0"/>
              <a:t>, as argued above, that government systems and </a:t>
            </a:r>
            <a:r>
              <a:rPr lang="en-US" dirty="0" err="1"/>
              <a:t>behaviour</a:t>
            </a:r>
            <a:r>
              <a:rPr lang="en-US" dirty="0"/>
              <a:t> of its functionaries also need to </a:t>
            </a:r>
            <a:r>
              <a:rPr lang="en-US" dirty="0" smtClean="0"/>
              <a:t>change.</a:t>
            </a:r>
          </a:p>
          <a:p>
            <a:pPr algn="justLow"/>
            <a:endParaRPr lang="en-US" dirty="0" smtClean="0"/>
          </a:p>
          <a:p>
            <a:pPr algn="justLow"/>
            <a:r>
              <a:rPr lang="en-US" dirty="0"/>
              <a:t>Judges should encourage written arguments and limit the time for oral arguments. </a:t>
            </a:r>
            <a:endParaRPr lang="en-US" dirty="0" smtClean="0"/>
          </a:p>
          <a:p>
            <a:pPr algn="justLow"/>
            <a:r>
              <a:rPr lang="en-US" dirty="0" smtClean="0"/>
              <a:t>A </a:t>
            </a:r>
            <a:r>
              <a:rPr lang="en-US" dirty="0"/>
              <a:t>transcription of all court proceedings beginning from the SCP and working its way down to High Courts and beyond with copies should be made available to parties as a routine matter. This will prevent judges from wasting time by flippant remarks and counsel will become more precise when whatever they say becomes a matter of record.</a:t>
            </a:r>
          </a:p>
          <a:p>
            <a:pPr algn="justLow"/>
            <a:endParaRPr lang="en-US" dirty="0"/>
          </a:p>
        </p:txBody>
      </p:sp>
    </p:spTree>
    <p:extLst>
      <p:ext uri="{BB962C8B-B14F-4D97-AF65-F5344CB8AC3E}">
        <p14:creationId xmlns:p14="http://schemas.microsoft.com/office/powerpoint/2010/main" val="228826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Small Causes Courts should be settling minor disputes through summary procedure, while family courts and court-annexed Alternative Dispute Resolution should be strengthened (which, admittedly, would work only if litigation is made expensive) and civil, criminal and commercial cases assigned to different courts based on relevant expertise and experience of the judge – with arbitration being encouraged for commercial cases, saving court time on matters of routine awards.</a:t>
            </a:r>
          </a:p>
          <a:p>
            <a:endParaRPr lang="en-US" dirty="0"/>
          </a:p>
        </p:txBody>
      </p:sp>
    </p:spTree>
    <p:extLst>
      <p:ext uri="{BB962C8B-B14F-4D97-AF65-F5344CB8AC3E}">
        <p14:creationId xmlns:p14="http://schemas.microsoft.com/office/powerpoint/2010/main" val="1014593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There should be an </a:t>
            </a:r>
            <a:r>
              <a:rPr lang="en-US" dirty="0" err="1"/>
              <a:t>institutionalisation</a:t>
            </a:r>
            <a:r>
              <a:rPr lang="en-US" dirty="0"/>
              <a:t> of regular inspections, performance monitoring and investigation of complaints against subordinate courts by higher courts and publishing these in annual reports. </a:t>
            </a:r>
            <a:endParaRPr lang="en-US" dirty="0" smtClean="0"/>
          </a:p>
          <a:p>
            <a:pPr algn="just"/>
            <a:r>
              <a:rPr lang="en-US" dirty="0" smtClean="0"/>
              <a:t>But </a:t>
            </a:r>
            <a:r>
              <a:rPr lang="en-US" dirty="0"/>
              <a:t>then the apex court is today controlling appointments, regulation and discipline (all rolled into one) and is not prepared to tolerate a role for anyone else -suggesting the need for a judicial ombudsman.</a:t>
            </a:r>
          </a:p>
          <a:p>
            <a:endParaRPr lang="en-US" dirty="0"/>
          </a:p>
        </p:txBody>
      </p:sp>
    </p:spTree>
    <p:extLst>
      <p:ext uri="{BB962C8B-B14F-4D97-AF65-F5344CB8AC3E}">
        <p14:creationId xmlns:p14="http://schemas.microsoft.com/office/powerpoint/2010/main" val="1943196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3046"/>
            <a:ext cx="10515600" cy="5543917"/>
          </a:xfrm>
        </p:spPr>
        <p:txBody>
          <a:bodyPr>
            <a:normAutofit/>
          </a:bodyPr>
          <a:lstStyle/>
          <a:p>
            <a:pPr algn="just"/>
            <a:r>
              <a:rPr lang="en-US" dirty="0"/>
              <a:t>Contempt of court laws and the offence of </a:t>
            </a:r>
            <a:r>
              <a:rPr lang="en-US" dirty="0" err="1"/>
              <a:t>scandalising</a:t>
            </a:r>
            <a:r>
              <a:rPr lang="en-US" dirty="0"/>
              <a:t>/maligning a judge requires review, since the prevailing concept is archaic, stifling free speech and criticism of court processes</a:t>
            </a:r>
            <a:r>
              <a:rPr lang="en-US" dirty="0" smtClean="0"/>
              <a:t>.</a:t>
            </a:r>
          </a:p>
          <a:p>
            <a:pPr algn="just"/>
            <a:r>
              <a:rPr lang="en-US" dirty="0" smtClean="0"/>
              <a:t> </a:t>
            </a:r>
            <a:r>
              <a:rPr lang="en-US" dirty="0"/>
              <a:t>At a personal level judges have no right to a higher level of protection than any other citizen through defamation laws</a:t>
            </a:r>
            <a:r>
              <a:rPr lang="en-US" dirty="0" smtClean="0"/>
              <a:t>.</a:t>
            </a:r>
          </a:p>
          <a:p>
            <a:pPr algn="just"/>
            <a:r>
              <a:rPr lang="en-US" dirty="0"/>
              <a:t>In our case, the ‘superior judiciary’ is far more thin-skinned and uses the contempt laws to protect its image; a vestige of our colonial heritage, under which, when dealing with ‘far away colonies with </a:t>
            </a:r>
            <a:r>
              <a:rPr lang="en-US" dirty="0" err="1"/>
              <a:t>coloured</a:t>
            </a:r>
            <a:r>
              <a:rPr lang="en-US" dirty="0"/>
              <a:t> people’, it was necessary to maintain the majesty of law. </a:t>
            </a:r>
            <a:endParaRPr lang="en-US" dirty="0" smtClean="0"/>
          </a:p>
          <a:p>
            <a:pPr algn="just"/>
            <a:r>
              <a:rPr lang="en-US" dirty="0" smtClean="0"/>
              <a:t>However</a:t>
            </a:r>
            <a:r>
              <a:rPr lang="en-US" dirty="0"/>
              <a:t>, it is now time that the </a:t>
            </a:r>
            <a:r>
              <a:rPr lang="en-US" dirty="0" err="1"/>
              <a:t>coloured</a:t>
            </a:r>
            <a:r>
              <a:rPr lang="en-US" dirty="0"/>
              <a:t> people are treated as citizens of a sovereign state instead of subjects of far away colonies.</a:t>
            </a:r>
          </a:p>
        </p:txBody>
      </p:sp>
    </p:spTree>
    <p:extLst>
      <p:ext uri="{BB962C8B-B14F-4D97-AF65-F5344CB8AC3E}">
        <p14:creationId xmlns:p14="http://schemas.microsoft.com/office/powerpoint/2010/main" val="2857034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Finally, the current system </a:t>
            </a:r>
            <a:r>
              <a:rPr lang="en-US" dirty="0" err="1"/>
              <a:t>favours</a:t>
            </a:r>
            <a:r>
              <a:rPr lang="en-US" dirty="0"/>
              <a:t> lawyers and </a:t>
            </a:r>
            <a:r>
              <a:rPr lang="en-US" dirty="0" err="1"/>
              <a:t>lionises</a:t>
            </a:r>
            <a:r>
              <a:rPr lang="en-US" dirty="0"/>
              <a:t> judges, inducing protracted litigation with limited benefit to the ordinary public; political cases taking precedence over ordinary civil and criminal cases. </a:t>
            </a:r>
            <a:endParaRPr lang="en-US" dirty="0" smtClean="0"/>
          </a:p>
          <a:p>
            <a:pPr algn="just"/>
            <a:r>
              <a:rPr lang="en-US" dirty="0" smtClean="0"/>
              <a:t>And </a:t>
            </a:r>
            <a:r>
              <a:rPr lang="en-US" dirty="0"/>
              <a:t>without the necessary corrective actions it will be difficult to elicit wider support for additional resources.</a:t>
            </a:r>
          </a:p>
        </p:txBody>
      </p:sp>
    </p:spTree>
    <p:extLst>
      <p:ext uri="{BB962C8B-B14F-4D97-AF65-F5344CB8AC3E}">
        <p14:creationId xmlns:p14="http://schemas.microsoft.com/office/powerpoint/2010/main" val="967902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228600" lvl="0" indent="-228600" algn="ctr">
              <a:spcBef>
                <a:spcPts val="1000"/>
              </a:spcBef>
            </a:pPr>
            <a:r>
              <a:rPr lang="en-US" sz="2800" b="1" dirty="0" smtClean="0">
                <a:solidFill>
                  <a:prstClr val="black"/>
                </a:solidFill>
                <a:latin typeface="Calibri" panose="020F0502020204030204"/>
              </a:rPr>
              <a:t>C. PROVINCIAL AUTONOMY</a:t>
            </a:r>
            <a:br>
              <a:rPr lang="en-US" sz="2800" b="1" dirty="0" smtClean="0">
                <a:solidFill>
                  <a:prstClr val="black"/>
                </a:solidFill>
                <a:latin typeface="Calibri" panose="020F0502020204030204"/>
              </a:rPr>
            </a:br>
            <a:endParaRPr lang="en-US" dirty="0"/>
          </a:p>
        </p:txBody>
      </p:sp>
      <p:sp>
        <p:nvSpPr>
          <p:cNvPr id="3" name="Content Placeholder 2"/>
          <p:cNvSpPr>
            <a:spLocks noGrp="1"/>
          </p:cNvSpPr>
          <p:nvPr>
            <p:ph idx="1"/>
          </p:nvPr>
        </p:nvSpPr>
        <p:spPr/>
        <p:txBody>
          <a:bodyPr/>
          <a:lstStyle/>
          <a:p>
            <a:pPr algn="just"/>
            <a:endParaRPr lang="en-US" dirty="0" smtClean="0"/>
          </a:p>
          <a:p>
            <a:pPr algn="just"/>
            <a:endParaRPr lang="en-US" dirty="0"/>
          </a:p>
          <a:p>
            <a:pPr algn="just"/>
            <a:r>
              <a:rPr lang="en-US" dirty="0" smtClean="0"/>
              <a:t>The </a:t>
            </a:r>
            <a:r>
              <a:rPr lang="en-US" dirty="0"/>
              <a:t>1973 constitution was introduced under </a:t>
            </a:r>
            <a:r>
              <a:rPr lang="en-US" dirty="0" err="1"/>
              <a:t>Zulfiqar</a:t>
            </a:r>
            <a:r>
              <a:rPr lang="en-US" dirty="0"/>
              <a:t> Ali Bhutto’s presidency, somehow, a much better model of federalism was observed. It had many significant features that were later enhanced by amendments</a:t>
            </a:r>
            <a:r>
              <a:rPr lang="en-US" dirty="0" smtClean="0"/>
              <a:t>.</a:t>
            </a:r>
          </a:p>
          <a:p>
            <a:pPr algn="just"/>
            <a:endParaRPr lang="en-US" dirty="0"/>
          </a:p>
        </p:txBody>
      </p:sp>
    </p:spTree>
    <p:extLst>
      <p:ext uri="{BB962C8B-B14F-4D97-AF65-F5344CB8AC3E}">
        <p14:creationId xmlns:p14="http://schemas.microsoft.com/office/powerpoint/2010/main" val="176977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effectLst>
                  <a:outerShdw blurRad="38100" dist="38100" dir="2700000" algn="tl">
                    <a:srgbClr val="000000">
                      <a:alpha val="43137"/>
                    </a:srgbClr>
                  </a:outerShdw>
                </a:effectLst>
              </a:rPr>
              <a:t>THE 18</a:t>
            </a:r>
            <a:r>
              <a:rPr lang="en-US" b="1" baseline="30000" dirty="0" smtClean="0">
                <a:effectLst>
                  <a:outerShdw blurRad="38100" dist="38100" dir="2700000" algn="tl">
                    <a:srgbClr val="000000">
                      <a:alpha val="43137"/>
                    </a:srgbClr>
                  </a:outerShdw>
                </a:effectLst>
              </a:rPr>
              <a:t>TH</a:t>
            </a:r>
            <a:r>
              <a:rPr lang="en-US" b="1" dirty="0" smtClean="0">
                <a:effectLst>
                  <a:outerShdw blurRad="38100" dist="38100" dir="2700000" algn="tl">
                    <a:srgbClr val="000000">
                      <a:alpha val="43137"/>
                    </a:srgbClr>
                  </a:outerShdw>
                </a:effectLst>
              </a:rPr>
              <a:t> AMENDMENT TO THE CONSTITUTION</a:t>
            </a:r>
            <a:br>
              <a:rPr lang="en-US" b="1"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lgn="just"/>
            <a:endParaRPr lang="en-US" dirty="0" smtClean="0"/>
          </a:p>
          <a:p>
            <a:pPr algn="just"/>
            <a:endParaRPr lang="en-US" dirty="0"/>
          </a:p>
          <a:p>
            <a:pPr algn="just"/>
            <a:r>
              <a:rPr lang="en-US" dirty="0" smtClean="0"/>
              <a:t>This amendment contains some very strikingly significant features.</a:t>
            </a:r>
          </a:p>
          <a:p>
            <a:pPr algn="just"/>
            <a:r>
              <a:rPr lang="en-US" dirty="0" smtClean="0"/>
              <a:t> It aimed to restore parliamentary sovereignty by transferring powers from the president to the prime minister, </a:t>
            </a:r>
            <a:r>
              <a:rPr lang="en-US" b="1" dirty="0" smtClean="0"/>
              <a:t>decentralizing the federal system, improving the relationship between the center and provinces, and resolving inter-provincial issues.</a:t>
            </a:r>
            <a:endParaRPr lang="en-US" b="1" dirty="0"/>
          </a:p>
        </p:txBody>
      </p:sp>
    </p:spTree>
    <p:extLst>
      <p:ext uri="{BB962C8B-B14F-4D97-AF65-F5344CB8AC3E}">
        <p14:creationId xmlns:p14="http://schemas.microsoft.com/office/powerpoint/2010/main" val="3768309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smtClean="0">
                <a:effectLst>
                  <a:outerShdw blurRad="38100" dist="38100" dir="2700000" algn="tl">
                    <a:srgbClr val="000000">
                      <a:alpha val="43137"/>
                    </a:srgbClr>
                  </a:outerShdw>
                </a:effectLst>
              </a:rPr>
              <a:t>ADMINISTRATIVE RELATIONS BETWEEN CENTRE AND PROVINCES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lgn="just"/>
            <a:r>
              <a:rPr lang="en-US" b="0" i="0" dirty="0" smtClean="0">
                <a:solidFill>
                  <a:srgbClr val="3A3A3A"/>
                </a:solidFill>
                <a:effectLst/>
                <a:latin typeface="Arial" panose="020B0604020202020204" pitchFamily="34" charset="0"/>
              </a:rPr>
              <a:t>The 18th amendment revised Article 144 of the constitution and provincial assemblies were granted the right to repeal or amend any legislation crafted by the Parliament for one or more provinces, on matters not mentioned in the Federal Legislative List.</a:t>
            </a:r>
          </a:p>
          <a:p>
            <a:pPr algn="just"/>
            <a:r>
              <a:rPr lang="en-US" b="0" i="0" dirty="0" smtClean="0">
                <a:solidFill>
                  <a:srgbClr val="3A3A3A"/>
                </a:solidFill>
                <a:effectLst/>
                <a:latin typeface="Arial" panose="020B0604020202020204" pitchFamily="34" charset="0"/>
              </a:rPr>
              <a:t>Article 160 (A) placed a bar on the reduction in provincial share in the National Financial Commission (NFC) award. </a:t>
            </a:r>
          </a:p>
          <a:p>
            <a:pPr algn="just"/>
            <a:r>
              <a:rPr lang="en-US" b="0" i="0" dirty="0" smtClean="0">
                <a:solidFill>
                  <a:srgbClr val="3A3A3A"/>
                </a:solidFill>
                <a:effectLst/>
                <a:latin typeface="Arial" panose="020B0604020202020204" pitchFamily="34" charset="0"/>
              </a:rPr>
              <a:t>The constitution states that the NFC is to be revised every five years and to periodically make recommendations to the president.</a:t>
            </a:r>
            <a:endParaRPr lang="en-US" dirty="0"/>
          </a:p>
        </p:txBody>
      </p:sp>
    </p:spTree>
    <p:extLst>
      <p:ext uri="{BB962C8B-B14F-4D97-AF65-F5344CB8AC3E}">
        <p14:creationId xmlns:p14="http://schemas.microsoft.com/office/powerpoint/2010/main" val="891557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Low"/>
            <a:r>
              <a:rPr lang="en-US" dirty="0" smtClean="0"/>
              <a:t>In the 2010 NFC award, the share of the provinces was increased to 57.5%. </a:t>
            </a:r>
          </a:p>
          <a:p>
            <a:pPr algn="justLow"/>
            <a:r>
              <a:rPr lang="en-US" dirty="0" smtClean="0"/>
              <a:t>The amendment of Article 160 (A) prevents the share of provinces from being reduced. </a:t>
            </a:r>
          </a:p>
          <a:p>
            <a:pPr algn="justLow"/>
            <a:r>
              <a:rPr lang="en-US" dirty="0" smtClean="0"/>
              <a:t>Therefore, the 18th Amendment made provinces relatively strong and ensured provincial autonomy in many matters. </a:t>
            </a:r>
          </a:p>
          <a:p>
            <a:pPr algn="justLow"/>
            <a:r>
              <a:rPr lang="en-US" dirty="0" smtClean="0"/>
              <a:t>The enhancement of the Council of Common Interests (CCI) resolved the remaining issues of federation-province relations.</a:t>
            </a:r>
            <a:endParaRPr lang="en-US" dirty="0"/>
          </a:p>
        </p:txBody>
      </p:sp>
    </p:spTree>
    <p:extLst>
      <p:ext uri="{BB962C8B-B14F-4D97-AF65-F5344CB8AC3E}">
        <p14:creationId xmlns:p14="http://schemas.microsoft.com/office/powerpoint/2010/main" val="1863804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Revision of Article 140 (A) ensured the devolution of authority and a step towards good governance.</a:t>
            </a:r>
          </a:p>
          <a:p>
            <a:pPr algn="just"/>
            <a:r>
              <a:rPr lang="en-US" dirty="0" smtClean="0"/>
              <a:t> Each province was asked to create a Local Government System. </a:t>
            </a:r>
          </a:p>
          <a:p>
            <a:pPr algn="just"/>
            <a:r>
              <a:rPr lang="en-US" dirty="0" smtClean="0"/>
              <a:t>The administrative, political, and financial responsibilities were then transferred to the elected representatives of the local governments.</a:t>
            </a:r>
          </a:p>
          <a:p>
            <a:pPr algn="just"/>
            <a:r>
              <a:rPr lang="en-US" dirty="0" smtClean="0"/>
              <a:t>The 18th Amendment also improved the National Economic Commission under the amended Article 156, which takes care of the economic policies of the provinces and the federal government. </a:t>
            </a:r>
            <a:endParaRPr lang="en-US" dirty="0"/>
          </a:p>
        </p:txBody>
      </p:sp>
    </p:spTree>
    <p:extLst>
      <p:ext uri="{BB962C8B-B14F-4D97-AF65-F5344CB8AC3E}">
        <p14:creationId xmlns:p14="http://schemas.microsoft.com/office/powerpoint/2010/main" val="3787478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endParaRPr lang="en-US" dirty="0" smtClean="0"/>
          </a:p>
          <a:p>
            <a:pPr algn="just"/>
            <a:endParaRPr lang="en-US" dirty="0"/>
          </a:p>
          <a:p>
            <a:pPr algn="just"/>
            <a:r>
              <a:rPr lang="en-US" dirty="0" smtClean="0"/>
              <a:t>Amendment of Article 172(3) ensured joint ownership of property, declaring equal sharing of gas, oil, and territorial waters between the center and the respective province. </a:t>
            </a:r>
          </a:p>
          <a:p>
            <a:pPr algn="just"/>
            <a:r>
              <a:rPr lang="en-US" dirty="0" smtClean="0"/>
              <a:t>Therefore, enhancing the economic conditions of the provinces.</a:t>
            </a:r>
            <a:endParaRPr lang="en-US" dirty="0"/>
          </a:p>
        </p:txBody>
      </p:sp>
    </p:spTree>
    <p:extLst>
      <p:ext uri="{BB962C8B-B14F-4D97-AF65-F5344CB8AC3E}">
        <p14:creationId xmlns:p14="http://schemas.microsoft.com/office/powerpoint/2010/main" val="2392997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5E1B92BA41E944B973FA5834FD04C8" ma:contentTypeVersion="7" ma:contentTypeDescription="Create a new document." ma:contentTypeScope="" ma:versionID="1b38b069734ef9489dcbb789a885aebb">
  <xsd:schema xmlns:xsd="http://www.w3.org/2001/XMLSchema" xmlns:xs="http://www.w3.org/2001/XMLSchema" xmlns:p="http://schemas.microsoft.com/office/2006/metadata/properties" xmlns:ns2="e564586d-5d80-455b-a1c7-db0629daa30a" targetNamespace="http://schemas.microsoft.com/office/2006/metadata/properties" ma:root="true" ma:fieldsID="87579b98c1197177159376d4e71f7b63" ns2:_="">
    <xsd:import namespace="e564586d-5d80-455b-a1c7-db0629daa3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4586d-5d80-455b-a1c7-db0629daa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28C13B-1164-4651-AEF2-B9A432DC4D5B}"/>
</file>

<file path=customXml/itemProps2.xml><?xml version="1.0" encoding="utf-8"?>
<ds:datastoreItem xmlns:ds="http://schemas.openxmlformats.org/officeDocument/2006/customXml" ds:itemID="{98C525CE-3506-421B-9258-01B844A5479B}"/>
</file>

<file path=customXml/itemProps3.xml><?xml version="1.0" encoding="utf-8"?>
<ds:datastoreItem xmlns:ds="http://schemas.openxmlformats.org/officeDocument/2006/customXml" ds:itemID="{4936D499-91F5-47B9-B292-081CCD423B68}"/>
</file>

<file path=docProps/app.xml><?xml version="1.0" encoding="utf-8"?>
<Properties xmlns="http://schemas.openxmlformats.org/officeDocument/2006/extended-properties" xmlns:vt="http://schemas.openxmlformats.org/officeDocument/2006/docPropsVTypes">
  <TotalTime>28</TotalTime>
  <Words>1243</Words>
  <Application>Microsoft Office PowerPoint</Application>
  <PresentationFormat>Widescreen</PresentationFormat>
  <Paragraphs>92</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TOPICS TO BE COVERED </vt:lpstr>
      <vt:lpstr>A. ELECTORAL REFORMS </vt:lpstr>
      <vt:lpstr>SOME SIGNIFICANT ELECTORAL REFORMS DURING MUSHARRAF REGIME (1999-2009)</vt:lpstr>
      <vt:lpstr>KEY ELECTORAL REFORMS DURING PPPP GOVERNMENT (2008-2013)</vt:lpstr>
      <vt:lpstr>Why Electoral Reforms NOW?</vt:lpstr>
      <vt:lpstr>PROPOSALS</vt:lpstr>
      <vt:lpstr>PowerPoint Presentation</vt:lpstr>
      <vt:lpstr>PowerPoint Presentation</vt:lpstr>
      <vt:lpstr>B. JUDICIAL REFORMS</vt:lpstr>
      <vt:lpstr>REMEDIES</vt:lpstr>
      <vt:lpstr>PowerPoint Presentation</vt:lpstr>
      <vt:lpstr>PowerPoint Presentation</vt:lpstr>
      <vt:lpstr>PowerPoint Presentation</vt:lpstr>
      <vt:lpstr>PowerPoint Presentation</vt:lpstr>
      <vt:lpstr>C. PROVINCIAL AUTONOMY </vt:lpstr>
      <vt:lpstr>THE 18TH AMENDMENT TO THE CONSTITUTION </vt:lpstr>
      <vt:lpstr>ADMINISTRATIVE RELATIONS BETWEEN CENTRE AND PROVINCES </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 Elitebook Revolve</dc:creator>
  <cp:lastModifiedBy>Hp Elitebook Revolve</cp:lastModifiedBy>
  <cp:revision>4</cp:revision>
  <dcterms:created xsi:type="dcterms:W3CDTF">2025-01-19T13:34:46Z</dcterms:created>
  <dcterms:modified xsi:type="dcterms:W3CDTF">2025-01-19T14:03:46Z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0x010100DD5E1B92BA41E944B973FA5834FD04C8</vt:lpwstr>
  </property>
</Properties>
</file>