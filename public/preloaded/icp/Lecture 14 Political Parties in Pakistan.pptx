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5.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75" r:id="rId3"/>
    <p:sldId id="276" r:id="rId4"/>
    <p:sldId id="277" r:id="rId5"/>
    <p:sldId id="278" r:id="rId6"/>
    <p:sldId id="279" r:id="rId7"/>
    <p:sldId id="280" r:id="rId8"/>
    <p:sldId id="281" r:id="rId9"/>
    <p:sldId id="260" r:id="rId10"/>
    <p:sldId id="268" r:id="rId11"/>
    <p:sldId id="269" r:id="rId12"/>
    <p:sldId id="272" r:id="rId13"/>
    <p:sldId id="261" r:id="rId14"/>
    <p:sldId id="262" r:id="rId15"/>
    <p:sldId id="263" r:id="rId16"/>
    <p:sldId id="273" r:id="rId17"/>
    <p:sldId id="264" r:id="rId18"/>
    <p:sldId id="265" r:id="rId19"/>
    <p:sldId id="271" r:id="rId20"/>
    <p:sldId id="27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A2AD0A-7B50-465D-A3F3-2529418DDFEB}" type="datetimeFigureOut">
              <a:rPr lang="en-US" smtClean="0"/>
              <a:t>5/31/2026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C10ED5-A0DD-4AB9-83F2-27FF170D86C2}" type="slidenum">
              <a:rPr lang="en-US" smtClean="0"/>
              <a:t>‹#›</a:t>
            </a:fld>
            <a:endParaRPr lang="en-US"/>
          </a:p>
        </p:txBody>
      </p:sp>
    </p:spTree>
    <p:extLst>
      <p:ext uri="{BB962C8B-B14F-4D97-AF65-F5344CB8AC3E}">
        <p14:creationId xmlns:p14="http://schemas.microsoft.com/office/powerpoint/2010/main" val="1814211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9525" y="-3175"/>
            <a:ext cx="9153525" cy="6861175"/>
          </a:xfrm>
          <a:prstGeom prst="rect">
            <a:avLst/>
          </a:prstGeom>
          <a:noFill/>
          <a:ln w="9525">
            <a:noFill/>
          </a:ln>
        </p:spPr>
      </p:pic>
      <p:sp>
        <p:nvSpPr>
          <p:cNvPr id="2051" name="Rectangle 3"/>
          <p:cNvSpPr>
            <a:spLocks noGrp="1" noChangeArrowheads="1"/>
          </p:cNvSpPr>
          <p:nvPr>
            <p:ph type="ctrTitle"/>
          </p:nvPr>
        </p:nvSpPr>
        <p:spPr>
          <a:xfrm>
            <a:off x="1547813" y="1125538"/>
            <a:ext cx="6908800" cy="1082675"/>
          </a:xfrm>
        </p:spPr>
        <p:txBody>
          <a:bodyPr/>
          <a:lstStyle>
            <a:lvl1pPr algn="r">
              <a:defRPr/>
            </a:lvl1pPr>
          </a:lstStyle>
          <a:p>
            <a:pPr lvl="0"/>
            <a:r>
              <a:rPr lang="en-US" altLang="zh-CN" noProof="0" smtClean="0"/>
              <a:t>Click to edit Master title style</a:t>
            </a:r>
          </a:p>
        </p:txBody>
      </p:sp>
      <p:sp>
        <p:nvSpPr>
          <p:cNvPr id="2052" name="Rectangle 4"/>
          <p:cNvSpPr>
            <a:spLocks noGrp="1" noChangeArrowheads="1"/>
          </p:cNvSpPr>
          <p:nvPr>
            <p:ph type="subTitle" idx="1"/>
          </p:nvPr>
        </p:nvSpPr>
        <p:spPr>
          <a:xfrm>
            <a:off x="1547813" y="2351088"/>
            <a:ext cx="6913562" cy="1752600"/>
          </a:xfrm>
        </p:spPr>
        <p:txBody>
          <a:bodyPr/>
          <a:lstStyle>
            <a:lvl1pPr marL="0" indent="0" algn="r">
              <a:buFontTx/>
              <a:buNone/>
              <a:defRPr>
                <a:solidFill>
                  <a:schemeClr val="bg1"/>
                </a:solidFill>
              </a:defRPr>
            </a:lvl1pPr>
          </a:lstStyle>
          <a:p>
            <a:pPr lvl="0"/>
            <a:r>
              <a:rPr lang="en-US" altLang="zh-CN" noProof="0" smtClean="0"/>
              <a:t>Click to edit Master subtitle style</a:t>
            </a:r>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09B6429F-B0D8-4FD3-AB12-68806940BDA4}" type="datetimeFigureOut">
              <a:rPr lang="en-US" smtClean="0"/>
              <a:t>5/31/2026</a:t>
            </a:fld>
            <a:endParaRPr lang="en-US"/>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137C0889-9BB1-4909-B996-C5EF16E63786}"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B6429F-B0D8-4FD3-AB12-68806940BDA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7C0889-9BB1-4909-B996-C5EF16E63786}"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B6429F-B0D8-4FD3-AB12-68806940BDA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7C0889-9BB1-4909-B996-C5EF16E63786}"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74750"/>
            <a:ext cx="40386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74750"/>
            <a:ext cx="40386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9B6429F-B0D8-4FD3-AB12-68806940BDA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7C0889-9BB1-4909-B996-C5EF16E63786}"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9B6429F-B0D8-4FD3-AB12-68806940BDA4}" type="datetimeFigureOut">
              <a:rPr lang="en-US" smtClean="0"/>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7C0889-9BB1-4909-B996-C5EF16E63786}"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9B6429F-B0D8-4FD3-AB12-68806940BDA4}" type="datetimeFigureOut">
              <a:rPr lang="en-US" smtClean="0"/>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7C0889-9BB1-4909-B996-C5EF16E63786}"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6429F-B0D8-4FD3-AB12-68806940BDA4}" type="datetimeFigureOut">
              <a:rPr lang="en-US" smtClean="0"/>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7C0889-9BB1-4909-B996-C5EF16E63786}"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B6429F-B0D8-4FD3-AB12-68806940BDA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7C0889-9BB1-4909-B996-C5EF16E63786}"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B6429F-B0D8-4FD3-AB12-68806940BDA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7C0889-9BB1-4909-B996-C5EF16E63786}"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B6429F-B0D8-4FD3-AB12-68806940BDA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7C0889-9BB1-4909-B996-C5EF16E63786}"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B6429F-B0D8-4FD3-AB12-68806940BDA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7C0889-9BB1-4909-B996-C5EF16E63786}"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p:nvPicPr>
        <p:blipFill>
          <a:blip r:embed="rId13"/>
          <a:stretch>
            <a:fillRect/>
          </a:stretch>
        </p:blipFill>
        <p:spPr>
          <a:xfrm>
            <a:off x="0" y="0"/>
            <a:ext cx="9148763" cy="6861175"/>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09B6429F-B0D8-4FD3-AB12-68806940BDA4}" type="datetimeFigureOut">
              <a:rPr lang="en-US" smtClean="0"/>
              <a:t>5/31/2026</a:t>
            </a:fld>
            <a:endParaRPr lang="en-US"/>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137C0889-9BB1-4909-B996-C5EF16E6378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bg1"/>
          </a:solidFill>
          <a:latin typeface="+mj-lt"/>
          <a:ea typeface="+mj-ea"/>
          <a:cs typeface="+mj-cs"/>
        </a:defRPr>
      </a:lvl1pPr>
      <a:lvl2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 </a:t>
            </a:r>
            <a:endParaRPr lang="en-US" dirty="0"/>
          </a:p>
        </p:txBody>
      </p:sp>
      <p:sp>
        <p:nvSpPr>
          <p:cNvPr id="3" name="Subtitle 2"/>
          <p:cNvSpPr>
            <a:spLocks noGrp="1"/>
          </p:cNvSpPr>
          <p:nvPr>
            <p:ph type="subTitle" idx="1"/>
          </p:nvPr>
        </p:nvSpPr>
        <p:spPr>
          <a:xfrm>
            <a:off x="469900" y="1633220"/>
            <a:ext cx="8212455" cy="2541905"/>
          </a:xfrm>
        </p:spPr>
        <p:txBody>
          <a:bodyPr/>
          <a:lstStyle/>
          <a:p>
            <a:r>
              <a:rPr lang="en-US" sz="4400" b="1" dirty="0" smtClean="0"/>
              <a:t>Political Parties  In Pakistan</a:t>
            </a:r>
            <a:endParaRPr lang="en-US" sz="4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t>Role of Political Parties in State </a:t>
            </a:r>
            <a:r>
              <a:rPr lang="en-US" sz="3200" b="1" dirty="0" smtClean="0"/>
              <a:t>Functioning/ Democracy</a:t>
            </a:r>
            <a:endParaRPr lang="en-US" sz="3200" b="1" dirty="0"/>
          </a:p>
        </p:txBody>
      </p:sp>
      <p:sp>
        <p:nvSpPr>
          <p:cNvPr id="3" name="Content Placeholder 2"/>
          <p:cNvSpPr>
            <a:spLocks noGrp="1"/>
          </p:cNvSpPr>
          <p:nvPr>
            <p:ph idx="1"/>
          </p:nvPr>
        </p:nvSpPr>
        <p:spPr/>
        <p:txBody>
          <a:bodyPr/>
          <a:lstStyle/>
          <a:p>
            <a:pPr algn="just"/>
            <a:r>
              <a:rPr lang="en-US" sz="2800" dirty="0"/>
              <a:t>Political parties play a crucial role in the functioning of a state; </a:t>
            </a:r>
          </a:p>
          <a:p>
            <a:pPr algn="just"/>
            <a:r>
              <a:rPr lang="en-US" sz="2800" dirty="0"/>
              <a:t>influencing governance, </a:t>
            </a:r>
          </a:p>
          <a:p>
            <a:pPr algn="just"/>
            <a:r>
              <a:rPr lang="en-US" sz="2800" dirty="0"/>
              <a:t>policy-making, </a:t>
            </a:r>
          </a:p>
          <a:p>
            <a:pPr algn="just"/>
            <a:r>
              <a:rPr lang="en-US" sz="2800" dirty="0"/>
              <a:t>and the democratic process. </a:t>
            </a:r>
          </a:p>
          <a:p>
            <a:pPr algn="just"/>
            <a:r>
              <a:rPr lang="en-US" sz="2800" dirty="0"/>
              <a:t>Collectively, they are expected to provide a structure to the political process, ensuring representation and accountability, and fostering democratic governance. </a:t>
            </a:r>
          </a:p>
          <a:p>
            <a:endParaRPr lang="en-US" dirty="0"/>
          </a:p>
        </p:txBody>
      </p:sp>
    </p:spTree>
    <p:extLst>
      <p:ext uri="{BB962C8B-B14F-4D97-AF65-F5344CB8AC3E}">
        <p14:creationId xmlns:p14="http://schemas.microsoft.com/office/powerpoint/2010/main" val="2404797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000" dirty="0"/>
              <a:t>Following can be the various aspects of their roles in the socio-political arena: </a:t>
            </a:r>
            <a:endParaRPr lang="en-US" sz="2000" dirty="0" smtClean="0"/>
          </a:p>
          <a:p>
            <a:r>
              <a:rPr lang="en-US" sz="2000" dirty="0"/>
              <a:t/>
            </a:r>
            <a:br>
              <a:rPr lang="en-US" sz="2000" dirty="0"/>
            </a:br>
            <a:r>
              <a:rPr lang="en-US" sz="2000" b="1" dirty="0"/>
              <a:t>1. Political Socialization and Training:</a:t>
            </a:r>
          </a:p>
          <a:p>
            <a:endParaRPr lang="en-US" sz="2000" dirty="0"/>
          </a:p>
          <a:p>
            <a:r>
              <a:rPr lang="en-US" sz="2000" b="1" dirty="0"/>
              <a:t>Civic Education</a:t>
            </a:r>
            <a:r>
              <a:rPr lang="en-US" sz="2000" dirty="0"/>
              <a:t>: Parties educate citizens about political processes, ideologies, and the importance of participation in democracy. They organize events, forums, and discussions to engage the public and raise awareness on critical issues. </a:t>
            </a:r>
          </a:p>
          <a:p>
            <a:r>
              <a:rPr lang="en-US" sz="2000" b="1" dirty="0"/>
              <a:t>Leadership Development: </a:t>
            </a:r>
            <a:r>
              <a:rPr lang="en-US" sz="2000" dirty="0"/>
              <a:t>Parties identify and recruit individuals with leadership potential, providing them with opportunities to develop their skills. Through various party activities and positions, individuals gain experience in governance, policy-making, and political strategy.</a:t>
            </a:r>
          </a:p>
          <a:p>
            <a:endParaRPr lang="en-US" dirty="0"/>
          </a:p>
        </p:txBody>
      </p:sp>
    </p:spTree>
    <p:extLst>
      <p:ext uri="{BB962C8B-B14F-4D97-AF65-F5344CB8AC3E}">
        <p14:creationId xmlns:p14="http://schemas.microsoft.com/office/powerpoint/2010/main" val="1125164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sz="2000" b="1" dirty="0"/>
              <a:t>2. Representation and Policy formulation:</a:t>
            </a:r>
          </a:p>
          <a:p>
            <a:pPr algn="just"/>
            <a:endParaRPr lang="en-US" sz="2000" dirty="0"/>
          </a:p>
          <a:p>
            <a:pPr algn="just"/>
            <a:r>
              <a:rPr lang="en-US" sz="2000" dirty="0"/>
              <a:t>Parties advocate for policies that reflect the needs and aspirations of their constituents, thereby shaping the legislative agenda. Political parties aggregate and articulate the interests of various groups within society and ensure that a wide range of societal views and concerns are brought into the political arena</a:t>
            </a:r>
            <a:r>
              <a:rPr lang="en-US" sz="2000" dirty="0" smtClean="0"/>
              <a:t>.</a:t>
            </a:r>
          </a:p>
          <a:p>
            <a:pPr algn="just"/>
            <a:endParaRPr lang="en-US" sz="2000" dirty="0"/>
          </a:p>
          <a:p>
            <a:pPr algn="just"/>
            <a:r>
              <a:rPr lang="en-US" sz="2000" dirty="0"/>
              <a:t>Parties create detailed policy platforms that outline their vision for governance. These platforms are developed through internal debates, expert consultations, and feedback from the public. </a:t>
            </a:r>
            <a:r>
              <a:rPr lang="en-US" sz="2000" dirty="0" err="1"/>
              <a:t>And,once</a:t>
            </a:r>
            <a:r>
              <a:rPr lang="en-US" sz="2000" dirty="0"/>
              <a:t> in power, these policy platforms guide the party's actions in office as a government, helps to implement their agenda and promises they made during the election campaigning.</a:t>
            </a:r>
          </a:p>
          <a:p>
            <a:endParaRPr lang="en-US" sz="2000" dirty="0"/>
          </a:p>
        </p:txBody>
      </p:sp>
    </p:spTree>
    <p:extLst>
      <p:ext uri="{BB962C8B-B14F-4D97-AF65-F5344CB8AC3E}">
        <p14:creationId xmlns:p14="http://schemas.microsoft.com/office/powerpoint/2010/main" val="2411311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000" b="1" dirty="0"/>
              <a:t>3. Electioneering:</a:t>
            </a:r>
          </a:p>
          <a:p>
            <a:endParaRPr lang="en-US" sz="2000" dirty="0"/>
          </a:p>
          <a:p>
            <a:r>
              <a:rPr lang="en-US" sz="2000" dirty="0"/>
              <a:t>Parties are responsible for organizing election campaigns, including fundraising, candidate selection, and voter outreach, that’s called campaign organization.</a:t>
            </a:r>
          </a:p>
          <a:p>
            <a:r>
              <a:rPr lang="en-US" sz="2000" dirty="0"/>
              <a:t>They also work to educate and mobilize voters on key issues, motivate them to participate in elections, and facilitate them with informed voting choices.</a:t>
            </a:r>
          </a:p>
        </p:txBody>
      </p:sp>
    </p:spTree>
    <p:extLst>
      <p:ext uri="{BB962C8B-B14F-4D97-AF65-F5344CB8AC3E}">
        <p14:creationId xmlns:p14="http://schemas.microsoft.com/office/powerpoint/2010/main" val="947781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000" b="1" dirty="0"/>
              <a:t>4. Formation of Government and Law-Making (Legislation) process:</a:t>
            </a:r>
            <a:br>
              <a:rPr lang="en-US" sz="2000" b="1" dirty="0"/>
            </a:br>
            <a:r>
              <a:rPr lang="en-US" sz="2000" b="1" dirty="0"/>
              <a:t/>
            </a:r>
            <a:br>
              <a:rPr lang="en-US" sz="2000" b="1" dirty="0"/>
            </a:br>
            <a:r>
              <a:rPr lang="en-US" sz="2000" dirty="0"/>
              <a:t>Government Leadership in parliamentary systems, the party with the majority forms the government and its leader often becomes the prime minister. In presidential systems, the winning party's candidate usually becomes the president.</a:t>
            </a:r>
          </a:p>
          <a:p>
            <a:r>
              <a:rPr lang="en-US" sz="2000" dirty="0"/>
              <a:t>In cases where no single party wins a majority, parties may form coalitions to establish a functioning government.</a:t>
            </a:r>
          </a:p>
          <a:p>
            <a:pPr algn="just"/>
            <a:r>
              <a:rPr lang="en-US" sz="2000" dirty="0"/>
              <a:t>Law Making: Parties propose and debate bills, contributing to the creation and amendment of laws. </a:t>
            </a:r>
            <a:br>
              <a:rPr lang="en-US" sz="2000" dirty="0"/>
            </a:br>
            <a:r>
              <a:rPr lang="en-US" sz="2000" dirty="0"/>
              <a:t>To ensure cohesive action, parties enforce discipline among their members, particularly in voting on legislation and policy matters.</a:t>
            </a:r>
          </a:p>
          <a:p>
            <a:endParaRPr lang="en-US" sz="2000" dirty="0"/>
          </a:p>
        </p:txBody>
      </p:sp>
    </p:spTree>
    <p:extLst>
      <p:ext uri="{BB962C8B-B14F-4D97-AF65-F5344CB8AC3E}">
        <p14:creationId xmlns:p14="http://schemas.microsoft.com/office/powerpoint/2010/main" val="2166625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endParaRPr lang="en-US" sz="2000" dirty="0" smtClean="0"/>
          </a:p>
          <a:p>
            <a:pPr algn="just"/>
            <a:r>
              <a:rPr lang="en-US" sz="2000" dirty="0" smtClean="0"/>
              <a:t>Government’s </a:t>
            </a:r>
            <a:r>
              <a:rPr lang="en-US" sz="2000" dirty="0"/>
              <a:t>opposition parties monitor and critique the actions of the ruling party, providing a check on its power and holding it accountable to the public.</a:t>
            </a:r>
          </a:p>
          <a:p>
            <a:pPr algn="just"/>
            <a:r>
              <a:rPr lang="en-US" sz="2000" dirty="0"/>
              <a:t>Also at times the opposition offers alternative policies and solutions, fostering healthy political debate and giving voters a different options.</a:t>
            </a:r>
          </a:p>
          <a:p>
            <a:pPr algn="just"/>
            <a:r>
              <a:rPr lang="en-US" sz="2000" dirty="0"/>
              <a:t>Parties provide structured competition, ensuring that elections are contested in an organized manner and that power transitions smoothly. They contribute to the stability and continuity of governance by preparing for orderly transitions of power.</a:t>
            </a:r>
          </a:p>
          <a:p>
            <a:endParaRPr lang="en-US" sz="2000" dirty="0"/>
          </a:p>
        </p:txBody>
      </p:sp>
    </p:spTree>
    <p:extLst>
      <p:ext uri="{BB962C8B-B14F-4D97-AF65-F5344CB8AC3E}">
        <p14:creationId xmlns:p14="http://schemas.microsoft.com/office/powerpoint/2010/main" val="4109469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400" b="1" dirty="0"/>
              <a:t>Last but no the least Promoting Democratic Values:</a:t>
            </a:r>
          </a:p>
          <a:p>
            <a:endParaRPr lang="en-US" sz="2400" dirty="0"/>
          </a:p>
          <a:p>
            <a:r>
              <a:rPr lang="en-US" sz="2400" dirty="0"/>
              <a:t>Overall, Political parties promote political participation, encouraging citizens to vote, run for office, and engage in civic activities.</a:t>
            </a:r>
          </a:p>
          <a:p>
            <a:r>
              <a:rPr lang="en-US" sz="2400" dirty="0"/>
              <a:t>They advocate for the protection of individual rights and freedoms, fostering a culture of respect for democratic principles.</a:t>
            </a:r>
          </a:p>
          <a:p>
            <a:endParaRPr lang="en-US" sz="2000" dirty="0"/>
          </a:p>
        </p:txBody>
      </p:sp>
    </p:spTree>
    <p:extLst>
      <p:ext uri="{BB962C8B-B14F-4D97-AF65-F5344CB8AC3E}">
        <p14:creationId xmlns:p14="http://schemas.microsoft.com/office/powerpoint/2010/main" val="2286012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 y="190500"/>
            <a:ext cx="7506970" cy="582930"/>
          </a:xfrm>
        </p:spPr>
        <p:txBody>
          <a:bodyPr/>
          <a:lstStyle/>
          <a:p>
            <a:pPr algn="ctr"/>
            <a:r>
              <a:rPr lang="en-US" sz="3200" dirty="0" smtClean="0"/>
              <a:t> </a:t>
            </a:r>
            <a:r>
              <a:rPr lang="en-US" sz="3200" b="1" dirty="0"/>
              <a:t>Political </a:t>
            </a:r>
            <a:r>
              <a:rPr lang="en-US" sz="3200" b="1" dirty="0" smtClean="0"/>
              <a:t>Parties of </a:t>
            </a:r>
            <a:r>
              <a:rPr lang="en-US" sz="3200" b="1" dirty="0"/>
              <a:t>Pakistan</a:t>
            </a:r>
          </a:p>
        </p:txBody>
      </p:sp>
      <p:sp>
        <p:nvSpPr>
          <p:cNvPr id="3" name="Content Placeholder 2"/>
          <p:cNvSpPr>
            <a:spLocks noGrp="1"/>
          </p:cNvSpPr>
          <p:nvPr>
            <p:ph idx="1"/>
          </p:nvPr>
        </p:nvSpPr>
        <p:spPr>
          <a:xfrm>
            <a:off x="457200" y="772795"/>
            <a:ext cx="8229600" cy="5742305"/>
          </a:xfrm>
        </p:spPr>
        <p:txBody>
          <a:bodyPr/>
          <a:lstStyle/>
          <a:p>
            <a:pPr algn="just"/>
            <a:endParaRPr lang="en-US" sz="1800" dirty="0"/>
          </a:p>
          <a:p>
            <a:pPr algn="just"/>
            <a:r>
              <a:rPr lang="en-US" sz="1800" dirty="0"/>
              <a:t>Political </a:t>
            </a:r>
            <a:r>
              <a:rPr lang="en-US" sz="1800" dirty="0" smtClean="0"/>
              <a:t>parties span </a:t>
            </a:r>
            <a:r>
              <a:rPr lang="en-US" sz="1800" dirty="0"/>
              <a:t>a spectrum from right-wing to left-wing in Pakistan, with various parties advocating distinct political, social, and economic policies. Following in-depth look at the major political </a:t>
            </a:r>
            <a:r>
              <a:rPr lang="en-US" sz="1800" dirty="0" smtClean="0"/>
              <a:t>parties in </a:t>
            </a:r>
            <a:r>
              <a:rPr lang="en-US" sz="1800" dirty="0"/>
              <a:t>Pakistan would give an idea of diversity political </a:t>
            </a:r>
            <a:r>
              <a:rPr lang="en-US" sz="1800" dirty="0" smtClean="0"/>
              <a:t>parties.</a:t>
            </a:r>
            <a:endParaRPr lang="en-US" sz="1800" dirty="0"/>
          </a:p>
          <a:p>
            <a:endParaRPr lang="en-US" sz="1800" b="1" u="sng" dirty="0"/>
          </a:p>
          <a:p>
            <a:r>
              <a:rPr lang="en-US" sz="1800" b="1" u="sng" dirty="0"/>
              <a:t>1. Right-Wing </a:t>
            </a:r>
            <a:r>
              <a:rPr lang="en-US" sz="1800" b="1" u="sng" dirty="0" smtClean="0"/>
              <a:t>Parties: </a:t>
            </a:r>
            <a:r>
              <a:rPr lang="en-US" sz="1800" b="1" u="sng" dirty="0"/>
              <a:t/>
            </a:r>
            <a:br>
              <a:rPr lang="en-US" sz="1800" b="1" u="sng" dirty="0"/>
            </a:br>
            <a:r>
              <a:rPr lang="en-US" sz="1800" dirty="0"/>
              <a:t>The term "right-wing" refers to a political </a:t>
            </a:r>
            <a:r>
              <a:rPr lang="en-US" sz="1800" dirty="0" smtClean="0"/>
              <a:t>party or </a:t>
            </a:r>
            <a:r>
              <a:rPr lang="en-US" sz="1800" dirty="0"/>
              <a:t>spectrum of beliefs that typically emphasize traditional values, conservatism, and a preference for maintaining established social orders and hierarchies</a:t>
            </a:r>
            <a:r>
              <a:rPr lang="en-US" sz="1800" dirty="0" smtClean="0"/>
              <a:t>.</a:t>
            </a:r>
          </a:p>
          <a:p>
            <a:r>
              <a:rPr lang="en-US" sz="1800" dirty="0" smtClean="0"/>
              <a:t> </a:t>
            </a:r>
            <a:r>
              <a:rPr lang="en-US" sz="1800" dirty="0"/>
              <a:t>Right-wing </a:t>
            </a:r>
            <a:r>
              <a:rPr lang="en-US" sz="1800" dirty="0" smtClean="0"/>
              <a:t>parties often </a:t>
            </a:r>
            <a:r>
              <a:rPr lang="en-US" sz="1800" dirty="0"/>
              <a:t>advocate for the following:</a:t>
            </a:r>
            <a:br>
              <a:rPr lang="en-US" sz="1800" dirty="0"/>
            </a:br>
            <a:r>
              <a:rPr lang="en-US" sz="1800" dirty="0"/>
              <a:t/>
            </a:r>
            <a:br>
              <a:rPr lang="en-US" sz="1800" dirty="0"/>
            </a:br>
            <a:r>
              <a:rPr lang="en-US" sz="1800" b="1" dirty="0"/>
              <a:t> </a:t>
            </a:r>
            <a:r>
              <a:rPr lang="en-US" sz="1800" b="1" u="sng" dirty="0"/>
              <a:t>a) Economic Policies:</a:t>
            </a:r>
            <a:endParaRPr lang="en-US" sz="1800" b="1" dirty="0"/>
          </a:p>
          <a:p>
            <a:r>
              <a:rPr lang="en-US" sz="1800" dirty="0"/>
              <a:t>Free-market capitalism and limited government intervention in the economy.</a:t>
            </a:r>
          </a:p>
          <a:p>
            <a:r>
              <a:rPr lang="en-US" sz="1800" dirty="0"/>
              <a:t>Lower taxes and reduced government spending.</a:t>
            </a:r>
          </a:p>
          <a:p>
            <a:r>
              <a:rPr lang="en-US" sz="1800" dirty="0"/>
              <a:t>Emphasis on private property and individual entrepreneurship.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 description of Right-wing</a:t>
            </a:r>
          </a:p>
        </p:txBody>
      </p:sp>
      <p:sp>
        <p:nvSpPr>
          <p:cNvPr id="3" name="Content Placeholder 2"/>
          <p:cNvSpPr>
            <a:spLocks noGrp="1"/>
          </p:cNvSpPr>
          <p:nvPr>
            <p:ph idx="1"/>
          </p:nvPr>
        </p:nvSpPr>
        <p:spPr/>
        <p:txBody>
          <a:bodyPr/>
          <a:lstStyle/>
          <a:p>
            <a:r>
              <a:rPr lang="en-US" sz="1800" b="1" u="sng" dirty="0"/>
              <a:t>b) Social Policies:</a:t>
            </a:r>
            <a:r>
              <a:rPr lang="en-US" sz="1800" b="1" dirty="0"/>
              <a:t/>
            </a:r>
            <a:br>
              <a:rPr lang="en-US" sz="1800" b="1" dirty="0"/>
            </a:br>
            <a:endParaRPr lang="en-US" sz="1800" b="1" dirty="0"/>
          </a:p>
          <a:p>
            <a:r>
              <a:rPr lang="en-US" sz="1800" dirty="0"/>
              <a:t>Preservation of traditional social structures and norms, including family values.</a:t>
            </a:r>
          </a:p>
          <a:p>
            <a:r>
              <a:rPr lang="en-US" sz="1800" dirty="0"/>
              <a:t>Emphasis on law and order, often supporting strong policing and criminal justice measures.</a:t>
            </a:r>
          </a:p>
          <a:p>
            <a:r>
              <a:rPr lang="en-US" sz="1800" dirty="0"/>
              <a:t>Advocacy for nationalistic and patriotic values, sometimes with an emphasis on cultural or religious identity. </a:t>
            </a:r>
            <a:br>
              <a:rPr lang="en-US" sz="1800" dirty="0"/>
            </a:br>
            <a:r>
              <a:rPr lang="en-US" sz="1800" dirty="0"/>
              <a:t/>
            </a:r>
            <a:br>
              <a:rPr lang="en-US" sz="1800" dirty="0"/>
            </a:br>
            <a:r>
              <a:rPr lang="en-US" sz="1800" b="1" u="sng" dirty="0"/>
              <a:t>c) Government and Governance:</a:t>
            </a:r>
            <a:endParaRPr lang="en-US" sz="1800" b="1" dirty="0"/>
          </a:p>
          <a:p>
            <a:endParaRPr lang="en-US" sz="1800" dirty="0"/>
          </a:p>
          <a:p>
            <a:r>
              <a:rPr lang="en-US" sz="1800" dirty="0"/>
              <a:t>Support for a strong, centralized government in terms of defense and national security.</a:t>
            </a:r>
          </a:p>
          <a:p>
            <a:r>
              <a:rPr lang="en-US" sz="1800" dirty="0"/>
              <a:t>Often favoring a smaller welfare state and less extensive social safety nets.</a:t>
            </a:r>
          </a:p>
          <a:p>
            <a:r>
              <a:rPr lang="en-US" sz="1800" dirty="0"/>
              <a:t>Preference for incremental change over radical reform, maintaining the status quo.</a:t>
            </a:r>
          </a:p>
          <a:p>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Right-Wing </a:t>
            </a:r>
            <a:r>
              <a:rPr lang="en-US" dirty="0" smtClean="0"/>
              <a:t>Parties </a:t>
            </a:r>
            <a:r>
              <a:rPr lang="en-US" dirty="0" smtClean="0"/>
              <a:t>in </a:t>
            </a:r>
            <a:r>
              <a:rPr lang="en-US" dirty="0"/>
              <a:t>Pakistan</a:t>
            </a:r>
          </a:p>
        </p:txBody>
      </p:sp>
      <p:sp>
        <p:nvSpPr>
          <p:cNvPr id="3" name="Content Placeholder 2"/>
          <p:cNvSpPr>
            <a:spLocks noGrp="1"/>
          </p:cNvSpPr>
          <p:nvPr>
            <p:ph idx="1"/>
          </p:nvPr>
        </p:nvSpPr>
        <p:spPr>
          <a:xfrm>
            <a:off x="457200" y="1174750"/>
            <a:ext cx="8382000" cy="5454650"/>
          </a:xfrm>
        </p:spPr>
        <p:txBody>
          <a:bodyPr/>
          <a:lstStyle/>
          <a:p>
            <a:pPr marL="0" indent="0" algn="ctr">
              <a:buNone/>
            </a:pPr>
            <a:r>
              <a:rPr lang="en-US" sz="2000" b="1" u="sng" dirty="0"/>
              <a:t>Right-Wing </a:t>
            </a:r>
            <a:r>
              <a:rPr lang="en-US" sz="2000" b="1" u="sng" dirty="0" smtClean="0"/>
              <a:t>Parties</a:t>
            </a:r>
            <a:r>
              <a:rPr lang="en-US" sz="2000" b="1" u="sng" dirty="0"/>
              <a:t/>
            </a:r>
            <a:br>
              <a:rPr lang="en-US" sz="2000" b="1" u="sng" dirty="0"/>
            </a:br>
            <a:endParaRPr lang="en-US" sz="2000" b="1" u="sng" dirty="0"/>
          </a:p>
          <a:p>
            <a:pPr algn="just"/>
            <a:r>
              <a:rPr lang="en-US" sz="2400" b="1" u="sng" dirty="0"/>
              <a:t>1. Pakistan Muslim League (Nawaz) [PML-N]</a:t>
            </a:r>
            <a:r>
              <a:rPr lang="en-US" sz="2400" b="1" dirty="0"/>
              <a:t>: </a:t>
            </a:r>
            <a:r>
              <a:rPr lang="en-US" sz="2400" dirty="0"/>
              <a:t>Traditionally, PML-N has been considered a center-right party with a strong focus on conservatism, economic liberalization, and infrastructure development. It emphasizes traditional values, the role of Islam in governance, and a strong centralized state</a:t>
            </a:r>
            <a:r>
              <a:rPr lang="en-US" sz="2400" dirty="0" smtClean="0"/>
              <a:t>.</a:t>
            </a:r>
          </a:p>
          <a:p>
            <a:pPr algn="just"/>
            <a:endParaRPr lang="en-US" sz="2400" dirty="0"/>
          </a:p>
          <a:p>
            <a:pPr algn="just"/>
            <a:r>
              <a:rPr lang="en-US" sz="2400" b="1" u="sng" dirty="0"/>
              <a:t>Pakistan </a:t>
            </a:r>
            <a:r>
              <a:rPr lang="en-US" sz="2400" b="1" u="sng" dirty="0" err="1"/>
              <a:t>Tehreek</a:t>
            </a:r>
            <a:r>
              <a:rPr lang="en-US" sz="2400" b="1" u="sng" dirty="0"/>
              <a:t>-e-</a:t>
            </a:r>
            <a:r>
              <a:rPr lang="en-US" sz="2400" b="1" u="sng" dirty="0" err="1"/>
              <a:t>Insaf</a:t>
            </a:r>
            <a:r>
              <a:rPr lang="en-US" sz="2400" b="1" u="sng" dirty="0"/>
              <a:t> (PTI):</a:t>
            </a:r>
            <a:r>
              <a:rPr lang="en-US" sz="2400" b="1" dirty="0"/>
              <a:t> </a:t>
            </a:r>
            <a:r>
              <a:rPr lang="en-US" sz="2400" dirty="0"/>
              <a:t>PTI, led by Imran Khan, also aligns with center-right principles, advocating for anti-corruption measures, a strong national defense, and Islamic welfare policies. Although PTI has also populist elements, it often promotes conservative values</a:t>
            </a:r>
            <a:r>
              <a:rPr lang="en-US" sz="2400" dirty="0" smtClean="0"/>
              <a:t>.</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400" b="1" dirty="0"/>
              <a:t>Jamaat-e-</a:t>
            </a:r>
            <a:r>
              <a:rPr lang="en-US" sz="2400" b="1" dirty="0" err="1"/>
              <a:t>Islami</a:t>
            </a:r>
            <a:r>
              <a:rPr lang="en-US" sz="2400" b="1" dirty="0"/>
              <a:t> (JI): </a:t>
            </a:r>
            <a:r>
              <a:rPr lang="en-US" sz="2400" dirty="0"/>
              <a:t>A right-wing, religious party that emphasizes Islamic law, moral governance, and social justice based on Islamic principles. JI advocates for the implementation of Sharia law in Pakistan</a:t>
            </a:r>
            <a:r>
              <a:rPr lang="en-US" sz="2400" dirty="0" smtClean="0"/>
              <a:t>.</a:t>
            </a:r>
          </a:p>
          <a:p>
            <a:endParaRPr lang="en-US" sz="2400" dirty="0" smtClean="0"/>
          </a:p>
          <a:p>
            <a:r>
              <a:rPr lang="en-US" sz="2400" b="1" dirty="0"/>
              <a:t>Tehreek-e-</a:t>
            </a:r>
            <a:r>
              <a:rPr lang="en-US" sz="2400" b="1" dirty="0" err="1"/>
              <a:t>Labbaik</a:t>
            </a:r>
            <a:r>
              <a:rPr lang="en-US" sz="2400" b="1" dirty="0"/>
              <a:t> Pakistan (TLP): </a:t>
            </a:r>
            <a:r>
              <a:rPr lang="en-US" sz="2400" dirty="0"/>
              <a:t>Ultra-Conservatism and </a:t>
            </a:r>
            <a:r>
              <a:rPr lang="en-US" sz="2400" dirty="0" smtClean="0"/>
              <a:t>Islamist Fundamentalist.</a:t>
            </a:r>
            <a:r>
              <a:rPr lang="en-US" sz="2400" b="1" dirty="0"/>
              <a:t/>
            </a:r>
            <a:br>
              <a:rPr lang="en-US" sz="2400" b="1" dirty="0"/>
            </a:br>
            <a:r>
              <a:rPr lang="en-US" sz="2400" b="1" dirty="0"/>
              <a:t/>
            </a:r>
            <a:br>
              <a:rPr lang="en-US" sz="2400" b="1" dirty="0"/>
            </a:br>
            <a:r>
              <a:rPr lang="en-US" sz="2400" dirty="0"/>
              <a:t>An Islamist party known for its ultra-conservative stance, particularly on blasphemy laws and the role of Islam in public life. TLP mobilizes support through religious sentiments and has been involved in various protests demanding stricter implementation of Islamic laws.</a:t>
            </a:r>
          </a:p>
          <a:p>
            <a:endParaRPr lang="en-US" dirty="0"/>
          </a:p>
        </p:txBody>
      </p:sp>
    </p:spTree>
    <p:extLst>
      <p:ext uri="{BB962C8B-B14F-4D97-AF65-F5344CB8AC3E}">
        <p14:creationId xmlns:p14="http://schemas.microsoft.com/office/powerpoint/2010/main" val="949326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Description of Left-Wing</a:t>
            </a:r>
          </a:p>
        </p:txBody>
      </p:sp>
      <p:sp>
        <p:nvSpPr>
          <p:cNvPr id="3" name="Content Placeholder 2"/>
          <p:cNvSpPr>
            <a:spLocks noGrp="1"/>
          </p:cNvSpPr>
          <p:nvPr>
            <p:ph idx="1"/>
          </p:nvPr>
        </p:nvSpPr>
        <p:spPr>
          <a:xfrm>
            <a:off x="457200" y="1174750"/>
            <a:ext cx="8229600" cy="5459095"/>
          </a:xfrm>
        </p:spPr>
        <p:txBody>
          <a:bodyPr/>
          <a:lstStyle/>
          <a:p>
            <a:r>
              <a:rPr lang="en-US" sz="1800" b="1" u="sng" dirty="0"/>
              <a:t>Defining Left Wing </a:t>
            </a:r>
            <a:r>
              <a:rPr lang="en-US" sz="1800" b="1" u="sng" dirty="0" smtClean="0"/>
              <a:t>Parties: </a:t>
            </a:r>
          </a:p>
          <a:p>
            <a:pPr marL="0" indent="0" algn="just">
              <a:buNone/>
            </a:pPr>
            <a:r>
              <a:rPr lang="en-US" sz="1800" b="1" u="sng" dirty="0"/>
              <a:t/>
            </a:r>
            <a:br>
              <a:rPr lang="en-US" sz="1800" b="1" u="sng" dirty="0"/>
            </a:br>
            <a:r>
              <a:rPr lang="en-US" sz="1800" dirty="0"/>
              <a:t>The term "left-wing" refers to a political </a:t>
            </a:r>
            <a:r>
              <a:rPr lang="en-US" sz="1800" dirty="0" smtClean="0"/>
              <a:t>party or </a:t>
            </a:r>
            <a:r>
              <a:rPr lang="en-US" sz="1800" dirty="0"/>
              <a:t>spectrum of beliefs that typically emphasize social equality, progressive reform, and the protection and expansion of civil rights.  Left-wing ideologies advocate for the following:</a:t>
            </a:r>
            <a:br>
              <a:rPr lang="en-US" sz="1800" dirty="0"/>
            </a:br>
            <a:r>
              <a:rPr lang="en-US" sz="1800" b="1" dirty="0"/>
              <a:t/>
            </a:r>
            <a:br>
              <a:rPr lang="en-US" sz="1800" b="1" dirty="0"/>
            </a:br>
            <a:r>
              <a:rPr lang="en-US" sz="1800" b="1" dirty="0"/>
              <a:t> </a:t>
            </a:r>
            <a:r>
              <a:rPr lang="en-US" sz="1800" b="1" dirty="0" smtClean="0"/>
              <a:t>  </a:t>
            </a:r>
            <a:r>
              <a:rPr lang="en-US" sz="1800" b="1" u="sng" dirty="0" smtClean="0"/>
              <a:t>a</a:t>
            </a:r>
            <a:r>
              <a:rPr lang="en-US" sz="1800" b="1" u="sng" dirty="0"/>
              <a:t>) Economic Policies:</a:t>
            </a:r>
          </a:p>
          <a:p>
            <a:r>
              <a:rPr lang="en-US" sz="1800" dirty="0"/>
              <a:t>Greater government intervention in the economy to address inequalities and provide public services.</a:t>
            </a:r>
          </a:p>
          <a:p>
            <a:r>
              <a:rPr lang="en-US" sz="1800" dirty="0"/>
              <a:t>Progressive taxation to redistribute wealth more equitably.</a:t>
            </a:r>
          </a:p>
          <a:p>
            <a:r>
              <a:rPr lang="en-US" sz="1800" dirty="0"/>
              <a:t>Support for labor unions, workers' rights, and welfare programs.</a:t>
            </a:r>
            <a:br>
              <a:rPr lang="en-US" sz="1800" dirty="0"/>
            </a:br>
            <a:r>
              <a:rPr lang="en-US" sz="1800" dirty="0"/>
              <a:t/>
            </a:r>
            <a:br>
              <a:rPr lang="en-US" sz="1800" dirty="0"/>
            </a:br>
            <a:r>
              <a:rPr lang="en-US" sz="1800" b="1" u="sng" dirty="0"/>
              <a:t>b) Social Policies:</a:t>
            </a:r>
            <a:endParaRPr lang="en-US" sz="1800" b="1" dirty="0"/>
          </a:p>
          <a:p>
            <a:r>
              <a:rPr lang="en-US" sz="1800" dirty="0"/>
              <a:t>Advocacy for social justice and measures to reduce discrimination based on race, gender and other identities.</a:t>
            </a:r>
          </a:p>
          <a:p>
            <a:r>
              <a:rPr lang="en-US" sz="1800" dirty="0"/>
              <a:t>Support for civil liberties, personal freedoms, and human rights.</a:t>
            </a:r>
          </a:p>
          <a:p>
            <a:r>
              <a:rPr lang="en-US" sz="1800" dirty="0"/>
              <a:t>Policies promoting universal healthcare, education, and other social services.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a:t>
            </a:r>
          </a:p>
        </p:txBody>
      </p:sp>
      <p:sp>
        <p:nvSpPr>
          <p:cNvPr id="3" name="Content Placeholder 2"/>
          <p:cNvSpPr>
            <a:spLocks noGrp="1"/>
          </p:cNvSpPr>
          <p:nvPr>
            <p:ph idx="1"/>
          </p:nvPr>
        </p:nvSpPr>
        <p:spPr/>
        <p:txBody>
          <a:bodyPr/>
          <a:lstStyle/>
          <a:p>
            <a:endParaRPr lang="en-US" sz="2400" dirty="0"/>
          </a:p>
          <a:p>
            <a:r>
              <a:rPr lang="en-US" sz="2000" b="1" u="sng" dirty="0"/>
              <a:t>c) Government and Governance:</a:t>
            </a:r>
            <a:br>
              <a:rPr lang="en-US" sz="2000" b="1" u="sng" dirty="0"/>
            </a:br>
            <a:endParaRPr lang="en-US" sz="2000" b="1" dirty="0"/>
          </a:p>
          <a:p>
            <a:r>
              <a:rPr lang="en-US" sz="2000" dirty="0"/>
              <a:t>Favoring a more active role for government in regulating markets and providing social safety nets.</a:t>
            </a:r>
          </a:p>
          <a:p>
            <a:r>
              <a:rPr lang="en-US" sz="2000" dirty="0"/>
              <a:t>Support for democratic processes, transparency, and public participation in governance.</a:t>
            </a:r>
          </a:p>
          <a:p>
            <a:r>
              <a:rPr lang="en-US" sz="2000" dirty="0"/>
              <a:t>Emphasis on policies that promote environmental sustainability and climate action.</a:t>
            </a:r>
          </a:p>
          <a:p>
            <a:r>
              <a:rPr lang="en-US" sz="2000" dirty="0"/>
              <a:t>Advocacy for multiculturalism and policies that promote diversity and inclusion.</a:t>
            </a:r>
            <a:br>
              <a:rPr lang="en-US" sz="2000" dirty="0"/>
            </a:br>
            <a:r>
              <a:rPr lang="en-US" sz="2000" dirty="0"/>
              <a:t/>
            </a:r>
            <a:br>
              <a:rPr lang="en-US" sz="2000" dirty="0"/>
            </a:br>
            <a:r>
              <a:rPr lang="en-US" sz="2000" dirty="0"/>
              <a:t>Left-wing ideologies can vary widely, ranging from moderate social democracy to more radical forms of socialism and communism. </a:t>
            </a:r>
          </a:p>
          <a:p>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Left-Wing Parties </a:t>
            </a:r>
            <a:r>
              <a:rPr lang="en-US" dirty="0"/>
              <a:t>in Pakistan</a:t>
            </a:r>
          </a:p>
        </p:txBody>
      </p:sp>
      <p:sp>
        <p:nvSpPr>
          <p:cNvPr id="3" name="Content Placeholder 2"/>
          <p:cNvSpPr>
            <a:spLocks noGrp="1"/>
          </p:cNvSpPr>
          <p:nvPr>
            <p:ph idx="1"/>
          </p:nvPr>
        </p:nvSpPr>
        <p:spPr>
          <a:xfrm>
            <a:off x="457200" y="1174750"/>
            <a:ext cx="8229600" cy="5253355"/>
          </a:xfrm>
        </p:spPr>
        <p:txBody>
          <a:bodyPr/>
          <a:lstStyle/>
          <a:p>
            <a:pPr algn="just"/>
            <a:r>
              <a:rPr lang="en-US" sz="2000" b="1" u="sng" dirty="0"/>
              <a:t>1. Pakistan Peoples Party (PPP</a:t>
            </a:r>
            <a:r>
              <a:rPr lang="en-US" sz="2000" b="1" u="sng" dirty="0" smtClean="0"/>
              <a:t>):</a:t>
            </a:r>
          </a:p>
          <a:p>
            <a:pPr marL="0" indent="0" algn="just">
              <a:buNone/>
            </a:pPr>
            <a:r>
              <a:rPr lang="en-US" sz="2000" b="1" u="sng" dirty="0" smtClean="0"/>
              <a:t> </a:t>
            </a:r>
            <a:r>
              <a:rPr lang="en-US" sz="2000" dirty="0"/>
              <a:t/>
            </a:r>
            <a:br>
              <a:rPr lang="en-US" sz="2000" dirty="0"/>
            </a:br>
            <a:r>
              <a:rPr lang="en-US" sz="2000" dirty="0"/>
              <a:t>Historically, the PPP has championed </a:t>
            </a:r>
            <a:r>
              <a:rPr lang="en-US" sz="2000" b="1" dirty="0"/>
              <a:t>left-wing ideology</a:t>
            </a:r>
            <a:r>
              <a:rPr lang="en-US" sz="2000" dirty="0"/>
              <a:t>, focusing on social democracy, workers' rights, and social justice. Founded by </a:t>
            </a:r>
            <a:r>
              <a:rPr lang="en-US" sz="2000" dirty="0" err="1"/>
              <a:t>Zulfikar</a:t>
            </a:r>
            <a:r>
              <a:rPr lang="en-US" sz="2000" dirty="0"/>
              <a:t> Ali Bhutto, </a:t>
            </a:r>
            <a:r>
              <a:rPr lang="en-US" sz="2000" b="1" dirty="0"/>
              <a:t>the party emphasizes poverty alleviation, land reforms, and nationalization of key industries,</a:t>
            </a:r>
            <a:r>
              <a:rPr lang="en-US" sz="2000" dirty="0"/>
              <a:t> although in recent years it has adopted more centrist economic </a:t>
            </a:r>
            <a:r>
              <a:rPr lang="en-US" sz="2000" dirty="0" err="1"/>
              <a:t>policies.PPP</a:t>
            </a:r>
            <a:r>
              <a:rPr lang="en-US" sz="2000" dirty="0"/>
              <a:t> specifically followed</a:t>
            </a:r>
            <a:r>
              <a:rPr lang="en-US" sz="2000" dirty="0">
                <a:sym typeface="+mn-ea"/>
              </a:rPr>
              <a:t> Socialism and Social Democracy during </a:t>
            </a:r>
            <a:r>
              <a:rPr lang="en-US" sz="2000" dirty="0" err="1">
                <a:sym typeface="+mn-ea"/>
              </a:rPr>
              <a:t>Zulfiqar</a:t>
            </a:r>
            <a:r>
              <a:rPr lang="en-US" sz="2000" dirty="0">
                <a:sym typeface="+mn-ea"/>
              </a:rPr>
              <a:t> Ali Bhutto and Benazir’s tenure</a:t>
            </a:r>
            <a:r>
              <a:rPr lang="en-US" sz="2000" dirty="0" smtClean="0">
                <a:sym typeface="+mn-ea"/>
              </a:rPr>
              <a:t>.</a:t>
            </a:r>
          </a:p>
          <a:p>
            <a:pPr marL="0" indent="0" algn="just">
              <a:buNone/>
            </a:pPr>
            <a:endParaRPr lang="en-US" sz="2000" dirty="0">
              <a:sym typeface="+mn-ea"/>
            </a:endParaRPr>
          </a:p>
          <a:p>
            <a:pPr algn="just"/>
            <a:r>
              <a:rPr lang="en-US" sz="2000" b="1" u="sng" dirty="0"/>
              <a:t>2. </a:t>
            </a:r>
            <a:r>
              <a:rPr lang="en-US" sz="2000" b="1" u="sng" dirty="0" err="1"/>
              <a:t>Awami</a:t>
            </a:r>
            <a:r>
              <a:rPr lang="en-US" sz="2000" b="1" u="sng" dirty="0"/>
              <a:t> National Party (ANP</a:t>
            </a:r>
            <a:r>
              <a:rPr lang="en-US" sz="2000" b="1" u="sng" dirty="0" smtClean="0"/>
              <a:t>)</a:t>
            </a:r>
          </a:p>
          <a:p>
            <a:pPr marL="0" indent="0" algn="just">
              <a:buNone/>
            </a:pPr>
            <a:r>
              <a:rPr lang="en-US" sz="2000" dirty="0" smtClean="0"/>
              <a:t> </a:t>
            </a:r>
            <a:r>
              <a:rPr lang="en-US" sz="2000" dirty="0"/>
              <a:t/>
            </a:r>
            <a:br>
              <a:rPr lang="en-US" sz="2000" dirty="0"/>
            </a:br>
            <a:r>
              <a:rPr lang="en-US" sz="2000" b="1" dirty="0"/>
              <a:t>ANP promotes secularism, Pashtun nationalism, and progressive policies.</a:t>
            </a:r>
            <a:r>
              <a:rPr lang="en-US" sz="2000" dirty="0"/>
              <a:t> The party focuses on provincial autonomy, educational reform, and the protection of cultural and linguistic rights</a:t>
            </a:r>
            <a:r>
              <a:rPr lang="en-US" sz="2400" dirty="0" smtClean="0"/>
              <a: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pPr algn="just"/>
            <a:r>
              <a:rPr lang="en-US" dirty="0"/>
              <a:t>3</a:t>
            </a:r>
            <a:r>
              <a:rPr lang="en-US" b="1" u="sng" dirty="0"/>
              <a:t>. Pakistan Workers Party (PWP): </a:t>
            </a:r>
            <a:r>
              <a:rPr lang="en-US" dirty="0"/>
              <a:t/>
            </a:r>
            <a:br>
              <a:rPr lang="en-US" dirty="0"/>
            </a:br>
            <a:r>
              <a:rPr lang="en-US" dirty="0"/>
              <a:t>This party and other smaller leftist groups advocate for a socialist economy, workers' rights, and secularism, often drawing inspiration from Marxist-Leninist principles.</a:t>
            </a:r>
          </a:p>
          <a:p>
            <a:pPr algn="just"/>
            <a:endParaRPr lang="en-US" dirty="0"/>
          </a:p>
        </p:txBody>
      </p:sp>
    </p:spTree>
    <p:extLst>
      <p:ext uri="{BB962C8B-B14F-4D97-AF65-F5344CB8AC3E}">
        <p14:creationId xmlns:p14="http://schemas.microsoft.com/office/powerpoint/2010/main" val="983037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rPr>
              <a:t>Centrist </a:t>
            </a:r>
            <a:r>
              <a:rPr lang="en-US" b="1" dirty="0" smtClean="0">
                <a:effectLst>
                  <a:outerShdw blurRad="38100" dist="38100" dir="2700000" algn="tl">
                    <a:srgbClr val="000000">
                      <a:alpha val="43137"/>
                    </a:srgbClr>
                  </a:outerShdw>
                </a:effectLst>
              </a:rPr>
              <a:t>Parties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42900" y="1068705"/>
            <a:ext cx="8343900" cy="5516880"/>
          </a:xfrm>
        </p:spPr>
        <p:txBody>
          <a:bodyPr/>
          <a:lstStyle/>
          <a:p>
            <a:r>
              <a:rPr lang="en-US" sz="1800" dirty="0"/>
              <a:t>Centrist ideologies occupy a middle ground on the political spectrum, emphasizing moderation, pragmatism, and balance between the extremes of right-wing and left-wing ideologies. Following are the aspects of centrist Ideology:</a:t>
            </a:r>
            <a:br>
              <a:rPr lang="en-US" sz="1800" dirty="0"/>
            </a:br>
            <a:r>
              <a:rPr lang="en-US" sz="1800" dirty="0"/>
              <a:t/>
            </a:r>
            <a:br>
              <a:rPr lang="en-US" sz="1800" dirty="0"/>
            </a:br>
            <a:r>
              <a:rPr lang="en-US" sz="1800" b="1" u="sng" dirty="0"/>
              <a:t>a) Economic Policies:</a:t>
            </a:r>
            <a:br>
              <a:rPr lang="en-US" sz="1800" b="1" u="sng" dirty="0"/>
            </a:br>
            <a:endParaRPr lang="en-US" sz="1800" b="1" dirty="0"/>
          </a:p>
          <a:p>
            <a:r>
              <a:rPr lang="en-US" sz="1800" dirty="0"/>
              <a:t>Balanced Approach: Centrists typically support a mixed economy that combines free-market capitalism with government intervention to address market failures and ensure social welfare.</a:t>
            </a:r>
          </a:p>
          <a:p>
            <a:r>
              <a:rPr lang="en-US" sz="1800" dirty="0"/>
              <a:t>Moderate Regulation: They advocate for sensible regulation to protect consumers, workers, and the environment without stifling economic growth and innovation.</a:t>
            </a:r>
          </a:p>
          <a:p>
            <a:r>
              <a:rPr lang="en-US" sz="1800" dirty="0"/>
              <a:t>Fiscal Responsibility: Emphasis on maintaining balanced budgets and reducing national debt, often supporting moderate taxation and prudent public spending.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Continued slide</a:t>
            </a:r>
          </a:p>
        </p:txBody>
      </p:sp>
      <p:sp>
        <p:nvSpPr>
          <p:cNvPr id="3" name="Content Placeholder 2"/>
          <p:cNvSpPr>
            <a:spLocks noGrp="1"/>
          </p:cNvSpPr>
          <p:nvPr>
            <p:ph idx="1"/>
          </p:nvPr>
        </p:nvSpPr>
        <p:spPr/>
        <p:txBody>
          <a:bodyPr/>
          <a:lstStyle/>
          <a:p>
            <a:r>
              <a:rPr lang="en-US" sz="1800" b="1" u="sng" dirty="0"/>
              <a:t>b) Social Policies:</a:t>
            </a:r>
            <a:br>
              <a:rPr lang="en-US" sz="1800" b="1" u="sng" dirty="0"/>
            </a:br>
            <a:endParaRPr lang="en-US" sz="1800" b="1" u="sng" dirty="0"/>
          </a:p>
          <a:p>
            <a:r>
              <a:rPr lang="en-US" sz="1800" dirty="0"/>
              <a:t>Centrists aim to promote social justice and equality but tend to favor gradual, incremental reforms over radical changes.</a:t>
            </a:r>
          </a:p>
          <a:p>
            <a:r>
              <a:rPr lang="en-US" sz="1800" dirty="0"/>
              <a:t>They seek to balance individual freedoms with the collective good, supporting policies that protect civil liberties while ensuring social cohesion.</a:t>
            </a:r>
          </a:p>
          <a:p>
            <a:r>
              <a:rPr lang="en-US" sz="1800" dirty="0"/>
              <a:t>Centrists often take moderate positions on contentious social issues, striving for compromise and consensus to avoid polarization.</a:t>
            </a:r>
            <a:br>
              <a:rPr lang="en-US" sz="1800" dirty="0"/>
            </a:br>
            <a:endParaRPr lang="en-US" sz="1800" dirty="0"/>
          </a:p>
          <a:p>
            <a:r>
              <a:rPr lang="en-US" sz="1800" u="sng" dirty="0"/>
              <a:t>c) Government and Governance:</a:t>
            </a:r>
            <a:br>
              <a:rPr lang="en-US" sz="1800" u="sng" dirty="0"/>
            </a:br>
            <a:endParaRPr lang="en-US" sz="1800" u="sng" dirty="0"/>
          </a:p>
          <a:p>
            <a:r>
              <a:rPr lang="en-US" sz="1800" dirty="0"/>
              <a:t>Centrists prioritize cooperation and compromise across party lines to achieve practical solutions to national problems.</a:t>
            </a:r>
          </a:p>
          <a:p>
            <a:r>
              <a:rPr lang="en-US" sz="1800" dirty="0"/>
              <a:t>Support for maintaining and strengthening democratic institutions and the rule of law, ensuring they function effectively and fairly.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Centrist in Pakistan</a:t>
            </a:r>
          </a:p>
        </p:txBody>
      </p:sp>
      <p:sp>
        <p:nvSpPr>
          <p:cNvPr id="3" name="Content Placeholder 2"/>
          <p:cNvSpPr>
            <a:spLocks noGrp="1"/>
          </p:cNvSpPr>
          <p:nvPr>
            <p:ph idx="1"/>
          </p:nvPr>
        </p:nvSpPr>
        <p:spPr>
          <a:xfrm>
            <a:off x="457200" y="1174750"/>
            <a:ext cx="8229600" cy="5556250"/>
          </a:xfrm>
        </p:spPr>
        <p:txBody>
          <a:bodyPr/>
          <a:lstStyle/>
          <a:p>
            <a:r>
              <a:rPr lang="en-US" sz="2400" dirty="0"/>
              <a:t>1. </a:t>
            </a:r>
            <a:r>
              <a:rPr lang="en-US" sz="2400" b="1" dirty="0" err="1"/>
              <a:t>Muttahida</a:t>
            </a:r>
            <a:r>
              <a:rPr lang="en-US" sz="2400" b="1" dirty="0"/>
              <a:t> </a:t>
            </a:r>
            <a:r>
              <a:rPr lang="en-US" sz="2400" b="1" dirty="0" err="1"/>
              <a:t>Qaumi</a:t>
            </a:r>
            <a:r>
              <a:rPr lang="en-US" sz="2400" b="1" dirty="0"/>
              <a:t> Movement (MQM): </a:t>
            </a:r>
            <a:r>
              <a:rPr lang="en-US" sz="2400" dirty="0"/>
              <a:t/>
            </a:r>
            <a:br>
              <a:rPr lang="en-US" sz="2400" dirty="0"/>
            </a:br>
            <a:r>
              <a:rPr lang="en-US" sz="2400" dirty="0"/>
              <a:t/>
            </a:r>
            <a:br>
              <a:rPr lang="en-US" sz="2400" dirty="0"/>
            </a:br>
            <a:r>
              <a:rPr lang="en-US" sz="2400" dirty="0"/>
              <a:t>Initially a party representing the interests of </a:t>
            </a:r>
            <a:r>
              <a:rPr lang="en-US" sz="2400" dirty="0" err="1"/>
              <a:t>Muhajirs</a:t>
            </a:r>
            <a:r>
              <a:rPr lang="en-US" sz="2400" dirty="0"/>
              <a:t> (immigrants from India after partition), MQM has evolved to adopt centrist policies, advocating for urban development, secularism, and middle-class interests. The party promotes a blend of liberal economic policies and social justice.</a:t>
            </a:r>
          </a:p>
          <a:p>
            <a:endParaRPr lang="en-US" sz="2400" dirty="0"/>
          </a:p>
          <a:p>
            <a:r>
              <a:rPr lang="en-US" sz="2400" b="1" dirty="0"/>
              <a:t>2. Pakistan Muslim League (Quaid-e-</a:t>
            </a:r>
            <a:r>
              <a:rPr lang="en-US" sz="2400" b="1" dirty="0" err="1"/>
              <a:t>Azam</a:t>
            </a:r>
            <a:r>
              <a:rPr lang="en-US" sz="2400" b="1" dirty="0"/>
              <a:t>) [PML-Q]: </a:t>
            </a:r>
            <a:r>
              <a:rPr lang="en-US" sz="2400" dirty="0"/>
              <a:t/>
            </a:r>
            <a:br>
              <a:rPr lang="en-US" sz="2400" dirty="0"/>
            </a:br>
            <a:r>
              <a:rPr lang="en-US" sz="2400" dirty="0"/>
              <a:t/>
            </a:r>
            <a:br>
              <a:rPr lang="en-US" sz="2400" dirty="0"/>
            </a:br>
            <a:r>
              <a:rPr lang="en-US" sz="2400" dirty="0"/>
              <a:t>A splinter group from PML-N, PML-Q tends to adopt centrist policies, focusing on pragmatic governance, economic development, and moderate social policies.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Ethnic and Regional Parties in Pakistan</a:t>
            </a:r>
            <a:br>
              <a:rPr lang="en-US" dirty="0"/>
            </a:br>
            <a:endParaRPr lang="en-US" dirty="0"/>
          </a:p>
        </p:txBody>
      </p:sp>
      <p:sp>
        <p:nvSpPr>
          <p:cNvPr id="3" name="Content Placeholder 2"/>
          <p:cNvSpPr>
            <a:spLocks noGrp="1"/>
          </p:cNvSpPr>
          <p:nvPr>
            <p:ph idx="1"/>
          </p:nvPr>
        </p:nvSpPr>
        <p:spPr/>
        <p:txBody>
          <a:bodyPr/>
          <a:lstStyle/>
          <a:p>
            <a:endParaRPr lang="en-US" sz="2800" dirty="0"/>
          </a:p>
          <a:p>
            <a:r>
              <a:rPr lang="en-US" sz="2800" dirty="0"/>
              <a:t>1. </a:t>
            </a:r>
            <a:r>
              <a:rPr lang="en-US" sz="2800" b="1" dirty="0" err="1"/>
              <a:t>Balochistan</a:t>
            </a:r>
            <a:r>
              <a:rPr lang="en-US" sz="2800" b="1" dirty="0"/>
              <a:t> National Party (BNP): </a:t>
            </a:r>
            <a:r>
              <a:rPr lang="en-US" sz="2800" dirty="0"/>
              <a:t>This party advocates for the rights and autonomy of the </a:t>
            </a:r>
            <a:r>
              <a:rPr lang="en-US" sz="2800" dirty="0" err="1"/>
              <a:t>Baloch</a:t>
            </a:r>
            <a:r>
              <a:rPr lang="en-US" sz="2800" dirty="0"/>
              <a:t> people, focusing on issues like provincial autonomy, resource control, and cultural preservation.</a:t>
            </a:r>
            <a:br>
              <a:rPr lang="en-US" sz="2800" dirty="0"/>
            </a:br>
            <a:endParaRPr lang="en-US" sz="2800" dirty="0"/>
          </a:p>
          <a:p>
            <a:r>
              <a:rPr lang="en-US" sz="2800" b="1" dirty="0" smtClean="0"/>
              <a:t>2. </a:t>
            </a:r>
            <a:r>
              <a:rPr lang="en-US" sz="2800" b="1" dirty="0" err="1" smtClean="0"/>
              <a:t>Pakhtunkhwa</a:t>
            </a:r>
            <a:r>
              <a:rPr lang="en-US" sz="2800" b="1" dirty="0" smtClean="0"/>
              <a:t> </a:t>
            </a:r>
            <a:r>
              <a:rPr lang="en-US" sz="2800" b="1" dirty="0" err="1"/>
              <a:t>Milli</a:t>
            </a:r>
            <a:r>
              <a:rPr lang="en-US" sz="2800" b="1" dirty="0"/>
              <a:t> </a:t>
            </a:r>
            <a:r>
              <a:rPr lang="en-US" sz="2800" b="1" dirty="0" err="1"/>
              <a:t>Awami</a:t>
            </a:r>
            <a:r>
              <a:rPr lang="en-US" sz="2800" b="1" dirty="0"/>
              <a:t> Party (</a:t>
            </a:r>
            <a:r>
              <a:rPr lang="en-US" sz="2800" b="1" dirty="0" err="1"/>
              <a:t>PkMAP</a:t>
            </a:r>
            <a:r>
              <a:rPr lang="en-US" sz="2800" b="1" dirty="0"/>
              <a:t>): </a:t>
            </a:r>
            <a:r>
              <a:rPr lang="en-US" sz="2800" dirty="0" err="1"/>
              <a:t>PkMAP</a:t>
            </a:r>
            <a:r>
              <a:rPr lang="en-US" sz="2800" dirty="0"/>
              <a:t> promotes the interests of the Pashtun population, emphasizing provincial rights, cultural preservation, and democratic governance.</a:t>
            </a:r>
          </a:p>
          <a:p>
            <a:endParaRPr lang="en-US" dirty="0"/>
          </a:p>
        </p:txBody>
      </p:sp>
    </p:spTree>
    <p:extLst>
      <p:ext uri="{BB962C8B-B14F-4D97-AF65-F5344CB8AC3E}">
        <p14:creationId xmlns:p14="http://schemas.microsoft.com/office/powerpoint/2010/main" val="1967416630"/>
      </p:ext>
    </p:extLst>
  </p:cSld>
  <p:clrMapOvr>
    <a:masterClrMapping/>
  </p:clrMapOvr>
</p:sld>
</file>

<file path=ppt/theme/theme1.xml><?xml version="1.0" encoding="utf-8"?>
<a:theme xmlns:a="http://schemas.openxmlformats.org/drawingml/2006/main" name="Data Pie Charts">
  <a:themeElements>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Data Pie Chart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Data Pie Char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ta Pie Char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ta Pie Char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ta Pie Char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ta Pie Char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ta Pie Char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ta Pie Char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ta Pie Char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ta Pie Char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ta Pie Char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ta Pie Char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ta Pie Char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5E1B92BA41E944B973FA5834FD04C8" ma:contentTypeVersion="7" ma:contentTypeDescription="Create a new document." ma:contentTypeScope="" ma:versionID="1b38b069734ef9489dcbb789a885aebb">
  <xsd:schema xmlns:xsd="http://www.w3.org/2001/XMLSchema" xmlns:xs="http://www.w3.org/2001/XMLSchema" xmlns:p="http://schemas.microsoft.com/office/2006/metadata/properties" xmlns:ns2="e564586d-5d80-455b-a1c7-db0629daa30a" targetNamespace="http://schemas.microsoft.com/office/2006/metadata/properties" ma:root="true" ma:fieldsID="87579b98c1197177159376d4e71f7b63" ns2:_="">
    <xsd:import namespace="e564586d-5d80-455b-a1c7-db0629daa30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64586d-5d80-455b-a1c7-db0629daa3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15033BB-4B74-4A02-A158-65522F3DBB8C}"/>
</file>

<file path=customXml/itemProps2.xml><?xml version="1.0" encoding="utf-8"?>
<ds:datastoreItem xmlns:ds="http://schemas.openxmlformats.org/officeDocument/2006/customXml" ds:itemID="{F878D44E-3C64-403B-8F55-58FA62A8E84A}"/>
</file>

<file path=customXml/itemProps3.xml><?xml version="1.0" encoding="utf-8"?>
<ds:datastoreItem xmlns:ds="http://schemas.openxmlformats.org/officeDocument/2006/customXml" ds:itemID="{8F5C0B24-159E-443D-8A9B-72825D621EFB}"/>
</file>

<file path=docProps/app.xml><?xml version="1.0" encoding="utf-8"?>
<Properties xmlns="http://schemas.openxmlformats.org/officeDocument/2006/extended-properties" xmlns:vt="http://schemas.openxmlformats.org/officeDocument/2006/docPropsVTypes">
  <TotalTime>40</TotalTime>
  <Words>645</Words>
  <Application>Microsoft Office PowerPoint</Application>
  <PresentationFormat>On-screen Show (4:3)</PresentationFormat>
  <Paragraphs>104</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SimSun</vt:lpstr>
      <vt:lpstr>Arial</vt:lpstr>
      <vt:lpstr>Calibri</vt:lpstr>
      <vt:lpstr>Data Pie Charts</vt:lpstr>
      <vt:lpstr> </vt:lpstr>
      <vt:lpstr>Role of Political Parties in State Functioning/ Democracy</vt:lpstr>
      <vt:lpstr>PowerPoint Presentation</vt:lpstr>
      <vt:lpstr>PowerPoint Presentation</vt:lpstr>
      <vt:lpstr>PowerPoint Presentation</vt:lpstr>
      <vt:lpstr>PowerPoint Presentation</vt:lpstr>
      <vt:lpstr>PowerPoint Presentation</vt:lpstr>
      <vt:lpstr>PowerPoint Presentation</vt:lpstr>
      <vt:lpstr> Political Parties of Pakistan</vt:lpstr>
      <vt:lpstr>Con; description of Right-wing</vt:lpstr>
      <vt:lpstr>Right-Wing Parties in Pakistan</vt:lpstr>
      <vt:lpstr>PowerPoint Presentation</vt:lpstr>
      <vt:lpstr>Description of Left-Wing</vt:lpstr>
      <vt:lpstr>Con...</vt:lpstr>
      <vt:lpstr>Left-Wing Parties in Pakistan</vt:lpstr>
      <vt:lpstr>PowerPoint Presentation</vt:lpstr>
      <vt:lpstr>Centrist Parties</vt:lpstr>
      <vt:lpstr>Continued slide</vt:lpstr>
      <vt:lpstr>Centrist in Pakistan</vt:lpstr>
      <vt:lpstr>Ethnic and Regional Parties in Pakistan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COLD WAR</dc:title>
  <dc:creator>Windows User</dc:creator>
  <cp:lastModifiedBy>Hp Elitebook Revolve</cp:lastModifiedBy>
  <cp:revision>23</cp:revision>
  <dcterms:created xsi:type="dcterms:W3CDTF">2020-04-10T12:30:00Z</dcterms:created>
  <dcterms:modified xsi:type="dcterms:W3CDTF">2026-05-31T15:40:22Z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862E583309284F62AD1EEE8EC4398450_12</vt:lpwstr>
  </property>
  <property fmtid="{D5CDD505-2E9C-101B-9397-08002B2CF9AE}" pid="3" name="KSOProductBuildVer">
    <vt:lpwstr>1033-12.2.0.17119</vt:lpwstr>
  </property>
  <property fmtid="{D5CDD505-2E9C-101B-9397-08002B2CF9AE}" pid="4" name="ContentTypeId">
    <vt:lpwstr>0x010100DD5E1B92BA41E944B973FA5834FD04C8</vt:lpwstr>
  </property>
</Properties>
</file>