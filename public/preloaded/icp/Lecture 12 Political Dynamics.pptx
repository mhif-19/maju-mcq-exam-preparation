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9"/>
  </p:notesMasterIdLst>
  <p:handoutMasterIdLst>
    <p:handoutMasterId r:id="rId40"/>
  </p:handoutMasterIdLst>
  <p:sldIdLst>
    <p:sldId id="282" r:id="rId5"/>
    <p:sldId id="328" r:id="rId6"/>
    <p:sldId id="329" r:id="rId7"/>
    <p:sldId id="330"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31" autoAdjust="0"/>
  </p:normalViewPr>
  <p:slideViewPr>
    <p:cSldViewPr snapToGrid="0">
      <p:cViewPr varScale="1">
        <p:scale>
          <a:sx n="74" d="100"/>
          <a:sy n="74" d="100"/>
        </p:scale>
        <p:origin x="576" y="7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0" d="100"/>
          <a:sy n="60" d="100"/>
        </p:scale>
        <p:origin x="2424"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5/31/2026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5/31/2026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1</a:t>
            </a:fld>
            <a:endParaRPr lang="en-US" noProof="0" dirty="0"/>
          </a:p>
        </p:txBody>
      </p:sp>
    </p:spTree>
    <p:extLst>
      <p:ext uri="{BB962C8B-B14F-4D97-AF65-F5344CB8AC3E}">
        <p14:creationId xmlns:p14="http://schemas.microsoft.com/office/powerpoint/2010/main" val="386151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Small Image">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xmlns="" id="{837F9836-5B23-424D-8C60-AC02A8512A4B}"/>
              </a:ext>
            </a:extLst>
          </p:cNvPr>
          <p:cNvSpPr>
            <a:spLocks noGrp="1"/>
          </p:cNvSpPr>
          <p:nvPr>
            <p:ph type="pic" sz="quarter" idx="13" hasCustomPrompt="1"/>
          </p:nvPr>
        </p:nvSpPr>
        <p:spPr>
          <a:xfrm>
            <a:off x="9980476" y="0"/>
            <a:ext cx="2211524" cy="6858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tx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xmlns="" id="{C9980B88-3F4A-4688-9ED0-17EF37E62D93}"/>
              </a:ext>
            </a:extLst>
          </p:cNvPr>
          <p:cNvSpPr>
            <a:spLocks noGrp="1"/>
          </p:cNvSpPr>
          <p:nvPr>
            <p:ph type="subTitle" idx="1"/>
          </p:nvPr>
        </p:nvSpPr>
        <p:spPr>
          <a:xfrm>
            <a:off x="7311904" y="4650539"/>
            <a:ext cx="3401478" cy="1192038"/>
          </a:xfrm>
          <a:solidFill>
            <a:schemeClr val="tx1"/>
          </a:solidFill>
        </p:spPr>
        <p:txBody>
          <a:bodyPr lIns="252000" tIns="0" anchor="ctr"/>
          <a:lstStyle>
            <a:lvl1pPr marL="0" indent="0" algn="l">
              <a:lnSpc>
                <a:spcPct val="100000"/>
              </a:lnSpc>
              <a:buNone/>
              <a:defRPr sz="1800" i="1">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xmlns=""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xmlns=""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bwMode="auto">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554ED587-2D2F-4D3F-B55B-C64465AB4EC5}"/>
              </a:ext>
            </a:extLst>
          </p:cNvPr>
          <p:cNvSpPr/>
          <p:nvPr userDrawn="1"/>
        </p:nvSpPr>
        <p:spPr>
          <a:xfrm>
            <a:off x="69274" y="66963"/>
            <a:ext cx="9911201" cy="67273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xmlns=""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xmlns=""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xmlns=""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218115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Large Image">
    <p:bg>
      <p:bgPr>
        <a:solidFill>
          <a:schemeClr val="bg1"/>
        </a:solidFill>
        <a:effectLst/>
      </p:bgPr>
    </p:bg>
    <p:spTree>
      <p:nvGrpSpPr>
        <p:cNvPr id="1" name=""/>
        <p:cNvGrpSpPr/>
        <p:nvPr/>
      </p:nvGrpSpPr>
      <p:grpSpPr>
        <a:xfrm>
          <a:off x="0" y="0"/>
          <a:ext cx="0" cy="0"/>
          <a:chOff x="0" y="0"/>
          <a:chExt cx="0" cy="0"/>
        </a:xfrm>
      </p:grpSpPr>
      <p:sp>
        <p:nvSpPr>
          <p:cNvPr id="9" name="Picture Placeholder 1">
            <a:extLst>
              <a:ext uri="{FF2B5EF4-FFF2-40B4-BE49-F238E27FC236}">
                <a16:creationId xmlns:a16="http://schemas.microsoft.com/office/drawing/2014/main" xmlns="" id="{069FFAE5-B16E-4571-88F7-52FA5354B1A1}"/>
              </a:ext>
            </a:extLst>
          </p:cNvPr>
          <p:cNvSpPr>
            <a:spLocks noGrp="1"/>
          </p:cNvSpPr>
          <p:nvPr>
            <p:ph type="pic" sz="quarter" idx="13" hasCustomPrompt="1"/>
          </p:nvPr>
        </p:nvSpPr>
        <p:spPr>
          <a:xfrm>
            <a:off x="69273" y="63691"/>
            <a:ext cx="9911201" cy="6727346"/>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286990" y="4346296"/>
            <a:ext cx="6798250" cy="1674470"/>
          </a:xfrm>
        </p:spPr>
        <p:txBody>
          <a:bodyPr anchor="b"/>
          <a:lstStyle>
            <a:lvl1pPr algn="r">
              <a:lnSpc>
                <a:spcPts val="5000"/>
              </a:lnSpc>
              <a:defRPr sz="6000" b="1" cap="all" spc="-300" baseline="0">
                <a:solidFill>
                  <a:schemeClr val="bg1"/>
                </a:solidFill>
                <a:latin typeface="+mj-lt"/>
              </a:defRPr>
            </a:lvl1pPr>
          </a:lstStyle>
          <a:p>
            <a:r>
              <a:rPr lang="en-US" noProof="0"/>
              <a:t>PRESENTATION TITLE</a:t>
            </a:r>
          </a:p>
        </p:txBody>
      </p:sp>
      <p:sp>
        <p:nvSpPr>
          <p:cNvPr id="3" name="Subtitle 2">
            <a:extLst>
              <a:ext uri="{FF2B5EF4-FFF2-40B4-BE49-F238E27FC236}">
                <a16:creationId xmlns:a16="http://schemas.microsoft.com/office/drawing/2014/main" xmlns="" id="{C9980B88-3F4A-4688-9ED0-17EF37E62D93}"/>
              </a:ext>
            </a:extLst>
          </p:cNvPr>
          <p:cNvSpPr>
            <a:spLocks noGrp="1"/>
          </p:cNvSpPr>
          <p:nvPr>
            <p:ph type="subTitle" idx="1"/>
          </p:nvPr>
        </p:nvSpPr>
        <p:spPr>
          <a:xfrm>
            <a:off x="7326418" y="4650539"/>
            <a:ext cx="2456210"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7" name="Rectangle 6">
            <a:extLst>
              <a:ext uri="{FF2B5EF4-FFF2-40B4-BE49-F238E27FC236}">
                <a16:creationId xmlns:a16="http://schemas.microsoft.com/office/drawing/2014/main" xmlns="" id="{756F2950-BBCB-4A53-9EAC-D714777B8FA2}"/>
              </a:ext>
            </a:extLst>
          </p:cNvPr>
          <p:cNvSpPr/>
          <p:nvPr userDrawn="1"/>
        </p:nvSpPr>
        <p:spPr>
          <a:xfrm>
            <a:off x="0" y="6794309"/>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D5253865-24CF-4EF5-92A5-F64EB9ABC8B7}"/>
              </a:ext>
            </a:extLst>
          </p:cNvPr>
          <p:cNvSpPr/>
          <p:nvPr userDrawn="1"/>
        </p:nvSpPr>
        <p:spPr>
          <a:xfrm>
            <a:off x="0" y="0"/>
            <a:ext cx="9980476" cy="63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xmlns="" id="{BBE19773-9B6A-4A2C-95A5-69A3788C2D94}"/>
              </a:ext>
            </a:extLst>
          </p:cNvPr>
          <p:cNvSpPr/>
          <p:nvPr userDrawn="1"/>
        </p:nvSpPr>
        <p:spPr>
          <a:xfrm rot="5400000">
            <a:off x="-3378441" y="3410285"/>
            <a:ext cx="6826157" cy="69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xmlns="" id="{E798A99C-9485-48F0-8E1E-227AD1348A45}"/>
              </a:ext>
            </a:extLst>
          </p:cNvPr>
          <p:cNvSpPr>
            <a:spLocks noGrp="1"/>
          </p:cNvSpPr>
          <p:nvPr>
            <p:ph type="sldNum" sz="quarter" idx="11"/>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4094738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
            <a:extLst>
              <a:ext uri="{FF2B5EF4-FFF2-40B4-BE49-F238E27FC236}">
                <a16:creationId xmlns:a16="http://schemas.microsoft.com/office/drawing/2014/main" xmlns="" id="{1599E2D7-24B3-4D66-9AFB-83C1AEC4DBBB}"/>
              </a:ext>
            </a:extLst>
          </p:cNvPr>
          <p:cNvSpPr>
            <a:spLocks noGrp="1"/>
          </p:cNvSpPr>
          <p:nvPr>
            <p:ph type="pic" sz="quarter" idx="33" hasCustomPrompt="1"/>
          </p:nvPr>
        </p:nvSpPr>
        <p:spPr>
          <a:xfrm>
            <a:off x="9980476" y="0"/>
            <a:ext cx="2211524" cy="6192000"/>
          </a:xfrm>
          <a:solidFill>
            <a:schemeClr val="bg1">
              <a:lumMod val="95000"/>
            </a:schemeClr>
          </a:solidFill>
        </p:spPr>
        <p:txBody>
          <a:bodyPr anchor="ctr"/>
          <a:lstStyle>
            <a:lvl1pPr marL="0" indent="0" algn="ctr">
              <a:buNone/>
              <a:defRPr sz="1200" i="1">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2" name="Title 1">
            <a:extLst>
              <a:ext uri="{FF2B5EF4-FFF2-40B4-BE49-F238E27FC236}">
                <a16:creationId xmlns:a16="http://schemas.microsoft.com/office/drawing/2014/main" xmlns="" id="{40EE479C-D1F6-4BAC-80D2-90EF74E3261A}"/>
              </a:ext>
            </a:extLst>
          </p:cNvPr>
          <p:cNvSpPr>
            <a:spLocks noGrp="1"/>
          </p:cNvSpPr>
          <p:nvPr>
            <p:ph type="title" hasCustomPrompt="1"/>
          </p:nvPr>
        </p:nvSpPr>
        <p:spPr>
          <a:xfrm>
            <a:off x="4445086" y="1807950"/>
            <a:ext cx="5184913" cy="432000"/>
          </a:xfrm>
        </p:spPr>
        <p:txBody>
          <a:bodyPr/>
          <a:lstStyle>
            <a:lvl1pPr algn="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xmlns="" id="{3FAEED1D-0E66-4F74-9455-675F5CB7EAD4}"/>
              </a:ext>
            </a:extLst>
          </p:cNvPr>
          <p:cNvSpPr>
            <a:spLocks noGrp="1"/>
          </p:cNvSpPr>
          <p:nvPr>
            <p:ph type="body" sz="quarter" idx="32" hasCustomPrompt="1"/>
          </p:nvPr>
        </p:nvSpPr>
        <p:spPr>
          <a:xfrm>
            <a:off x="4444886" y="2383950"/>
            <a:ext cx="5184913" cy="360000"/>
          </a:xfrm>
        </p:spPr>
        <p:txBody>
          <a:bodyPr/>
          <a:lstStyle>
            <a:lvl1pPr marL="0" indent="0" algn="r">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hasCustomPrompt="1"/>
          </p:nvPr>
        </p:nvSpPr>
        <p:spPr>
          <a:xfrm>
            <a:off x="4445000" y="2908300"/>
            <a:ext cx="5184800" cy="3283700"/>
          </a:xfrm>
          <a:solidFill>
            <a:schemeClr val="bg1"/>
          </a:solidFill>
        </p:spPr>
        <p:txBody>
          <a:bodyPr lIns="180000" tIns="252000" rIns="252000"/>
          <a:lstStyle>
            <a:lvl1pPr algn="l">
              <a:defRPr>
                <a:solidFill>
                  <a:schemeClr val="tx1">
                    <a:lumMod val="75000"/>
                    <a:lumOff val="25000"/>
                  </a:schemeClr>
                </a:solidFill>
              </a:defRPr>
            </a:lvl1pPr>
            <a:lvl2pPr algn="l">
              <a:defRPr>
                <a:solidFill>
                  <a:schemeClr val="tx1">
                    <a:lumMod val="75000"/>
                    <a:lumOff val="25000"/>
                  </a:schemeClr>
                </a:solidFill>
              </a:defRPr>
            </a:lvl2pPr>
            <a:lvl3pPr algn="l">
              <a:defRPr>
                <a:solidFill>
                  <a:schemeClr val="tx1">
                    <a:lumMod val="75000"/>
                    <a:lumOff val="25000"/>
                  </a:schemeClr>
                </a:solidFill>
              </a:defRPr>
            </a:lvl3pPr>
            <a:lvl4pPr algn="l">
              <a:defRPr>
                <a:solidFill>
                  <a:schemeClr val="tx1">
                    <a:lumMod val="75000"/>
                    <a:lumOff val="25000"/>
                  </a:schemeClr>
                </a:solidFill>
              </a:defRPr>
            </a:lvl4pPr>
            <a:lvl5pPr algn="l">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hasCustomPrompt="1"/>
          </p:nvPr>
        </p:nvSpPr>
        <p:spPr>
          <a:xfrm>
            <a:off x="3823393" y="1343906"/>
            <a:ext cx="3736800" cy="3933645"/>
          </a:xfrm>
          <a:solidFill>
            <a:schemeClr val="bg1"/>
          </a:solidFill>
        </p:spPr>
        <p:txBody>
          <a:bodyPr lIns="180000" tIns="180000" rIns="18000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53DA1E79-BA17-41C5-98B7-CFBC5859A512}"/>
              </a:ext>
            </a:extLst>
          </p:cNvPr>
          <p:cNvSpPr>
            <a:spLocks noGrp="1"/>
          </p:cNvSpPr>
          <p:nvPr>
            <p:ph type="sldNum" sz="quarter" idx="34"/>
          </p:nvPr>
        </p:nvSpPr>
        <p:spPr/>
        <p:txBody>
          <a:bodyPr/>
          <a:lstStyle/>
          <a:p>
            <a:fld id="{19B51A1E-902D-48AF-9020-955120F399B6}" type="slidenum">
              <a:rPr lang="en-US" noProof="0" smtClean="0"/>
              <a:pPr/>
              <a:t>‹#›</a:t>
            </a:fld>
            <a:endParaRPr lang="en-US" noProof="0" dirty="0"/>
          </a:p>
        </p:txBody>
      </p:sp>
      <p:sp>
        <p:nvSpPr>
          <p:cNvPr id="9" name="Picture Placeholder 6">
            <a:extLst>
              <a:ext uri="{FF2B5EF4-FFF2-40B4-BE49-F238E27FC236}">
                <a16:creationId xmlns:a16="http://schemas.microsoft.com/office/drawing/2014/main" xmlns="" id="{492C2A1D-F7BD-46B6-BC01-15D365ACD50B}"/>
              </a:ext>
            </a:extLst>
          </p:cNvPr>
          <p:cNvSpPr>
            <a:spLocks noGrp="1"/>
          </p:cNvSpPr>
          <p:nvPr>
            <p:ph type="pic" sz="quarter" idx="14" hasCustomPrompt="1"/>
          </p:nvPr>
        </p:nvSpPr>
        <p:spPr>
          <a:xfrm>
            <a:off x="7560193" y="1344803"/>
            <a:ext cx="3737526" cy="3933645"/>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6" name="Title 5">
            <a:extLst>
              <a:ext uri="{FF2B5EF4-FFF2-40B4-BE49-F238E27FC236}">
                <a16:creationId xmlns:a16="http://schemas.microsoft.com/office/drawing/2014/main" xmlns="" id="{7F4F1543-153D-4F77-A4A9-C9BBA1C2052E}"/>
              </a:ext>
            </a:extLst>
          </p:cNvPr>
          <p:cNvSpPr>
            <a:spLocks noGrp="1"/>
          </p:cNvSpPr>
          <p:nvPr>
            <p:ph type="title"/>
          </p:nvPr>
        </p:nvSpPr>
        <p:spPr>
          <a:xfrm>
            <a:off x="432000" y="432000"/>
            <a:ext cx="9131100" cy="432000"/>
          </a:xfrm>
        </p:spPr>
        <p:txBody>
          <a:bodyPr/>
          <a:lstStyle/>
          <a:p>
            <a:r>
              <a:rPr lang="en-US" noProof="0" smtClean="0"/>
              <a:t>Click to edit Master title style</a:t>
            </a:r>
            <a:endParaRPr lang="en-US" noProof="0"/>
          </a:p>
        </p:txBody>
      </p:sp>
      <p:sp>
        <p:nvSpPr>
          <p:cNvPr id="11" name="Subtitle 2">
            <a:extLst>
              <a:ext uri="{FF2B5EF4-FFF2-40B4-BE49-F238E27FC236}">
                <a16:creationId xmlns:a16="http://schemas.microsoft.com/office/drawing/2014/main" xmlns="" id="{9FAA210E-391A-499A-89D5-F222045FD1A4}"/>
              </a:ext>
            </a:extLst>
          </p:cNvPr>
          <p:cNvSpPr>
            <a:spLocks noGrp="1"/>
          </p:cNvSpPr>
          <p:nvPr>
            <p:ph type="body" sz="quarter" idx="32" hasCustomPrompt="1"/>
          </p:nvPr>
        </p:nvSpPr>
        <p:spPr>
          <a:xfrm>
            <a:off x="431800" y="1008000"/>
            <a:ext cx="68959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234719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xmlns="" id="{E4633398-8EC3-417B-BEA6-101D8F224678}"/>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mparison Left Placeholder 1">
            <a:extLst>
              <a:ext uri="{FF2B5EF4-FFF2-40B4-BE49-F238E27FC236}">
                <a16:creationId xmlns:a16="http://schemas.microsoft.com/office/drawing/2014/main" xmlns="" id="{9322B50D-6A7D-41C6-BA57-613BC231DF36}"/>
              </a:ext>
            </a:extLst>
          </p:cNvPr>
          <p:cNvSpPr>
            <a:spLocks noGrp="1"/>
          </p:cNvSpPr>
          <p:nvPr>
            <p:ph type="body" idx="1" hasCustomPrompt="1"/>
          </p:nvPr>
        </p:nvSpPr>
        <p:spPr>
          <a:xfrm>
            <a:off x="432000" y="1432296"/>
            <a:ext cx="4500000" cy="527076"/>
          </a:xfrm>
          <a:solidFill>
            <a:schemeClr val="tx1"/>
          </a:solidFill>
        </p:spPr>
        <p:txBody>
          <a:bodyPr lIns="180000" tIns="36000" anchor="ctr"/>
          <a:lstStyle>
            <a:lvl1pPr marL="0" indent="0">
              <a:buNone/>
              <a:defRPr sz="2400" b="1" spc="-150">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2">
            <a:extLst>
              <a:ext uri="{FF2B5EF4-FFF2-40B4-BE49-F238E27FC236}">
                <a16:creationId xmlns:a16="http://schemas.microsoft.com/office/drawing/2014/main" xmlns="" id="{9FD584DA-F775-47B8-A1D7-6556AD5FCBD2}"/>
              </a:ext>
            </a:extLst>
          </p:cNvPr>
          <p:cNvSpPr>
            <a:spLocks noGrp="1"/>
          </p:cNvSpPr>
          <p:nvPr>
            <p:ph sz="half" idx="2" hasCustomPrompt="1"/>
          </p:nvPr>
        </p:nvSpPr>
        <p:spPr>
          <a:xfrm>
            <a:off x="432000" y="2023668"/>
            <a:ext cx="4500000" cy="416833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mparison Left Placeholder 2">
            <a:extLst>
              <a:ext uri="{FF2B5EF4-FFF2-40B4-BE49-F238E27FC236}">
                <a16:creationId xmlns:a16="http://schemas.microsoft.com/office/drawing/2014/main" xmlns="" id="{78A963F8-6F6E-440E-B3B3-DDE13C083A36}"/>
              </a:ext>
            </a:extLst>
          </p:cNvPr>
          <p:cNvSpPr>
            <a:spLocks noGrp="1"/>
          </p:cNvSpPr>
          <p:nvPr>
            <p:ph type="body" sz="quarter" idx="13" hasCustomPrompt="1"/>
          </p:nvPr>
        </p:nvSpPr>
        <p:spPr>
          <a:xfrm>
            <a:off x="5129800" y="1433105"/>
            <a:ext cx="4500000" cy="525283"/>
          </a:xfrm>
          <a:solidFill>
            <a:schemeClr val="tx1"/>
          </a:solidFill>
        </p:spPr>
        <p:txBody>
          <a:bodyPr lIns="180000" tIns="36000" anchor="ctr"/>
          <a:lstStyle>
            <a:lvl1pPr marL="0" indent="0">
              <a:buNone/>
              <a:defRPr sz="2400" b="1" spc="-150">
                <a:solidFill>
                  <a:schemeClr val="bg1"/>
                </a:solidFill>
                <a:latin typeface="+mj-lt"/>
              </a:defRPr>
            </a:lvl1pPr>
          </a:lstStyle>
          <a:p>
            <a:pPr lvl="0"/>
            <a:r>
              <a:rPr lang="en-US" noProof="0"/>
              <a:t>Edit Master text styles</a:t>
            </a:r>
          </a:p>
        </p:txBody>
      </p:sp>
      <p:sp>
        <p:nvSpPr>
          <p:cNvPr id="8" name="Text Placeholder 4">
            <a:extLst>
              <a:ext uri="{FF2B5EF4-FFF2-40B4-BE49-F238E27FC236}">
                <a16:creationId xmlns:a16="http://schemas.microsoft.com/office/drawing/2014/main" xmlns="" id="{DF0A5256-B267-47DA-858A-0F3867CB6139}"/>
              </a:ext>
            </a:extLst>
          </p:cNvPr>
          <p:cNvSpPr>
            <a:spLocks noGrp="1"/>
          </p:cNvSpPr>
          <p:nvPr>
            <p:ph type="body" sz="quarter" idx="12" hasCustomPrompt="1"/>
          </p:nvPr>
        </p:nvSpPr>
        <p:spPr>
          <a:xfrm>
            <a:off x="5129800" y="2020359"/>
            <a:ext cx="4500000" cy="417089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xmlns="" id="{890ED7CE-A9D2-4D19-B978-56BFB74E657C}"/>
              </a:ext>
            </a:extLst>
          </p:cNvPr>
          <p:cNvSpPr>
            <a:spLocks noGrp="1"/>
          </p:cNvSpPr>
          <p:nvPr>
            <p:ph type="pic" sz="quarter" idx="14" hasCustomPrompt="1"/>
          </p:nvPr>
        </p:nvSpPr>
        <p:spPr>
          <a:xfrm>
            <a:off x="6299200" y="432000"/>
            <a:ext cx="5472113" cy="5759250"/>
          </a:xfrm>
          <a:solidFill>
            <a:schemeClr val="tx1">
              <a:lumMod val="75000"/>
              <a:lumOff val="25000"/>
            </a:schemeClr>
          </a:solidFill>
        </p:spPr>
        <p:txBody>
          <a:bodyPr anchor="ctr"/>
          <a:lstStyle>
            <a:lvl1pPr marL="0" indent="0" algn="ctr">
              <a:buNone/>
              <a:defRPr sz="1200" i="1">
                <a:solidFill>
                  <a:schemeClr val="bg1"/>
                </a:solidFill>
                <a:latin typeface="Times New Roman" panose="02020603050405020304" pitchFamily="18" charset="0"/>
                <a:cs typeface="Times New Roman" panose="02020603050405020304" pitchFamily="18" charset="0"/>
              </a:defRPr>
            </a:lvl1pPr>
          </a:lstStyle>
          <a:p>
            <a:r>
              <a:rPr lang="en-US" noProof="0" dirty="0"/>
              <a:t>Insert or Drag &amp; Drop your photo</a:t>
            </a:r>
          </a:p>
        </p:txBody>
      </p:sp>
      <p:sp>
        <p:nvSpPr>
          <p:cNvPr id="3" name="Content Placeholder 2">
            <a:extLst>
              <a:ext uri="{FF2B5EF4-FFF2-40B4-BE49-F238E27FC236}">
                <a16:creationId xmlns:a16="http://schemas.microsoft.com/office/drawing/2014/main" xmlns="" id="{A22238F2-C6EC-476F-8371-119AECBA5622}"/>
              </a:ext>
            </a:extLst>
          </p:cNvPr>
          <p:cNvSpPr>
            <a:spLocks noGrp="1"/>
          </p:cNvSpPr>
          <p:nvPr>
            <p:ph sz="half" idx="1" hasCustomPrompt="1"/>
          </p:nvPr>
        </p:nvSpPr>
        <p:spPr>
          <a:xfrm>
            <a:off x="3875314" y="5096632"/>
            <a:ext cx="2028686" cy="1094618"/>
          </a:xfrm>
        </p:spPr>
        <p:txBody>
          <a:bodyPr anchor="b"/>
          <a:lstStyle>
            <a:lvl1pPr marL="0" indent="0" algn="r">
              <a:buNone/>
              <a:defRPr i="1">
                <a:solidFill>
                  <a:schemeClr val="tx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Enter your caption</a:t>
            </a:r>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xmlns=""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5" name="Title 4">
            <a:extLst>
              <a:ext uri="{FF2B5EF4-FFF2-40B4-BE49-F238E27FC236}">
                <a16:creationId xmlns:a16="http://schemas.microsoft.com/office/drawing/2014/main" xmlns="" id="{16EFF903-F1F3-440A-B12C-9FD51606B03D}"/>
              </a:ext>
            </a:extLst>
          </p:cNvPr>
          <p:cNvSpPr>
            <a:spLocks noGrp="1"/>
          </p:cNvSpPr>
          <p:nvPr>
            <p:ph type="title"/>
          </p:nvPr>
        </p:nvSpPr>
        <p:spPr/>
        <p:txBody>
          <a:bodyPr/>
          <a:lstStyle/>
          <a:p>
            <a:r>
              <a:rPr lang="en-US" noProof="0" smtClean="0"/>
              <a:t>Click to edit Master title style</a:t>
            </a:r>
            <a:endParaRPr lang="en-US" noProof="0"/>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F23EB7-E336-46EB-A4A0-3DB7A6BF4CE1}"/>
              </a:ext>
            </a:extLst>
          </p:cNvPr>
          <p:cNvSpPr>
            <a:spLocks noGrp="1"/>
          </p:cNvSpPr>
          <p:nvPr>
            <p:ph type="ctrTitle" hasCustomPrompt="1"/>
          </p:nvPr>
        </p:nvSpPr>
        <p:spPr>
          <a:xfrm>
            <a:off x="2174360" y="2112793"/>
            <a:ext cx="6798250" cy="1674470"/>
          </a:xfrm>
        </p:spPr>
        <p:txBody>
          <a:bodyPr anchor="ctr"/>
          <a:lstStyle>
            <a:lvl1pPr algn="ctr">
              <a:lnSpc>
                <a:spcPct val="100000"/>
              </a:lnSpc>
              <a:defRPr sz="6000" b="1" cap="all" spc="-300" baseline="0">
                <a:solidFill>
                  <a:schemeClr val="tx1"/>
                </a:solidFill>
                <a:latin typeface="+mj-lt"/>
              </a:defRPr>
            </a:lvl1pPr>
          </a:lstStyle>
          <a:p>
            <a:r>
              <a:rPr lang="en-US" noProof="0"/>
              <a:t>Thank you</a:t>
            </a:r>
          </a:p>
        </p:txBody>
      </p:sp>
      <p:sp>
        <p:nvSpPr>
          <p:cNvPr id="7" name="Rectangle 6">
            <a:extLst>
              <a:ext uri="{FF2B5EF4-FFF2-40B4-BE49-F238E27FC236}">
                <a16:creationId xmlns:a16="http://schemas.microsoft.com/office/drawing/2014/main" xmlns="" id="{756F2950-BBCB-4A53-9EAC-D714777B8FA2}"/>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xmlns="" id="{D5253865-24CF-4EF5-92A5-F64EB9ABC8B7}"/>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xmlns="" id="{BBE19773-9B6A-4A2C-95A5-69A3788C2D94}"/>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Text Placeholder 5">
            <a:extLst>
              <a:ext uri="{FF2B5EF4-FFF2-40B4-BE49-F238E27FC236}">
                <a16:creationId xmlns:a16="http://schemas.microsoft.com/office/drawing/2014/main" xmlns="" id="{CA3EFDD3-A9D2-4EB6-BB2A-F6999D9F7EA6}"/>
              </a:ext>
            </a:extLst>
          </p:cNvPr>
          <p:cNvSpPr>
            <a:spLocks noGrp="1"/>
          </p:cNvSpPr>
          <p:nvPr>
            <p:ph type="body" sz="quarter" idx="15" hasCustomPrompt="1"/>
          </p:nvPr>
        </p:nvSpPr>
        <p:spPr>
          <a:xfrm>
            <a:off x="2174361" y="4035727"/>
            <a:ext cx="3329850" cy="382887"/>
          </a:xfrm>
        </p:spPr>
        <p:txBody>
          <a:bodyPr/>
          <a:lstStyle>
            <a:lvl1pPr marL="0" indent="0" algn="r">
              <a:buNone/>
              <a:defRPr sz="2400"/>
            </a:lvl1pPr>
            <a:lvl2pPr marL="266700" indent="0">
              <a:buNone/>
              <a:defRPr/>
            </a:lvl2pPr>
            <a:lvl3pPr marL="542925" indent="0">
              <a:buNone/>
              <a:defRPr/>
            </a:lvl3pPr>
            <a:lvl4pPr marL="809625" indent="0">
              <a:buNone/>
              <a:defRPr/>
            </a:lvl4pPr>
            <a:lvl5pPr marL="1076325" indent="0">
              <a:buNone/>
              <a:defRPr/>
            </a:lvl5pPr>
          </a:lstStyle>
          <a:p>
            <a:pPr lvl="0"/>
            <a:r>
              <a:rPr lang="en-US" noProof="0"/>
              <a:t>Full Name</a:t>
            </a:r>
          </a:p>
        </p:txBody>
      </p:sp>
      <p:sp>
        <p:nvSpPr>
          <p:cNvPr id="12" name="Text Placeholder 6">
            <a:extLst>
              <a:ext uri="{FF2B5EF4-FFF2-40B4-BE49-F238E27FC236}">
                <a16:creationId xmlns:a16="http://schemas.microsoft.com/office/drawing/2014/main" xmlns="" id="{261ED1F7-B623-43D9-9BDA-8808C5CFAFFB}"/>
              </a:ext>
            </a:extLst>
          </p:cNvPr>
          <p:cNvSpPr>
            <a:spLocks noGrp="1"/>
          </p:cNvSpPr>
          <p:nvPr>
            <p:ph type="body" sz="quarter" idx="16" hasCustomPrompt="1"/>
          </p:nvPr>
        </p:nvSpPr>
        <p:spPr>
          <a:xfrm>
            <a:off x="6062268" y="4150118"/>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Phone Number</a:t>
            </a:r>
          </a:p>
        </p:txBody>
      </p:sp>
      <p:sp>
        <p:nvSpPr>
          <p:cNvPr id="13" name="Text Placeholder 7">
            <a:extLst>
              <a:ext uri="{FF2B5EF4-FFF2-40B4-BE49-F238E27FC236}">
                <a16:creationId xmlns:a16="http://schemas.microsoft.com/office/drawing/2014/main" xmlns="" id="{E27366FC-4115-4122-9CE2-5FA9D424AD51}"/>
              </a:ext>
            </a:extLst>
          </p:cNvPr>
          <p:cNvSpPr>
            <a:spLocks noGrp="1"/>
          </p:cNvSpPr>
          <p:nvPr>
            <p:ph type="body" sz="quarter" idx="17" hasCustomPrompt="1"/>
          </p:nvPr>
        </p:nvSpPr>
        <p:spPr>
          <a:xfrm>
            <a:off x="6062268" y="4540691"/>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Email or Social Media Handle</a:t>
            </a:r>
          </a:p>
        </p:txBody>
      </p:sp>
      <p:sp>
        <p:nvSpPr>
          <p:cNvPr id="14" name="Text Placeholder 8">
            <a:extLst>
              <a:ext uri="{FF2B5EF4-FFF2-40B4-BE49-F238E27FC236}">
                <a16:creationId xmlns:a16="http://schemas.microsoft.com/office/drawing/2014/main" xmlns="" id="{DEB36829-2F8B-4E22-AB6D-4111D18AF847}"/>
              </a:ext>
            </a:extLst>
          </p:cNvPr>
          <p:cNvSpPr>
            <a:spLocks noGrp="1"/>
          </p:cNvSpPr>
          <p:nvPr>
            <p:ph type="body" sz="quarter" idx="18" hasCustomPrompt="1"/>
          </p:nvPr>
        </p:nvSpPr>
        <p:spPr>
          <a:xfrm>
            <a:off x="6062268" y="4931263"/>
            <a:ext cx="2910342" cy="238016"/>
          </a:xfrm>
        </p:spPr>
        <p:txBody>
          <a:bodyPr/>
          <a:lstStyle>
            <a:lvl1pPr marL="0" indent="0" algn="l">
              <a:buNone/>
              <a:defRPr sz="1400" i="1"/>
            </a:lvl1pPr>
            <a:lvl2pPr marL="266700" indent="0">
              <a:buNone/>
              <a:defRPr/>
            </a:lvl2pPr>
            <a:lvl3pPr marL="542925" indent="0">
              <a:buNone/>
              <a:defRPr/>
            </a:lvl3pPr>
            <a:lvl4pPr marL="809625" indent="0">
              <a:buNone/>
              <a:defRPr/>
            </a:lvl4pPr>
            <a:lvl5pPr marL="1076325" indent="0">
              <a:buNone/>
              <a:defRPr/>
            </a:lvl5pPr>
          </a:lstStyle>
          <a:p>
            <a:pPr lvl="0"/>
            <a:r>
              <a:rPr lang="en-US" noProof="0"/>
              <a:t>Company Website</a:t>
            </a:r>
          </a:p>
        </p:txBody>
      </p:sp>
    </p:spTree>
    <p:extLst>
      <p:ext uri="{BB962C8B-B14F-4D97-AF65-F5344CB8AC3E}">
        <p14:creationId xmlns:p14="http://schemas.microsoft.com/office/powerpoint/2010/main" val="318901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7" name="Subtitle 2">
            <a:extLst>
              <a:ext uri="{FF2B5EF4-FFF2-40B4-BE49-F238E27FC236}">
                <a16:creationId xmlns:a16="http://schemas.microsoft.com/office/drawing/2014/main" xmlns="" id="{E97A9A62-1AA6-47A9-A1A0-54196823744C}"/>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xmlns="" id="{E8FE0EB3-0FF4-4285-B9D3-90A5751B7BBF}"/>
              </a:ext>
            </a:extLst>
          </p:cNvPr>
          <p:cNvSpPr>
            <a:spLocks noGrp="1"/>
          </p:cNvSpPr>
          <p:nvPr>
            <p:ph type="ftr" sz="quarter" idx="12"/>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xmlns="" id="{3442953D-28FC-41B5-A1BB-BB3BA7CA40BE}"/>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9" name="Subtitle 2">
            <a:extLst>
              <a:ext uri="{FF2B5EF4-FFF2-40B4-BE49-F238E27FC236}">
                <a16:creationId xmlns:a16="http://schemas.microsoft.com/office/drawing/2014/main" xmlns="" id="{F94EB5D3-F8CB-4E76-8D7E-FF441818EECB}"/>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hasCustomPrompt="1"/>
          </p:nvPr>
        </p:nvSpPr>
        <p:spPr>
          <a:xfrm>
            <a:off x="432000" y="1512000"/>
            <a:ext cx="2916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xmlns="" id="{16A38E24-EB1C-472F-B631-5DF32F9C4CF5}"/>
              </a:ext>
            </a:extLst>
          </p:cNvPr>
          <p:cNvSpPr>
            <a:spLocks noGrp="1"/>
          </p:cNvSpPr>
          <p:nvPr>
            <p:ph type="body" sz="quarter" idx="12" hasCustomPrompt="1"/>
          </p:nvPr>
        </p:nvSpPr>
        <p:spPr>
          <a:xfrm>
            <a:off x="3572900" y="1511476"/>
            <a:ext cx="2916000" cy="467924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5">
            <a:extLst>
              <a:ext uri="{FF2B5EF4-FFF2-40B4-BE49-F238E27FC236}">
                <a16:creationId xmlns:a16="http://schemas.microsoft.com/office/drawing/2014/main" xmlns="" id="{5B4A252E-78C9-4F76-98A4-A4B580AD072A}"/>
              </a:ext>
            </a:extLst>
          </p:cNvPr>
          <p:cNvSpPr>
            <a:spLocks noGrp="1"/>
          </p:cNvSpPr>
          <p:nvPr>
            <p:ph type="body" sz="quarter" idx="13" hasCustomPrompt="1"/>
          </p:nvPr>
        </p:nvSpPr>
        <p:spPr>
          <a:xfrm>
            <a:off x="6713800" y="1511475"/>
            <a:ext cx="2916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xmlns="" id="{6D4BCA97-F31B-451D-82F8-6E000DF2118A}"/>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0817AAC4-A657-4D75-A527-0307AFF2B17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265438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4C50-933F-41F9-AD11-BD02410AA7D5}"/>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10" name="Subtitle 2">
            <a:extLst>
              <a:ext uri="{FF2B5EF4-FFF2-40B4-BE49-F238E27FC236}">
                <a16:creationId xmlns:a16="http://schemas.microsoft.com/office/drawing/2014/main" xmlns="" id="{9D7ACCB5-9A86-4F46-89E2-B79F48C9EC1D}"/>
              </a:ext>
            </a:extLst>
          </p:cNvPr>
          <p:cNvSpPr>
            <a:spLocks noGrp="1"/>
          </p:cNvSpPr>
          <p:nvPr>
            <p:ph type="body" sz="quarter" idx="32" hasCustomPrompt="1"/>
          </p:nvPr>
        </p:nvSpPr>
        <p:spPr>
          <a:xfrm>
            <a:off x="431800" y="1008000"/>
            <a:ext cx="9198000"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Content Placeholder 2">
            <a:extLst>
              <a:ext uri="{FF2B5EF4-FFF2-40B4-BE49-F238E27FC236}">
                <a16:creationId xmlns:a16="http://schemas.microsoft.com/office/drawing/2014/main" xmlns="" id="{B1948E38-8FB0-4E51-A01C-C88794372E50}"/>
              </a:ext>
            </a:extLst>
          </p:cNvPr>
          <p:cNvSpPr>
            <a:spLocks noGrp="1"/>
          </p:cNvSpPr>
          <p:nvPr>
            <p:ph idx="1" hasCustomPrompt="1"/>
          </p:nvPr>
        </p:nvSpPr>
        <p:spPr>
          <a:xfrm>
            <a:off x="432000" y="1512000"/>
            <a:ext cx="1764000" cy="467925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a:extLst>
              <a:ext uri="{FF2B5EF4-FFF2-40B4-BE49-F238E27FC236}">
                <a16:creationId xmlns:a16="http://schemas.microsoft.com/office/drawing/2014/main" xmlns="" id="{1F5B3657-F2AE-455A-BF81-1A0C2ACECD20}"/>
              </a:ext>
            </a:extLst>
          </p:cNvPr>
          <p:cNvSpPr>
            <a:spLocks noGrp="1"/>
          </p:cNvSpPr>
          <p:nvPr>
            <p:ph type="body" sz="quarter" idx="12" hasCustomPrompt="1"/>
          </p:nvPr>
        </p:nvSpPr>
        <p:spPr>
          <a:xfrm>
            <a:off x="229045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5">
            <a:extLst>
              <a:ext uri="{FF2B5EF4-FFF2-40B4-BE49-F238E27FC236}">
                <a16:creationId xmlns:a16="http://schemas.microsoft.com/office/drawing/2014/main" xmlns="" id="{6A983D98-E0AB-429A-9EC2-B50D4216D691}"/>
              </a:ext>
            </a:extLst>
          </p:cNvPr>
          <p:cNvSpPr>
            <a:spLocks noGrp="1"/>
          </p:cNvSpPr>
          <p:nvPr>
            <p:ph type="body" sz="quarter" idx="13" hasCustomPrompt="1"/>
          </p:nvPr>
        </p:nvSpPr>
        <p:spPr>
          <a:xfrm>
            <a:off x="4148900" y="1512000"/>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6">
            <a:extLst>
              <a:ext uri="{FF2B5EF4-FFF2-40B4-BE49-F238E27FC236}">
                <a16:creationId xmlns:a16="http://schemas.microsoft.com/office/drawing/2014/main" xmlns="" id="{755213BF-EF6D-45DC-A01B-DE6C2F23A6D2}"/>
              </a:ext>
            </a:extLst>
          </p:cNvPr>
          <p:cNvSpPr>
            <a:spLocks noGrp="1"/>
          </p:cNvSpPr>
          <p:nvPr>
            <p:ph type="body" sz="quarter" idx="14" hasCustomPrompt="1"/>
          </p:nvPr>
        </p:nvSpPr>
        <p:spPr>
          <a:xfrm>
            <a:off x="6007350" y="1507535"/>
            <a:ext cx="1764000" cy="4679250"/>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Text Placeholder 7">
            <a:extLst>
              <a:ext uri="{FF2B5EF4-FFF2-40B4-BE49-F238E27FC236}">
                <a16:creationId xmlns:a16="http://schemas.microsoft.com/office/drawing/2014/main" xmlns="" id="{77D6BBBA-F4A3-45D4-91BC-A405FFDC7C3D}"/>
              </a:ext>
            </a:extLst>
          </p:cNvPr>
          <p:cNvSpPr>
            <a:spLocks noGrp="1"/>
          </p:cNvSpPr>
          <p:nvPr>
            <p:ph type="body" sz="quarter" idx="15" hasCustomPrompt="1"/>
          </p:nvPr>
        </p:nvSpPr>
        <p:spPr>
          <a:xfrm>
            <a:off x="7865800" y="1507535"/>
            <a:ext cx="1764000" cy="468371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xmlns="" id="{2D09234E-176D-4BBF-9391-7B6F018C51AB}"/>
              </a:ext>
            </a:extLst>
          </p:cNvPr>
          <p:cNvSpPr>
            <a:spLocks noGrp="1"/>
          </p:cNvSpPr>
          <p:nvPr>
            <p:ph type="ftr" sz="quarter" idx="16"/>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B5A8293F-A5B5-4FCC-BF27-A25B1BAFF245}"/>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974837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C626A5-4FF6-42BD-858A-AE4B2C23A6BC}"/>
              </a:ext>
            </a:extLst>
          </p:cNvPr>
          <p:cNvSpPr>
            <a:spLocks noGrp="1"/>
          </p:cNvSpPr>
          <p:nvPr>
            <p:ph type="title" hasCustomPrompt="1"/>
          </p:nvPr>
        </p:nvSpPr>
        <p:spPr/>
        <p:txBody>
          <a:bodyPr/>
          <a:lstStyle>
            <a:lvl1pPr>
              <a:defRPr>
                <a:solidFill>
                  <a:schemeClr val="tx1"/>
                </a:solidFill>
              </a:defRPr>
            </a:lvl1pPr>
          </a:lstStyle>
          <a:p>
            <a:r>
              <a:rPr lang="en-US" noProof="0"/>
              <a:t>Click to edit page title</a:t>
            </a:r>
          </a:p>
        </p:txBody>
      </p:sp>
      <p:sp>
        <p:nvSpPr>
          <p:cNvPr id="5" name="Subtitle 2">
            <a:extLst>
              <a:ext uri="{FF2B5EF4-FFF2-40B4-BE49-F238E27FC236}">
                <a16:creationId xmlns:a16="http://schemas.microsoft.com/office/drawing/2014/main" xmlns="" id="{10727B06-56A8-44A2-B6C2-9ED183D107F3}"/>
              </a:ext>
            </a:extLst>
          </p:cNvPr>
          <p:cNvSpPr>
            <a:spLocks noGrp="1"/>
          </p:cNvSpPr>
          <p:nvPr>
            <p:ph type="body" sz="quarter" idx="32" hasCustomPrompt="1"/>
          </p:nvPr>
        </p:nvSpPr>
        <p:spPr>
          <a:xfrm>
            <a:off x="431801" y="1008000"/>
            <a:ext cx="9198116" cy="360000"/>
          </a:xfrm>
        </p:spPr>
        <p:txBody>
          <a:bodyPr/>
          <a:lstStyle>
            <a:lvl1pPr marL="0" indent="0">
              <a:buNone/>
              <a:defRPr i="1">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3" name="Footer Placeholder 2">
            <a:extLst>
              <a:ext uri="{FF2B5EF4-FFF2-40B4-BE49-F238E27FC236}">
                <a16:creationId xmlns:a16="http://schemas.microsoft.com/office/drawing/2014/main" xmlns="" id="{08CCB8C2-B6A2-4C69-8D3A-57420A034BA4}"/>
              </a:ext>
            </a:extLst>
          </p:cNvPr>
          <p:cNvSpPr>
            <a:spLocks noGrp="1"/>
          </p:cNvSpPr>
          <p:nvPr>
            <p:ph type="ftr" sz="quarter" idx="12"/>
          </p:nvPr>
        </p:nvSpPr>
        <p:spPr/>
        <p:txBody>
          <a:bodyPr/>
          <a:lstStyle/>
          <a:p>
            <a:r>
              <a:rPr lang="en-US" noProof="0" dirty="0"/>
              <a:t>Add a footer</a:t>
            </a:r>
          </a:p>
        </p:txBody>
      </p:sp>
      <p:sp>
        <p:nvSpPr>
          <p:cNvPr id="4" name="Slide Number Placeholder 3">
            <a:extLst>
              <a:ext uri="{FF2B5EF4-FFF2-40B4-BE49-F238E27FC236}">
                <a16:creationId xmlns:a16="http://schemas.microsoft.com/office/drawing/2014/main" xmlns="" id="{8E801980-CBAE-4A50-886D-54D7BB2E1947}"/>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05855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1EDF756E-F310-4229-ACDD-055D299A95FB}"/>
              </a:ext>
            </a:extLst>
          </p:cNvPr>
          <p:cNvSpPr/>
          <p:nvPr userDrawn="1"/>
        </p:nvSpPr>
        <p:spPr>
          <a:xfrm>
            <a:off x="6297105" y="424206"/>
            <a:ext cx="5505254" cy="57314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oter Placeholder 3">
            <a:extLst>
              <a:ext uri="{FF2B5EF4-FFF2-40B4-BE49-F238E27FC236}">
                <a16:creationId xmlns:a16="http://schemas.microsoft.com/office/drawing/2014/main" xmlns="" id="{57847F90-9DB6-4832-9EB7-393AADAE8B70}"/>
              </a:ext>
            </a:extLst>
          </p:cNvPr>
          <p:cNvSpPr>
            <a:spLocks noGrp="1"/>
          </p:cNvSpPr>
          <p:nvPr>
            <p:ph type="ftr" sz="quarter" idx="13"/>
          </p:nvPr>
        </p:nvSpPr>
        <p:spPr/>
        <p:txBody>
          <a:bodyPr/>
          <a:lstStyle/>
          <a:p>
            <a:r>
              <a:rPr lang="en-US" noProof="0" dirty="0"/>
              <a:t>Add a footer</a:t>
            </a:r>
          </a:p>
        </p:txBody>
      </p:sp>
      <p:sp>
        <p:nvSpPr>
          <p:cNvPr id="2" name="Slide Number Placeholder 1">
            <a:extLst>
              <a:ext uri="{FF2B5EF4-FFF2-40B4-BE49-F238E27FC236}">
                <a16:creationId xmlns:a16="http://schemas.microsoft.com/office/drawing/2014/main" xmlns="" id="{E25951D2-91DB-40E7-95D5-4B372602DEBB}"/>
              </a:ext>
            </a:extLst>
          </p:cNvPr>
          <p:cNvSpPr>
            <a:spLocks noGrp="1"/>
          </p:cNvSpPr>
          <p:nvPr>
            <p:ph type="sldNum" sz="quarter" idx="15"/>
          </p:nvPr>
        </p:nvSpPr>
        <p:spPr/>
        <p:txBody>
          <a:bodyPr/>
          <a:lstStyle/>
          <a:p>
            <a:fld id="{19B51A1E-902D-48AF-9020-955120F399B6}" type="slidenum">
              <a:rPr lang="en-US" noProof="0" smtClean="0"/>
              <a:pPr/>
              <a:t>‹#›</a:t>
            </a:fld>
            <a:endParaRPr lang="en-US" noProof="0" dirty="0"/>
          </a:p>
        </p:txBody>
      </p:sp>
      <p:sp>
        <p:nvSpPr>
          <p:cNvPr id="9" name="Subtitle 2">
            <a:extLst>
              <a:ext uri="{FF2B5EF4-FFF2-40B4-BE49-F238E27FC236}">
                <a16:creationId xmlns:a16="http://schemas.microsoft.com/office/drawing/2014/main" xmlns="" id="{07666241-4AF6-458A-A571-6C6C291D72F1}"/>
              </a:ext>
            </a:extLst>
          </p:cNvPr>
          <p:cNvSpPr>
            <a:spLocks noGrp="1"/>
          </p:cNvSpPr>
          <p:nvPr>
            <p:ph type="subTitle" idx="1"/>
          </p:nvPr>
        </p:nvSpPr>
        <p:spPr>
          <a:xfrm>
            <a:off x="6532775" y="3639199"/>
            <a:ext cx="5053936" cy="1192038"/>
          </a:xfrm>
          <a:solidFill>
            <a:schemeClr val="bg1"/>
          </a:solidFill>
        </p:spPr>
        <p:txBody>
          <a:bodyPr lIns="252000" tIns="0" anchor="ctr"/>
          <a:lstStyle>
            <a:lvl1pPr marL="0" indent="0" algn="l">
              <a:lnSpc>
                <a:spcPct val="100000"/>
              </a:lnSpc>
              <a:buNone/>
              <a:defRPr sz="1800" i="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6" name="Title 5">
            <a:extLst>
              <a:ext uri="{FF2B5EF4-FFF2-40B4-BE49-F238E27FC236}">
                <a16:creationId xmlns:a16="http://schemas.microsoft.com/office/drawing/2014/main" xmlns="" id="{6F4F2BBF-F210-4954-9C73-A0030AACDDFE}"/>
              </a:ext>
            </a:extLst>
          </p:cNvPr>
          <p:cNvSpPr>
            <a:spLocks noGrp="1"/>
          </p:cNvSpPr>
          <p:nvPr>
            <p:ph type="title" hasCustomPrompt="1"/>
          </p:nvPr>
        </p:nvSpPr>
        <p:spPr>
          <a:xfrm>
            <a:off x="6532775" y="993303"/>
            <a:ext cx="5053936" cy="2513468"/>
          </a:xfrm>
        </p:spPr>
        <p:txBody>
          <a:bodyPr/>
          <a:lstStyle>
            <a:lvl1pPr>
              <a:defRPr sz="5400" cap="none">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227779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10" name="Content Placeholder 2">
            <a:extLst>
              <a:ext uri="{FF2B5EF4-FFF2-40B4-BE49-F238E27FC236}">
                <a16:creationId xmlns:a16="http://schemas.microsoft.com/office/drawing/2014/main" xmlns="" id="{FD1EE834-4B70-4715-8346-1C0298347EE0}"/>
              </a:ext>
            </a:extLst>
          </p:cNvPr>
          <p:cNvSpPr>
            <a:spLocks noGrp="1"/>
          </p:cNvSpPr>
          <p:nvPr>
            <p:ph idx="1" hasCustomPrompt="1"/>
          </p:nvPr>
        </p:nvSpPr>
        <p:spPr>
          <a:xfrm>
            <a:off x="432000" y="1046375"/>
            <a:ext cx="9198000"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80088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Content Placeholder 2">
            <a:extLst>
              <a:ext uri="{FF2B5EF4-FFF2-40B4-BE49-F238E27FC236}">
                <a16:creationId xmlns:a16="http://schemas.microsoft.com/office/drawing/2014/main" xmlns="" id="{EAE43F4C-1A64-4197-A44B-E6EB874E243B}"/>
              </a:ext>
            </a:extLst>
          </p:cNvPr>
          <p:cNvSpPr>
            <a:spLocks noGrp="1"/>
          </p:cNvSpPr>
          <p:nvPr>
            <p:ph sz="half" idx="1" hasCustomPrompt="1"/>
          </p:nvPr>
        </p:nvSpPr>
        <p:spPr>
          <a:xfrm>
            <a:off x="432000"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a:extLst>
              <a:ext uri="{FF2B5EF4-FFF2-40B4-BE49-F238E27FC236}">
                <a16:creationId xmlns:a16="http://schemas.microsoft.com/office/drawing/2014/main" xmlns="" id="{D7B3F5B8-DC28-4878-AC9F-D434D7542D8F}"/>
              </a:ext>
            </a:extLst>
          </p:cNvPr>
          <p:cNvSpPr>
            <a:spLocks noGrp="1"/>
          </p:cNvSpPr>
          <p:nvPr>
            <p:ph sz="half" idx="2" hasCustomPrompt="1"/>
          </p:nvPr>
        </p:nvSpPr>
        <p:spPr>
          <a:xfrm>
            <a:off x="5194169" y="1046376"/>
            <a:ext cx="4435831" cy="513058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7439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7" name="Text Placeholder 2">
            <a:extLst>
              <a:ext uri="{FF2B5EF4-FFF2-40B4-BE49-F238E27FC236}">
                <a16:creationId xmlns:a16="http://schemas.microsoft.com/office/drawing/2014/main" xmlns="" id="{CB97B01E-88B2-448F-BD96-A1AAFA39AC1E}"/>
              </a:ext>
            </a:extLst>
          </p:cNvPr>
          <p:cNvSpPr>
            <a:spLocks noGrp="1"/>
          </p:cNvSpPr>
          <p:nvPr>
            <p:ph type="body" idx="1" hasCustomPrompt="1"/>
          </p:nvPr>
        </p:nvSpPr>
        <p:spPr>
          <a:xfrm>
            <a:off x="43200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Text Placeholder 4">
            <a:extLst>
              <a:ext uri="{FF2B5EF4-FFF2-40B4-BE49-F238E27FC236}">
                <a16:creationId xmlns:a16="http://schemas.microsoft.com/office/drawing/2014/main" xmlns="" id="{40BADDE2-4EE6-41B4-804C-EBF680128B40}"/>
              </a:ext>
            </a:extLst>
          </p:cNvPr>
          <p:cNvSpPr>
            <a:spLocks noGrp="1"/>
          </p:cNvSpPr>
          <p:nvPr>
            <p:ph type="body" sz="quarter" idx="3" hasCustomPrompt="1"/>
          </p:nvPr>
        </p:nvSpPr>
        <p:spPr>
          <a:xfrm>
            <a:off x="5195160" y="1068420"/>
            <a:ext cx="4434840" cy="823912"/>
          </a:xfrm>
          <a:solidFill>
            <a:schemeClr val="tx1"/>
          </a:solidFill>
        </p:spPr>
        <p:txBody>
          <a:bodyPr anchor="ctr"/>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9" name="Content Placeholder 3">
            <a:extLst>
              <a:ext uri="{FF2B5EF4-FFF2-40B4-BE49-F238E27FC236}">
                <a16:creationId xmlns:a16="http://schemas.microsoft.com/office/drawing/2014/main" xmlns="" id="{BB0A14E0-899D-4594-BC9E-AE89BF0D3AB7}"/>
              </a:ext>
            </a:extLst>
          </p:cNvPr>
          <p:cNvSpPr>
            <a:spLocks noGrp="1"/>
          </p:cNvSpPr>
          <p:nvPr>
            <p:ph sz="half" idx="2" hasCustomPrompt="1"/>
          </p:nvPr>
        </p:nvSpPr>
        <p:spPr>
          <a:xfrm>
            <a:off x="432001"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ontent Placeholder 5">
            <a:extLst>
              <a:ext uri="{FF2B5EF4-FFF2-40B4-BE49-F238E27FC236}">
                <a16:creationId xmlns:a16="http://schemas.microsoft.com/office/drawing/2014/main" xmlns="" id="{2C699014-D902-4E9A-80CD-8D2BCFE67097}"/>
              </a:ext>
            </a:extLst>
          </p:cNvPr>
          <p:cNvSpPr>
            <a:spLocks noGrp="1"/>
          </p:cNvSpPr>
          <p:nvPr>
            <p:ph sz="quarter" idx="4" hasCustomPrompt="1"/>
          </p:nvPr>
        </p:nvSpPr>
        <p:spPr>
          <a:xfrm>
            <a:off x="5195160" y="2096752"/>
            <a:ext cx="4434840" cy="409291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63468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xmlns=""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smtClean="0"/>
              <a:t>Click to edit Master title style</a:t>
            </a:r>
            <a:endParaRPr lang="en-US" noProof="0"/>
          </a:p>
        </p:txBody>
      </p:sp>
      <p:sp>
        <p:nvSpPr>
          <p:cNvPr id="9" name="Text Placeholder 3">
            <a:extLst>
              <a:ext uri="{FF2B5EF4-FFF2-40B4-BE49-F238E27FC236}">
                <a16:creationId xmlns:a16="http://schemas.microsoft.com/office/drawing/2014/main" xmlns=""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Content Placeholder 2">
            <a:extLst>
              <a:ext uri="{FF2B5EF4-FFF2-40B4-BE49-F238E27FC236}">
                <a16:creationId xmlns:a16="http://schemas.microsoft.com/office/drawing/2014/main" xmlns="" id="{79F53EF1-D412-467C-B7CE-30536F140AE1}"/>
              </a:ext>
            </a:extLst>
          </p:cNvPr>
          <p:cNvSpPr>
            <a:spLocks noGrp="1"/>
          </p:cNvSpPr>
          <p:nvPr>
            <p:ph idx="1" hasCustomPrompt="1"/>
          </p:nvPr>
        </p:nvSpPr>
        <p:spPr>
          <a:xfrm>
            <a:off x="3770722" y="457201"/>
            <a:ext cx="6023727" cy="5726784"/>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72000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a:xfrm>
            <a:off x="432000" y="6356350"/>
            <a:ext cx="4114800" cy="365125"/>
          </a:xfrm>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
        <p:nvSpPr>
          <p:cNvPr id="8" name="Title 1">
            <a:extLst>
              <a:ext uri="{FF2B5EF4-FFF2-40B4-BE49-F238E27FC236}">
                <a16:creationId xmlns:a16="http://schemas.microsoft.com/office/drawing/2014/main" xmlns="" id="{AC67C685-BABE-4B77-8C5E-B39B093D3AEA}"/>
              </a:ext>
            </a:extLst>
          </p:cNvPr>
          <p:cNvSpPr>
            <a:spLocks noGrp="1"/>
          </p:cNvSpPr>
          <p:nvPr>
            <p:ph type="title"/>
          </p:nvPr>
        </p:nvSpPr>
        <p:spPr>
          <a:xfrm>
            <a:off x="432001" y="457200"/>
            <a:ext cx="3159612" cy="1600200"/>
          </a:xfrm>
        </p:spPr>
        <p:txBody>
          <a:bodyPr anchor="b"/>
          <a:lstStyle>
            <a:lvl1pPr>
              <a:defRPr sz="2800"/>
            </a:lvl1pPr>
          </a:lstStyle>
          <a:p>
            <a:r>
              <a:rPr lang="en-US" noProof="0" smtClean="0"/>
              <a:t>Click to edit Master title style</a:t>
            </a:r>
            <a:endParaRPr lang="en-US" noProof="0"/>
          </a:p>
        </p:txBody>
      </p:sp>
      <p:sp>
        <p:nvSpPr>
          <p:cNvPr id="9" name="Text Placeholder 3">
            <a:extLst>
              <a:ext uri="{FF2B5EF4-FFF2-40B4-BE49-F238E27FC236}">
                <a16:creationId xmlns:a16="http://schemas.microsoft.com/office/drawing/2014/main" xmlns="" id="{0B6B7795-36CC-459B-AE8B-7FB2F40AF37C}"/>
              </a:ext>
            </a:extLst>
          </p:cNvPr>
          <p:cNvSpPr>
            <a:spLocks noGrp="1"/>
          </p:cNvSpPr>
          <p:nvPr>
            <p:ph type="body" sz="half" idx="2" hasCustomPrompt="1"/>
          </p:nvPr>
        </p:nvSpPr>
        <p:spPr>
          <a:xfrm>
            <a:off x="432001" y="2057400"/>
            <a:ext cx="3159612" cy="4126584"/>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2" name="Picture Placeholder 2">
            <a:extLst>
              <a:ext uri="{FF2B5EF4-FFF2-40B4-BE49-F238E27FC236}">
                <a16:creationId xmlns:a16="http://schemas.microsoft.com/office/drawing/2014/main" xmlns="" id="{10319378-269C-406E-9B84-FCF22DA02EFF}"/>
              </a:ext>
            </a:extLst>
          </p:cNvPr>
          <p:cNvSpPr>
            <a:spLocks noGrp="1"/>
          </p:cNvSpPr>
          <p:nvPr>
            <p:ph type="pic" idx="1"/>
          </p:nvPr>
        </p:nvSpPr>
        <p:spPr>
          <a:xfrm>
            <a:off x="3788021" y="457201"/>
            <a:ext cx="5949868" cy="57267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smtClean="0"/>
              <a:t>Click icon to add picture</a:t>
            </a:r>
            <a:endParaRPr lang="en-US" noProof="0" dirty="0"/>
          </a:p>
        </p:txBody>
      </p:sp>
    </p:spTree>
    <p:extLst>
      <p:ext uri="{BB962C8B-B14F-4D97-AF65-F5344CB8AC3E}">
        <p14:creationId xmlns:p14="http://schemas.microsoft.com/office/powerpoint/2010/main" val="302147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288DD7-6DAF-436D-B04A-EBCCAA36917C}"/>
              </a:ext>
            </a:extLst>
          </p:cNvPr>
          <p:cNvSpPr>
            <a:spLocks noGrp="1"/>
          </p:cNvSpPr>
          <p:nvPr>
            <p:ph type="title" hasCustomPrompt="1"/>
          </p:nvPr>
        </p:nvSpPr>
        <p:spPr>
          <a:xfrm>
            <a:off x="432000" y="432000"/>
            <a:ext cx="9198000" cy="432000"/>
          </a:xfrm>
        </p:spPr>
        <p:txBody>
          <a:bodyPr/>
          <a:lstStyle>
            <a:lvl1pPr>
              <a:defRPr>
                <a:solidFill>
                  <a:schemeClr val="tx1"/>
                </a:solidFill>
              </a:defRPr>
            </a:lvl1pPr>
          </a:lstStyle>
          <a:p>
            <a:r>
              <a:rPr lang="en-US" noProof="0"/>
              <a:t>Click to edit page title</a:t>
            </a:r>
          </a:p>
        </p:txBody>
      </p:sp>
      <p:sp>
        <p:nvSpPr>
          <p:cNvPr id="5" name="Footer Placeholder 4">
            <a:extLst>
              <a:ext uri="{FF2B5EF4-FFF2-40B4-BE49-F238E27FC236}">
                <a16:creationId xmlns:a16="http://schemas.microsoft.com/office/drawing/2014/main" xmlns="" id="{646B8F99-FAB0-4B33-87ED-9FF46D11A907}"/>
              </a:ext>
            </a:extLst>
          </p:cNvPr>
          <p:cNvSpPr>
            <a:spLocks noGrp="1"/>
          </p:cNvSpPr>
          <p:nvPr>
            <p:ph type="ftr" sz="quarter" idx="14"/>
          </p:nvPr>
        </p:nvSpPr>
        <p:spPr/>
        <p:txBody>
          <a:bodyPr/>
          <a:lstStyle/>
          <a:p>
            <a:r>
              <a:rPr lang="en-US" noProof="0" dirty="0"/>
              <a:t>Add a footer</a:t>
            </a:r>
          </a:p>
        </p:txBody>
      </p:sp>
      <p:sp>
        <p:nvSpPr>
          <p:cNvPr id="6" name="Slide Number Placeholder 5">
            <a:extLst>
              <a:ext uri="{FF2B5EF4-FFF2-40B4-BE49-F238E27FC236}">
                <a16:creationId xmlns:a16="http://schemas.microsoft.com/office/drawing/2014/main" xmlns="" id="{275D237A-BD90-4D90-B328-7F1A502A266D}"/>
              </a:ext>
            </a:extLst>
          </p:cNvPr>
          <p:cNvSpPr>
            <a:spLocks noGrp="1"/>
          </p:cNvSpPr>
          <p:nvPr>
            <p:ph type="sldNum" sz="quarter" idx="3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53779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xmlns="" id="{16D0504D-4610-4E9E-A2DB-8B701F044BBC}"/>
              </a:ext>
            </a:extLst>
          </p:cNvPr>
          <p:cNvSpPr>
            <a:spLocks noGrp="1"/>
          </p:cNvSpPr>
          <p:nvPr>
            <p:ph type="ftr" sz="quarter" idx="12"/>
          </p:nvPr>
        </p:nvSpPr>
        <p:spPr/>
        <p:txBody>
          <a:bodyPr/>
          <a:lstStyle/>
          <a:p>
            <a:r>
              <a:rPr lang="en-US" noProof="0" dirty="0"/>
              <a:t>Add a footer</a:t>
            </a:r>
          </a:p>
        </p:txBody>
      </p:sp>
      <p:sp>
        <p:nvSpPr>
          <p:cNvPr id="3" name="Slide Number Placeholder 2">
            <a:extLst>
              <a:ext uri="{FF2B5EF4-FFF2-40B4-BE49-F238E27FC236}">
                <a16:creationId xmlns:a16="http://schemas.microsoft.com/office/drawing/2014/main" xmlns="" id="{2310D190-B83D-438A-91BC-470C41B22A29}"/>
              </a:ext>
            </a:extLst>
          </p:cNvPr>
          <p:cNvSpPr>
            <a:spLocks noGrp="1"/>
          </p:cNvSpPr>
          <p:nvPr>
            <p:ph type="sldNum" sz="quarter" idx="13"/>
          </p:nvPr>
        </p:nvSpPr>
        <p:spPr/>
        <p:txBody>
          <a:bodyPr/>
          <a:lstStyle/>
          <a:p>
            <a:fld id="{19B51A1E-902D-48AF-9020-955120F399B6}" type="slidenum">
              <a:rPr lang="en-US" noProof="0" smtClean="0"/>
              <a:pPr/>
              <a:t>‹#›</a:t>
            </a:fld>
            <a:endParaRPr lang="en-US" noProof="0" dirty="0"/>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32C8D0EF-1DB6-4ADC-8F31-5AE53BF5EAF4}"/>
              </a:ext>
            </a:extLst>
          </p:cNvPr>
          <p:cNvSpPr/>
          <p:nvPr userDrawn="1"/>
        </p:nvSpPr>
        <p:spPr>
          <a:xfrm>
            <a:off x="69274" y="66963"/>
            <a:ext cx="9911201" cy="67273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xmlns="" id="{62F208ED-79A0-4B2C-A5EE-9D27466BCA3F}"/>
              </a:ext>
            </a:extLst>
          </p:cNvPr>
          <p:cNvSpPr/>
          <p:nvPr userDrawn="1"/>
        </p:nvSpPr>
        <p:spPr>
          <a:xfrm>
            <a:off x="11407775" y="6356350"/>
            <a:ext cx="784225" cy="3651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Placeholder 1">
            <a:extLst>
              <a:ext uri="{FF2B5EF4-FFF2-40B4-BE49-F238E27FC236}">
                <a16:creationId xmlns:a16="http://schemas.microsoft.com/office/drawing/2014/main" xmlns="" id="{090F41A2-6535-4CA6-81E4-026A5B56D9D7}"/>
              </a:ext>
            </a:extLst>
          </p:cNvPr>
          <p:cNvSpPr>
            <a:spLocks noGrp="1"/>
          </p:cNvSpPr>
          <p:nvPr>
            <p:ph type="title"/>
          </p:nvPr>
        </p:nvSpPr>
        <p:spPr>
          <a:xfrm>
            <a:off x="432000" y="432000"/>
            <a:ext cx="9198116" cy="432000"/>
          </a:xfrm>
          <a:prstGeom prst="rect">
            <a:avLst/>
          </a:prstGeom>
        </p:spPr>
        <p:txBody>
          <a:bodyPr vert="horz" lIns="0" tIns="0" rIns="0" bIns="0" rtlCol="0" anchor="ctr">
            <a:noAutofit/>
          </a:bodyPr>
          <a:lstStyle/>
          <a:p>
            <a:r>
              <a:rPr lang="en-US" noProof="0"/>
              <a:t>Click to edit page title</a:t>
            </a:r>
          </a:p>
        </p:txBody>
      </p:sp>
      <p:sp>
        <p:nvSpPr>
          <p:cNvPr id="3" name="Text Placeholder 2">
            <a:extLst>
              <a:ext uri="{FF2B5EF4-FFF2-40B4-BE49-F238E27FC236}">
                <a16:creationId xmlns:a16="http://schemas.microsoft.com/office/drawing/2014/main" xmlns="" id="{213AB95C-7DD4-4796-80E4-1B7466A2A037}"/>
              </a:ext>
            </a:extLst>
          </p:cNvPr>
          <p:cNvSpPr>
            <a:spLocks noGrp="1"/>
          </p:cNvSpPr>
          <p:nvPr>
            <p:ph type="body" idx="1"/>
          </p:nvPr>
        </p:nvSpPr>
        <p:spPr>
          <a:xfrm>
            <a:off x="432000" y="1512000"/>
            <a:ext cx="9198116" cy="4679250"/>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xmlns="" id="{58879C91-B77F-4273-9A27-A3535FB889DB}"/>
              </a:ext>
            </a:extLst>
          </p:cNvPr>
          <p:cNvSpPr>
            <a:spLocks noGrp="1"/>
          </p:cNvSpPr>
          <p:nvPr>
            <p:ph type="ftr" sz="quarter" idx="3"/>
          </p:nvPr>
        </p:nvSpPr>
        <p:spPr>
          <a:xfrm>
            <a:off x="432000" y="6356350"/>
            <a:ext cx="4114800" cy="365125"/>
          </a:xfrm>
          <a:prstGeom prst="rect">
            <a:avLst/>
          </a:prstGeom>
        </p:spPr>
        <p:txBody>
          <a:bodyPr vert="horz" lIns="0" tIns="0" rIns="0" bIns="0" rtlCol="0" anchor="ctr"/>
          <a:lstStyle>
            <a:lvl1pPr algn="l">
              <a:defRPr sz="1200" i="1">
                <a:solidFill>
                  <a:schemeClr val="tx1">
                    <a:lumMod val="75000"/>
                    <a:lumOff val="25000"/>
                  </a:schemeClr>
                </a:solidFill>
                <a:latin typeface="Times New Roman" panose="02020603050405020304" pitchFamily="18" charset="0"/>
                <a:cs typeface="Times New Roman" panose="02020603050405020304" pitchFamily="18" charset="0"/>
              </a:defRPr>
            </a:lvl1pPr>
          </a:lstStyle>
          <a:p>
            <a:r>
              <a:rPr lang="en-US" noProof="0" dirty="0"/>
              <a:t>Add a footer</a:t>
            </a:r>
          </a:p>
        </p:txBody>
      </p:sp>
      <p:sp>
        <p:nvSpPr>
          <p:cNvPr id="6" name="Slide Number Placeholder 5">
            <a:extLst>
              <a:ext uri="{FF2B5EF4-FFF2-40B4-BE49-F238E27FC236}">
                <a16:creationId xmlns:a16="http://schemas.microsoft.com/office/drawing/2014/main" xmlns="" id="{5ECA3099-A94F-4C3E-BC29-780EDD38F722}"/>
              </a:ext>
            </a:extLst>
          </p:cNvPr>
          <p:cNvSpPr>
            <a:spLocks noGrp="1"/>
          </p:cNvSpPr>
          <p:nvPr>
            <p:ph type="sldNum" sz="quarter" idx="4"/>
          </p:nvPr>
        </p:nvSpPr>
        <p:spPr>
          <a:xfrm>
            <a:off x="11447502" y="6401750"/>
            <a:ext cx="278418" cy="274324"/>
          </a:xfrm>
          <a:prstGeom prst="rect">
            <a:avLst/>
          </a:prstGeom>
        </p:spPr>
        <p:txBody>
          <a:bodyPr vert="horz" lIns="0" tIns="0" rIns="0" bIns="0" rtlCol="0" anchor="ctr"/>
          <a:lstStyle>
            <a:lvl1pPr algn="ctr">
              <a:defRPr sz="1200" i="1">
                <a:solidFill>
                  <a:schemeClr val="bg1"/>
                </a:solidFill>
              </a:defRPr>
            </a:lvl1pPr>
          </a:lstStyle>
          <a:p>
            <a:fld id="{19B51A1E-902D-48AF-9020-955120F399B6}" type="slidenum">
              <a:rPr lang="en-US" noProof="0" smtClean="0"/>
              <a:pPr/>
              <a:t>‹#›</a:t>
            </a:fld>
            <a:endParaRPr lang="en-US" noProof="0" dirty="0"/>
          </a:p>
        </p:txBody>
      </p:sp>
      <p:sp>
        <p:nvSpPr>
          <p:cNvPr id="4" name="TextBox 3">
            <a:extLst>
              <a:ext uri="{FF2B5EF4-FFF2-40B4-BE49-F238E27FC236}">
                <a16:creationId xmlns:a16="http://schemas.microsoft.com/office/drawing/2014/main" xmlns="" id="{34FDC6F9-37F9-4E25-AECA-D307B8421C73}"/>
              </a:ext>
            </a:extLst>
          </p:cNvPr>
          <p:cNvSpPr txBox="1"/>
          <p:nvPr userDrawn="1"/>
        </p:nvSpPr>
        <p:spPr>
          <a:xfrm>
            <a:off x="9630116" y="6346108"/>
            <a:ext cx="1662546" cy="404658"/>
          </a:xfrm>
          <a:prstGeom prst="rect">
            <a:avLst/>
          </a:prstGeom>
          <a:noFill/>
        </p:spPr>
        <p:txBody>
          <a:bodyPr wrap="square" lIns="0" tIns="36000" rIns="0" bIns="0" rtlCol="0">
            <a:spAutoFit/>
          </a:bodyPr>
          <a:lstStyle/>
          <a:p>
            <a:pPr algn="r">
              <a:lnSpc>
                <a:spcPts val="1400"/>
              </a:lnSpc>
            </a:pPr>
            <a:r>
              <a:rPr lang="en-US" sz="1600" b="1" spc="-100" baseline="0" noProof="0" dirty="0">
                <a:solidFill>
                  <a:schemeClr val="tx1">
                    <a:lumMod val="50000"/>
                    <a:lumOff val="50000"/>
                  </a:schemeClr>
                </a:solidFill>
                <a:latin typeface="Corbel" panose="020B0503020204020204" pitchFamily="34" charset="0"/>
              </a:rPr>
              <a:t>WOODGROVE</a:t>
            </a:r>
            <a:r>
              <a:rPr lang="en-US" sz="1600" b="1" spc="-100" baseline="0" noProof="0" dirty="0">
                <a:solidFill>
                  <a:schemeClr val="accent1"/>
                </a:solidFill>
                <a:latin typeface="Corbel" panose="020B0503020204020204" pitchFamily="34" charset="0"/>
              </a:rPr>
              <a:t> </a:t>
            </a:r>
            <a:r>
              <a:rPr lang="en-US" sz="1600" b="1" spc="-100" baseline="0" noProof="0" dirty="0">
                <a:solidFill>
                  <a:schemeClr val="tx1"/>
                </a:solidFill>
                <a:latin typeface="Corbel" panose="020B0503020204020204" pitchFamily="34" charset="0"/>
              </a:rPr>
              <a:t>BANK</a:t>
            </a:r>
          </a:p>
        </p:txBody>
      </p:sp>
      <p:sp>
        <p:nvSpPr>
          <p:cNvPr id="8" name="Rectangle 7">
            <a:extLst>
              <a:ext uri="{FF2B5EF4-FFF2-40B4-BE49-F238E27FC236}">
                <a16:creationId xmlns:a16="http://schemas.microsoft.com/office/drawing/2014/main" xmlns="" id="{6B322F68-670D-45A0-A54F-7E70BCEAED3F}"/>
              </a:ext>
            </a:extLst>
          </p:cNvPr>
          <p:cNvSpPr/>
          <p:nvPr userDrawn="1"/>
        </p:nvSpPr>
        <p:spPr>
          <a:xfrm>
            <a:off x="0" y="6794309"/>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xmlns="" id="{E69B5F15-353A-4344-8D61-F4E25AA9FB6C}"/>
              </a:ext>
            </a:extLst>
          </p:cNvPr>
          <p:cNvSpPr/>
          <p:nvPr userDrawn="1"/>
        </p:nvSpPr>
        <p:spPr>
          <a:xfrm>
            <a:off x="0" y="0"/>
            <a:ext cx="9980476" cy="636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xmlns="" id="{2FA0C0AA-FCE8-4A7F-928A-54C96BBA9053}"/>
              </a:ext>
            </a:extLst>
          </p:cNvPr>
          <p:cNvSpPr/>
          <p:nvPr userDrawn="1"/>
        </p:nvSpPr>
        <p:spPr>
          <a:xfrm rot="5400000">
            <a:off x="-3378441" y="3410285"/>
            <a:ext cx="6826157" cy="692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5" r:id="rId5"/>
    <p:sldLayoutId id="2147483659" r:id="rId6"/>
    <p:sldLayoutId id="2147483660" r:id="rId7"/>
    <p:sldLayoutId id="2147483664" r:id="rId8"/>
    <p:sldLayoutId id="2147483650" r:id="rId9"/>
    <p:sldLayoutId id="2147483656" r:id="rId10"/>
    <p:sldLayoutId id="2147483657" r:id="rId11"/>
    <p:sldLayoutId id="2147483654" r:id="rId12"/>
    <p:sldLayoutId id="2147483666" r:id="rId13"/>
    <p:sldLayoutId id="2147483667" r:id="rId14"/>
    <p:sldLayoutId id="2147483668" r:id="rId15"/>
    <p:sldLayoutId id="2147483669" r:id="rId16"/>
    <p:sldLayoutId id="2147483670" r:id="rId17"/>
    <p:sldLayoutId id="2147483671" r:id="rId18"/>
    <p:sldLayoutId id="2147483672" r:id="rId19"/>
    <p:sldLayoutId id="2147483655" r:id="rId20"/>
  </p:sldLayoutIdLst>
  <p:hf hdr="0" ftr="0" dt="0"/>
  <p:txStyles>
    <p:titleStyle>
      <a:lvl1pPr algn="l" defTabSz="914400" rtl="0" eaLnBrk="1" latinLnBrk="0" hangingPunct="1">
        <a:lnSpc>
          <a:spcPct val="90000"/>
        </a:lnSpc>
        <a:spcBef>
          <a:spcPct val="0"/>
        </a:spcBef>
        <a:buNone/>
        <a:defRPr sz="3200" b="1" kern="1200" cap="all" spc="-150" baseline="0">
          <a:solidFill>
            <a:schemeClr val="tx1"/>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200B3D2B-613A-41BE-987D-E6A1324B456D}"/>
              </a:ext>
            </a:extLst>
          </p:cNvPr>
          <p:cNvSpPr>
            <a:spLocks noGrp="1"/>
          </p:cNvSpPr>
          <p:nvPr>
            <p:ph type="ctrTitle"/>
          </p:nvPr>
        </p:nvSpPr>
        <p:spPr>
          <a:xfrm>
            <a:off x="3731577" y="1178834"/>
            <a:ext cx="4880096" cy="1674470"/>
          </a:xfrm>
        </p:spPr>
        <p:txBody>
          <a:bodyPr/>
          <a:lstStyle/>
          <a:p>
            <a:r>
              <a:rPr lang="en-US" dirty="0" smtClean="0"/>
              <a:t>Political </a:t>
            </a:r>
            <a:r>
              <a:rPr lang="en-US" dirty="0"/>
              <a:t>Dynamics</a:t>
            </a:r>
          </a:p>
        </p:txBody>
      </p:sp>
      <p:pic>
        <p:nvPicPr>
          <p:cNvPr id="7" name="Picture Placeholder 6" descr="Wood piece cut through the middle">
            <a:extLst>
              <a:ext uri="{FF2B5EF4-FFF2-40B4-BE49-F238E27FC236}">
                <a16:creationId xmlns:a16="http://schemas.microsoft.com/office/drawing/2014/main" xmlns="" id="{C0BA96B3-F713-41B0-A2E3-15E9039E4743}"/>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a:xfrm>
            <a:off x="9980476" y="0"/>
            <a:ext cx="2211524" cy="6858000"/>
          </a:xfrm>
        </p:spPr>
      </p:pic>
      <p:sp>
        <p:nvSpPr>
          <p:cNvPr id="2" name="Subtitle 1"/>
          <p:cNvSpPr>
            <a:spLocks noGrp="1"/>
          </p:cNvSpPr>
          <p:nvPr>
            <p:ph type="subTitle" idx="1"/>
          </p:nvPr>
        </p:nvSpPr>
        <p:spPr>
          <a:xfrm>
            <a:off x="3731577" y="2976284"/>
            <a:ext cx="4880096" cy="3488909"/>
          </a:xfrm>
        </p:spPr>
        <p:txBody>
          <a:bodyPr/>
          <a:lstStyle/>
          <a:p>
            <a:pPr marL="342900" indent="-342900">
              <a:buFont typeface="+mj-lt"/>
              <a:buAutoNum type="alphaLcParenR"/>
            </a:pPr>
            <a:r>
              <a:rPr lang="en-US" dirty="0" smtClean="0"/>
              <a:t>Agencies </a:t>
            </a:r>
            <a:r>
              <a:rPr lang="en-US" dirty="0"/>
              <a:t>responsible for the creation of ideologies</a:t>
            </a:r>
            <a:endParaRPr lang="en-US" dirty="0" smtClean="0"/>
          </a:p>
          <a:p>
            <a:pPr marL="342900" indent="-342900">
              <a:buFont typeface="+mj-lt"/>
              <a:buAutoNum type="alphaLcParenR"/>
            </a:pPr>
            <a:r>
              <a:rPr lang="en-US" dirty="0" smtClean="0"/>
              <a:t>Pressure </a:t>
            </a:r>
            <a:r>
              <a:rPr lang="en-US" dirty="0"/>
              <a:t>groups</a:t>
            </a:r>
          </a:p>
          <a:p>
            <a:pPr marL="342900" indent="-342900">
              <a:buFont typeface="+mj-lt"/>
              <a:buAutoNum type="alphaLcParenR"/>
            </a:pPr>
            <a:r>
              <a:rPr lang="en-US" dirty="0" smtClean="0"/>
              <a:t>Political </a:t>
            </a:r>
            <a:r>
              <a:rPr lang="en-US" dirty="0"/>
              <a:t>parties</a:t>
            </a:r>
          </a:p>
          <a:p>
            <a:pPr marL="342900" indent="-342900">
              <a:buFont typeface="+mj-lt"/>
              <a:buAutoNum type="alphaLcParenR"/>
            </a:pPr>
            <a:r>
              <a:rPr lang="en-US" dirty="0" smtClean="0"/>
              <a:t> </a:t>
            </a:r>
            <a:r>
              <a:rPr lang="en-US" dirty="0"/>
              <a:t>Media</a:t>
            </a:r>
          </a:p>
          <a:p>
            <a:pPr marL="342900" indent="-342900">
              <a:buFont typeface="+mj-lt"/>
              <a:buAutoNum type="alphaLcParenR"/>
            </a:pPr>
            <a:r>
              <a:rPr lang="en-US" dirty="0" smtClean="0"/>
              <a:t> </a:t>
            </a:r>
            <a:r>
              <a:rPr lang="en-US" dirty="0" smtClean="0"/>
              <a:t>Religion</a:t>
            </a:r>
            <a:endParaRPr lang="en-US" dirty="0"/>
          </a:p>
        </p:txBody>
      </p:sp>
    </p:spTree>
    <p:extLst>
      <p:ext uri="{BB962C8B-B14F-4D97-AF65-F5344CB8AC3E}">
        <p14:creationId xmlns:p14="http://schemas.microsoft.com/office/powerpoint/2010/main" val="389996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Agencies responsible for creation </a:t>
            </a:r>
            <a:br>
              <a:rPr lang="en-US" dirty="0"/>
            </a:br>
            <a:r>
              <a:rPr lang="en-US" dirty="0"/>
              <a:t>           and Propagation of Ideologies</a:t>
            </a:r>
          </a:p>
        </p:txBody>
      </p:sp>
      <p:sp>
        <p:nvSpPr>
          <p:cNvPr id="3" name="Slide Number Placeholder 2"/>
          <p:cNvSpPr>
            <a:spLocks noGrp="1"/>
          </p:cNvSpPr>
          <p:nvPr>
            <p:ph type="sldNum" sz="quarter" idx="33"/>
          </p:nvPr>
        </p:nvSpPr>
        <p:spPr/>
        <p:txBody>
          <a:bodyPr/>
          <a:lstStyle/>
          <a:p>
            <a:fld id="{19B51A1E-902D-48AF-9020-955120F399B6}" type="slidenum">
              <a:rPr lang="en-US" noProof="0" smtClean="0"/>
              <a:pPr/>
              <a:t>2</a:t>
            </a:fld>
            <a:endParaRPr lang="en-US" noProof="0" dirty="0"/>
          </a:p>
        </p:txBody>
      </p:sp>
      <p:sp>
        <p:nvSpPr>
          <p:cNvPr id="4" name="Content Placeholder 3"/>
          <p:cNvSpPr>
            <a:spLocks noGrp="1"/>
          </p:cNvSpPr>
          <p:nvPr>
            <p:ph idx="1"/>
          </p:nvPr>
        </p:nvSpPr>
        <p:spPr>
          <a:xfrm>
            <a:off x="432000" y="1046374"/>
            <a:ext cx="9198000" cy="5811625"/>
          </a:xfrm>
        </p:spPr>
        <p:txBody>
          <a:bodyPr/>
          <a:lstStyle/>
          <a:p>
            <a:r>
              <a:rPr lang="en-US" sz="2400" dirty="0"/>
              <a:t>Key agencies responsible for the creation and propagation of ideologies include</a:t>
            </a:r>
            <a:r>
              <a:rPr lang="en-US" sz="2400" dirty="0" smtClean="0"/>
              <a:t>:</a:t>
            </a:r>
            <a:r>
              <a:rPr lang="en-US" sz="2400" dirty="0"/>
              <a:t/>
            </a:r>
            <a:br>
              <a:rPr lang="en-US" sz="2400" dirty="0"/>
            </a:br>
            <a:r>
              <a:rPr lang="en-US" sz="2400" b="1" dirty="0"/>
              <a:t>1.Educational Institutions:</a:t>
            </a:r>
            <a:r>
              <a:rPr lang="en-US" sz="2400" dirty="0"/>
              <a:t/>
            </a:r>
            <a:br>
              <a:rPr lang="en-US" sz="2400" dirty="0"/>
            </a:br>
            <a:r>
              <a:rPr lang="en-US" sz="2400" dirty="0"/>
              <a:t> Schools, colleges, and universities play a crucial role in shaping the beliefs and values of </a:t>
            </a:r>
            <a:r>
              <a:rPr lang="en-US" sz="2400" dirty="0" smtClean="0"/>
              <a:t>individuals. Curricula</a:t>
            </a:r>
            <a:r>
              <a:rPr lang="en-US" sz="2400" dirty="0"/>
              <a:t>, teaching methods, and academic research can influence ideological development of the young and inexperienced minds.</a:t>
            </a:r>
            <a:br>
              <a:rPr lang="en-US" sz="2400" dirty="0"/>
            </a:br>
            <a:r>
              <a:rPr lang="en-US" sz="2400" b="1" dirty="0"/>
              <a:t>2.Political Parties:</a:t>
            </a:r>
            <a:r>
              <a:rPr lang="en-US" sz="2400" dirty="0"/>
              <a:t/>
            </a:r>
            <a:br>
              <a:rPr lang="en-US" sz="2400" dirty="0"/>
            </a:br>
            <a:r>
              <a:rPr lang="en-US" sz="2400" dirty="0"/>
              <a:t>Political parties create and promote ideologies to guide their policies and appeal the voters. They often craft narratives and platforms that reflect their ideological stances through their manifestoes and services</a:t>
            </a:r>
            <a:r>
              <a:rPr lang="en-US" sz="2400" dirty="0" smtClean="0"/>
              <a:t>.</a:t>
            </a:r>
            <a:r>
              <a:rPr lang="en-US" sz="2400" dirty="0"/>
              <a:t/>
            </a:r>
            <a:br>
              <a:rPr lang="en-US" sz="2400" dirty="0"/>
            </a:br>
            <a:r>
              <a:rPr lang="en-US" sz="2400" b="1" dirty="0"/>
              <a:t>3. Media (Print, Electronic and Social): </a:t>
            </a:r>
            <a:r>
              <a:rPr lang="en-US" sz="2400" dirty="0"/>
              <a:t>Newspapers, television, radio, and digital media are powerful tools for spreading ideologies. Media outlets can shape public opinion by framing issues in specific ways, highlighting certain perspectives, and providing platforms for ideological debate.</a:t>
            </a:r>
          </a:p>
          <a:p>
            <a:endParaRPr lang="en-US" sz="2400" dirty="0"/>
          </a:p>
        </p:txBody>
      </p:sp>
    </p:spTree>
    <p:extLst>
      <p:ext uri="{BB962C8B-B14F-4D97-AF65-F5344CB8AC3E}">
        <p14:creationId xmlns:p14="http://schemas.microsoft.com/office/powerpoint/2010/main" val="3912452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33"/>
          </p:nvPr>
        </p:nvSpPr>
        <p:spPr/>
        <p:txBody>
          <a:bodyPr/>
          <a:lstStyle/>
          <a:p>
            <a:fld id="{19B51A1E-902D-48AF-9020-955120F399B6}" type="slidenum">
              <a:rPr lang="en-US" noProof="0" smtClean="0"/>
              <a:pPr/>
              <a:t>3</a:t>
            </a:fld>
            <a:endParaRPr lang="en-US" noProof="0" dirty="0"/>
          </a:p>
        </p:txBody>
      </p:sp>
      <p:sp>
        <p:nvSpPr>
          <p:cNvPr id="4" name="Content Placeholder 3"/>
          <p:cNvSpPr>
            <a:spLocks noGrp="1"/>
          </p:cNvSpPr>
          <p:nvPr>
            <p:ph idx="1"/>
          </p:nvPr>
        </p:nvSpPr>
        <p:spPr/>
        <p:txBody>
          <a:bodyPr/>
          <a:lstStyle/>
          <a:p>
            <a:r>
              <a:rPr lang="en-US" sz="2400" b="1" dirty="0"/>
              <a:t>4.Think Tanks and Research Institutes: </a:t>
            </a:r>
            <a:r>
              <a:rPr lang="en-US" sz="2400" dirty="0"/>
              <a:t/>
            </a:r>
            <a:br>
              <a:rPr lang="en-US" sz="2400" dirty="0"/>
            </a:br>
            <a:r>
              <a:rPr lang="en-US" sz="2400" dirty="0"/>
              <a:t>These organizations conduct research and develop policy proposals based on specific ideological perspectives (right, left, </a:t>
            </a:r>
            <a:r>
              <a:rPr lang="en-US" sz="2400" dirty="0" smtClean="0"/>
              <a:t>center, </a:t>
            </a:r>
            <a:r>
              <a:rPr lang="en-US" sz="2400" dirty="0"/>
              <a:t>religious, secular </a:t>
            </a:r>
            <a:r>
              <a:rPr lang="en-US" sz="2400" dirty="0" smtClean="0"/>
              <a:t>etc.). </a:t>
            </a:r>
            <a:r>
              <a:rPr lang="en-US" sz="2400" dirty="0"/>
              <a:t>They often influence public policy and opinion through publications, conferences, and direct engagement with policymakers.</a:t>
            </a:r>
          </a:p>
          <a:p>
            <a:r>
              <a:rPr lang="en-US" sz="2400" b="1" dirty="0"/>
              <a:t>5.Religious Institutions:</a:t>
            </a:r>
            <a:r>
              <a:rPr lang="en-US" sz="2400" dirty="0"/>
              <a:t/>
            </a:r>
            <a:br>
              <a:rPr lang="en-US" sz="2400" dirty="0"/>
            </a:br>
            <a:r>
              <a:rPr lang="en-US" sz="2400" dirty="0"/>
              <a:t>Churches, mosques, temples, and other religious organizations often propagate specific ideologies based on their religious doctrines. These institutions can influence moral and ethical perspectives in society.</a:t>
            </a:r>
          </a:p>
          <a:p>
            <a:r>
              <a:rPr lang="en-US" sz="2400" b="1" dirty="0"/>
              <a:t>6.Government and State Institutions: </a:t>
            </a:r>
            <a:r>
              <a:rPr lang="en-US" sz="2400" dirty="0"/>
              <a:t/>
            </a:r>
            <a:br>
              <a:rPr lang="en-US" sz="2400" dirty="0"/>
            </a:br>
            <a:r>
              <a:rPr lang="en-US" sz="2400" dirty="0"/>
              <a:t>Governments can promote particular ideologies through policies, propaganda, and state-controlled media. Education and cultural ministries often play roles in shaping national ideologies.</a:t>
            </a:r>
          </a:p>
          <a:p>
            <a:endParaRPr lang="en-US" sz="2400" dirty="0"/>
          </a:p>
          <a:p>
            <a:endParaRPr lang="en-US" sz="2400" dirty="0"/>
          </a:p>
        </p:txBody>
      </p:sp>
    </p:spTree>
    <p:extLst>
      <p:ext uri="{BB962C8B-B14F-4D97-AF65-F5344CB8AC3E}">
        <p14:creationId xmlns:p14="http://schemas.microsoft.com/office/powerpoint/2010/main" val="3362190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33"/>
          </p:nvPr>
        </p:nvSpPr>
        <p:spPr/>
        <p:txBody>
          <a:bodyPr/>
          <a:lstStyle/>
          <a:p>
            <a:fld id="{19B51A1E-902D-48AF-9020-955120F399B6}" type="slidenum">
              <a:rPr lang="en-US" noProof="0" smtClean="0"/>
              <a:pPr/>
              <a:t>4</a:t>
            </a:fld>
            <a:endParaRPr lang="en-US" noProof="0" dirty="0"/>
          </a:p>
        </p:txBody>
      </p:sp>
      <p:sp>
        <p:nvSpPr>
          <p:cNvPr id="4" name="Content Placeholder 3"/>
          <p:cNvSpPr>
            <a:spLocks noGrp="1"/>
          </p:cNvSpPr>
          <p:nvPr>
            <p:ph idx="1"/>
          </p:nvPr>
        </p:nvSpPr>
        <p:spPr/>
        <p:txBody>
          <a:bodyPr/>
          <a:lstStyle/>
          <a:p>
            <a:r>
              <a:rPr lang="en-US" sz="2400" b="1" dirty="0"/>
              <a:t>7. Corporations and Business Groups: </a:t>
            </a:r>
            <a:r>
              <a:rPr lang="en-US" sz="2400" dirty="0"/>
              <a:t/>
            </a:r>
            <a:br>
              <a:rPr lang="en-US" sz="2400" dirty="0"/>
            </a:br>
            <a:r>
              <a:rPr lang="en-US" sz="2400" dirty="0"/>
              <a:t>Large corporations and industry groups can influence ideologies through advertising, lobbying, and corporate social responsibility initiatives. They often promote economic ideologies that align with their interests and also many times influences government initiatives for public services.</a:t>
            </a:r>
          </a:p>
          <a:p>
            <a:r>
              <a:rPr lang="en-US" sz="2400" b="1" dirty="0"/>
              <a:t>8. Family and Community: </a:t>
            </a:r>
            <a:r>
              <a:rPr lang="en-US" sz="2400" dirty="0"/>
              <a:t/>
            </a:r>
            <a:br>
              <a:rPr lang="en-US" sz="2400" dirty="0"/>
            </a:br>
            <a:r>
              <a:rPr lang="en-US" sz="2400" dirty="0"/>
              <a:t>Family structures and community organizations play a role in the early (in between the early years till 22 years) socialization of individuals- afterwards a person is expected to start becoming independent, transmitting beliefs, values, and ideologies from one generation to the next. </a:t>
            </a:r>
            <a:br>
              <a:rPr lang="en-US" sz="2400" dirty="0"/>
            </a:br>
            <a:r>
              <a:rPr lang="en-US" sz="2400" dirty="0"/>
              <a:t/>
            </a:r>
            <a:br>
              <a:rPr lang="en-US" sz="2400" dirty="0"/>
            </a:br>
            <a:r>
              <a:rPr lang="en-US" sz="2400" dirty="0"/>
              <a:t>These agencies interact in complex ways, often reinforcing or challenging each other's influence, contributing to the dynamic and multifaceted nature of ideological creation and dissemination in society.</a:t>
            </a:r>
          </a:p>
          <a:p>
            <a:endParaRPr lang="en-US" sz="2400" dirty="0"/>
          </a:p>
        </p:txBody>
      </p:sp>
    </p:spTree>
    <p:extLst>
      <p:ext uri="{BB962C8B-B14F-4D97-AF65-F5344CB8AC3E}">
        <p14:creationId xmlns:p14="http://schemas.microsoft.com/office/powerpoint/2010/main" val="2032623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32"/>
          </p:nvPr>
        </p:nvSpPr>
        <p:spPr>
          <a:xfrm>
            <a:off x="431801" y="476518"/>
            <a:ext cx="9198116" cy="891482"/>
          </a:xfrm>
        </p:spPr>
        <p:txBody>
          <a:bodyPr/>
          <a:lstStyle/>
          <a:p>
            <a:pPr algn="ctr"/>
            <a:r>
              <a:rPr lang="en-US" sz="4400" b="1" dirty="0" smtClean="0"/>
              <a:t>PRESSURE GROUPS</a:t>
            </a:r>
            <a:endParaRPr lang="en-US" sz="4400" b="1" dirty="0"/>
          </a:p>
        </p:txBody>
      </p:sp>
      <p:sp>
        <p:nvSpPr>
          <p:cNvPr id="4" name="Content Placeholder 3"/>
          <p:cNvSpPr>
            <a:spLocks noGrp="1"/>
          </p:cNvSpPr>
          <p:nvPr>
            <p:ph idx="1"/>
          </p:nvPr>
        </p:nvSpPr>
        <p:spPr>
          <a:xfrm>
            <a:off x="431999" y="1171977"/>
            <a:ext cx="9574885" cy="5019273"/>
          </a:xfrm>
        </p:spPr>
        <p:txBody>
          <a:bodyPr/>
          <a:lstStyle/>
          <a:p>
            <a:endParaRPr lang="en-US" b="1" u="sng" dirty="0" smtClean="0"/>
          </a:p>
          <a:p>
            <a:pPr algn="just"/>
            <a:r>
              <a:rPr lang="en-US" sz="2400" dirty="0"/>
              <a:t>The term </a:t>
            </a:r>
            <a:r>
              <a:rPr lang="en-US" sz="2400" b="1" dirty="0"/>
              <a:t>pressure group </a:t>
            </a:r>
            <a:r>
              <a:rPr lang="en-US" sz="2400" dirty="0"/>
              <a:t>is a very wide definition that does not clearly distinguish between the groups that fall under the term</a:t>
            </a:r>
            <a:r>
              <a:rPr lang="en-US" sz="2400" dirty="0" smtClean="0"/>
              <a:t>.</a:t>
            </a:r>
          </a:p>
          <a:p>
            <a:pPr algn="just"/>
            <a:r>
              <a:rPr lang="en-US" sz="2400" dirty="0"/>
              <a:t>They can also be described as ‘</a:t>
            </a:r>
            <a:r>
              <a:rPr lang="en-US" sz="2400" b="1" dirty="0"/>
              <a:t>interest</a:t>
            </a:r>
            <a:r>
              <a:rPr lang="en-US" sz="2400" dirty="0"/>
              <a:t> </a:t>
            </a:r>
            <a:r>
              <a:rPr lang="en-US" sz="2400" b="1" dirty="0"/>
              <a:t>groups</a:t>
            </a:r>
            <a:r>
              <a:rPr lang="en-US" sz="2400" dirty="0"/>
              <a:t>’, ‘</a:t>
            </a:r>
            <a:r>
              <a:rPr lang="en-US" sz="2400" b="1" dirty="0"/>
              <a:t>lobby</a:t>
            </a:r>
            <a:r>
              <a:rPr lang="en-US" sz="2400" dirty="0"/>
              <a:t> </a:t>
            </a:r>
            <a:r>
              <a:rPr lang="en-US" sz="2400" b="1" dirty="0"/>
              <a:t>groups</a:t>
            </a:r>
            <a:r>
              <a:rPr lang="en-US" sz="2400" dirty="0"/>
              <a:t>’ or ‘</a:t>
            </a:r>
            <a:r>
              <a:rPr lang="en-US" sz="2400" b="1" dirty="0"/>
              <a:t>protest</a:t>
            </a:r>
            <a:r>
              <a:rPr lang="en-US" sz="2400" dirty="0"/>
              <a:t> </a:t>
            </a:r>
            <a:r>
              <a:rPr lang="en-US" sz="2400" b="1" dirty="0"/>
              <a:t>groups</a:t>
            </a:r>
            <a:r>
              <a:rPr lang="en-US" sz="2400" dirty="0" smtClean="0"/>
              <a:t>’.</a:t>
            </a:r>
          </a:p>
          <a:p>
            <a:pPr algn="just"/>
            <a:r>
              <a:rPr lang="en-US" sz="2400" dirty="0" smtClean="0"/>
              <a:t>A pressure can be defined as follows;</a:t>
            </a:r>
          </a:p>
          <a:p>
            <a:pPr algn="just"/>
            <a:r>
              <a:rPr lang="en-US" sz="2400" b="1" i="1" dirty="0"/>
              <a:t>A pressure group is a group of people who are </a:t>
            </a:r>
            <a:r>
              <a:rPr lang="en-US" sz="2400" b="1" i="1" dirty="0" smtClean="0"/>
              <a:t>organized </a:t>
            </a:r>
            <a:r>
              <a:rPr lang="en-US" sz="2400" b="1" i="1" dirty="0"/>
              <a:t>actively for promoting and defending their common interest. </a:t>
            </a:r>
            <a:endParaRPr lang="en-US" sz="2400" b="1" i="1" dirty="0" smtClean="0"/>
          </a:p>
          <a:p>
            <a:pPr algn="just"/>
            <a:r>
              <a:rPr lang="en-US" sz="2400" b="1" i="1" dirty="0" smtClean="0"/>
              <a:t>It </a:t>
            </a:r>
            <a:r>
              <a:rPr lang="en-US" sz="2400" b="1" i="1" dirty="0"/>
              <a:t>is called so, as it attempts to bring a change in public policy by exerting pressure on the government. </a:t>
            </a:r>
            <a:endParaRPr lang="en-US" sz="2400" b="1" i="1" dirty="0" smtClean="0"/>
          </a:p>
          <a:p>
            <a:pPr algn="just"/>
            <a:r>
              <a:rPr lang="en-US" sz="2400" b="1" i="1" dirty="0" smtClean="0"/>
              <a:t>It </a:t>
            </a:r>
            <a:r>
              <a:rPr lang="en-US" sz="2400" b="1" i="1" dirty="0"/>
              <a:t>acts as a liaison between the government and its members.</a:t>
            </a:r>
            <a:endParaRPr lang="en-US" sz="2400" b="1" i="1" dirty="0" smtClean="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5</a:t>
            </a:fld>
            <a:endParaRPr lang="en-US" noProof="0" dirty="0"/>
          </a:p>
        </p:txBody>
      </p:sp>
    </p:spTree>
    <p:extLst>
      <p:ext uri="{BB962C8B-B14F-4D97-AF65-F5344CB8AC3E}">
        <p14:creationId xmlns:p14="http://schemas.microsoft.com/office/powerpoint/2010/main" val="343634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31999" y="1512000"/>
            <a:ext cx="9523369" cy="4679250"/>
          </a:xfrm>
        </p:spPr>
        <p:txBody>
          <a:bodyPr/>
          <a:lstStyle/>
          <a:p>
            <a:pPr algn="just"/>
            <a:r>
              <a:rPr lang="en-US" sz="2400" dirty="0"/>
              <a:t>The pressure groups influence the </a:t>
            </a:r>
            <a:r>
              <a:rPr lang="en-US" sz="2400" b="1" dirty="0"/>
              <a:t>policy-making</a:t>
            </a:r>
            <a:r>
              <a:rPr lang="en-US" sz="2400" dirty="0"/>
              <a:t> and policy implementation in the government through legal and legitimate methods like lobbying, correspondence, publicity, </a:t>
            </a:r>
            <a:r>
              <a:rPr lang="en-US" sz="2400" dirty="0" smtClean="0"/>
              <a:t>propagandizing, </a:t>
            </a:r>
            <a:r>
              <a:rPr lang="en-US" sz="2400" dirty="0"/>
              <a:t>petitioning, public debating, maintaining contacts with their legislators and so forth</a:t>
            </a:r>
            <a:r>
              <a:rPr lang="en-US" sz="2400" dirty="0" smtClean="0"/>
              <a:t>.</a:t>
            </a:r>
          </a:p>
          <a:p>
            <a:pPr algn="just"/>
            <a:endParaRPr lang="en-US" sz="2400" dirty="0" smtClean="0"/>
          </a:p>
          <a:p>
            <a:pPr algn="just"/>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6</a:t>
            </a:fld>
            <a:endParaRPr lang="en-US" noProof="0" dirty="0"/>
          </a:p>
        </p:txBody>
      </p:sp>
      <p:pic>
        <p:nvPicPr>
          <p:cNvPr id="6" name="Picture 5"/>
          <p:cNvPicPr>
            <a:picLocks noChangeAspect="1"/>
          </p:cNvPicPr>
          <p:nvPr/>
        </p:nvPicPr>
        <p:blipFill>
          <a:blip r:embed="rId2"/>
          <a:stretch>
            <a:fillRect/>
          </a:stretch>
        </p:blipFill>
        <p:spPr>
          <a:xfrm>
            <a:off x="103031" y="2859110"/>
            <a:ext cx="9852337" cy="3980140"/>
          </a:xfrm>
          <a:prstGeom prst="rect">
            <a:avLst/>
          </a:prstGeom>
        </p:spPr>
      </p:pic>
    </p:spTree>
    <p:extLst>
      <p:ext uri="{BB962C8B-B14F-4D97-AF65-F5344CB8AC3E}">
        <p14:creationId xmlns:p14="http://schemas.microsoft.com/office/powerpoint/2010/main" val="277472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Characteristics of Pressure Groups </a:t>
            </a:r>
          </a:p>
        </p:txBody>
      </p:sp>
      <p:sp>
        <p:nvSpPr>
          <p:cNvPr id="4" name="Content Placeholder 3"/>
          <p:cNvSpPr>
            <a:spLocks noGrp="1"/>
          </p:cNvSpPr>
          <p:nvPr>
            <p:ph idx="1"/>
          </p:nvPr>
        </p:nvSpPr>
        <p:spPr/>
        <p:txBody>
          <a:bodyPr/>
          <a:lstStyle/>
          <a:p>
            <a:pPr algn="just"/>
            <a:r>
              <a:rPr lang="en-US" sz="2800" b="1" dirty="0"/>
              <a:t>Based on Certain Interests: </a:t>
            </a:r>
            <a:r>
              <a:rPr lang="en-US" sz="2800" dirty="0"/>
              <a:t>Each pressure group </a:t>
            </a:r>
            <a:r>
              <a:rPr lang="en-US" sz="2800" dirty="0" smtClean="0"/>
              <a:t>organizes </a:t>
            </a:r>
            <a:r>
              <a:rPr lang="en-US" sz="2800" dirty="0"/>
              <a:t>itself keeping in view certain interests and thus tries to adopt the structure of power in the political </a:t>
            </a:r>
            <a:r>
              <a:rPr lang="en-US" sz="2800" dirty="0" smtClean="0"/>
              <a:t>systems.</a:t>
            </a:r>
          </a:p>
          <a:p>
            <a:pPr algn="just"/>
            <a:r>
              <a:rPr lang="en-US" sz="2800" b="1" dirty="0"/>
              <a:t>Use of Modern as well as Traditional Means: </a:t>
            </a:r>
            <a:r>
              <a:rPr lang="en-US" sz="2800" dirty="0"/>
              <a:t>They adopt techniques like financing of political parties, sponsoring their close candidates at the time of elections and keeping the bureaucracy also satisfied</a:t>
            </a:r>
            <a:r>
              <a:rPr lang="en-US" sz="2800" dirty="0" smtClean="0"/>
              <a:t>.</a:t>
            </a:r>
          </a:p>
          <a:p>
            <a:pPr algn="just"/>
            <a:r>
              <a:rPr lang="en-US" sz="2800" b="1" dirty="0"/>
              <a:t>Inadequacies of Political Parties</a:t>
            </a:r>
            <a:r>
              <a:rPr lang="en-US" sz="2800" dirty="0"/>
              <a:t>: Pressure groups are primarily a consequence of inadequacies of the political parties.</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7</a:t>
            </a:fld>
            <a:endParaRPr lang="en-US" noProof="0" dirty="0"/>
          </a:p>
        </p:txBody>
      </p:sp>
    </p:spTree>
    <p:extLst>
      <p:ext uri="{BB962C8B-B14F-4D97-AF65-F5344CB8AC3E}">
        <p14:creationId xmlns:p14="http://schemas.microsoft.com/office/powerpoint/2010/main" val="4283497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Types of Pressure Groups</a:t>
            </a:r>
          </a:p>
        </p:txBody>
      </p:sp>
      <p:sp>
        <p:nvSpPr>
          <p:cNvPr id="4" name="Content Placeholder 3"/>
          <p:cNvSpPr>
            <a:spLocks noGrp="1"/>
          </p:cNvSpPr>
          <p:nvPr>
            <p:ph idx="1"/>
          </p:nvPr>
        </p:nvSpPr>
        <p:spPr/>
        <p:txBody>
          <a:bodyPr/>
          <a:lstStyle/>
          <a:p>
            <a:pPr algn="just"/>
            <a:endParaRPr lang="en-US" sz="2400" b="1" dirty="0" smtClean="0"/>
          </a:p>
          <a:p>
            <a:pPr algn="just"/>
            <a:r>
              <a:rPr lang="en-US" sz="2400" b="1" dirty="0" smtClean="0"/>
              <a:t>Institutional </a:t>
            </a:r>
            <a:r>
              <a:rPr lang="en-US" sz="2400" b="1" dirty="0"/>
              <a:t>Interest Groups: </a:t>
            </a:r>
            <a:r>
              <a:rPr lang="en-US" sz="2400" dirty="0"/>
              <a:t>These groups are formally </a:t>
            </a:r>
            <a:r>
              <a:rPr lang="en-US" sz="2400" dirty="0" smtClean="0"/>
              <a:t>organized </a:t>
            </a:r>
            <a:r>
              <a:rPr lang="en-US" sz="2400" dirty="0"/>
              <a:t>which consist of professionally employed persons. They are a part of government machinery and try to exert their influence</a:t>
            </a:r>
            <a:r>
              <a:rPr lang="en-US" sz="2400" dirty="0" smtClean="0"/>
              <a:t>.</a:t>
            </a:r>
          </a:p>
          <a:p>
            <a:pPr algn="just"/>
            <a:r>
              <a:rPr lang="en-US" sz="2400" dirty="0" smtClean="0"/>
              <a:t>These </a:t>
            </a:r>
            <a:r>
              <a:rPr lang="en-US" sz="2400" dirty="0"/>
              <a:t>groups include political parties, legislatures, armies, bureaucracies, etc. Whenever such an association raises protest it does so by constitutional means and in accordance with the rules and regulations</a:t>
            </a:r>
            <a:r>
              <a:rPr lang="en-US" sz="2400" dirty="0" smtClean="0"/>
              <a:t>.</a:t>
            </a:r>
          </a:p>
          <a:p>
            <a:pPr algn="just"/>
            <a:r>
              <a:rPr lang="en-US" sz="2400" b="1" dirty="0"/>
              <a:t>Associational Interest Groups </a:t>
            </a:r>
            <a:r>
              <a:rPr lang="en-US" sz="2400" dirty="0"/>
              <a:t>: These are </a:t>
            </a:r>
            <a:r>
              <a:rPr lang="en-US" sz="2400" dirty="0" smtClean="0"/>
              <a:t>organized specialized </a:t>
            </a:r>
            <a:r>
              <a:rPr lang="en-US" sz="2400" dirty="0"/>
              <a:t>groups formed for interest articulation, but to pursue limited goals. </a:t>
            </a:r>
            <a:endParaRPr lang="en-US" sz="2400" dirty="0" smtClean="0"/>
          </a:p>
          <a:p>
            <a:pPr algn="just"/>
            <a:r>
              <a:rPr lang="en-US" sz="2400" dirty="0" smtClean="0"/>
              <a:t>These </a:t>
            </a:r>
            <a:r>
              <a:rPr lang="en-US" sz="2400" dirty="0"/>
              <a:t>include trade unions, </a:t>
            </a:r>
            <a:r>
              <a:rPr lang="en-US" sz="2400" dirty="0" smtClean="0"/>
              <a:t>organizations </a:t>
            </a:r>
            <a:r>
              <a:rPr lang="en-US" sz="2400" dirty="0"/>
              <a:t>of businessmen and industrialists and civic groups. </a:t>
            </a:r>
            <a:endParaRPr lang="en-US" sz="2400" dirty="0" smtClean="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8</a:t>
            </a:fld>
            <a:endParaRPr lang="en-US" noProof="0" dirty="0"/>
          </a:p>
        </p:txBody>
      </p:sp>
    </p:spTree>
    <p:extLst>
      <p:ext uri="{BB962C8B-B14F-4D97-AF65-F5344CB8AC3E}">
        <p14:creationId xmlns:p14="http://schemas.microsoft.com/office/powerpoint/2010/main" val="3656857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endParaRPr lang="en-US" sz="2400" b="1" dirty="0" smtClean="0"/>
          </a:p>
          <a:p>
            <a:pPr algn="just"/>
            <a:r>
              <a:rPr lang="en-US" sz="2400" b="1" dirty="0" smtClean="0"/>
              <a:t>Anomic </a:t>
            </a:r>
            <a:r>
              <a:rPr lang="en-US" sz="2400" b="1" dirty="0"/>
              <a:t>Interest Groups: </a:t>
            </a:r>
            <a:r>
              <a:rPr lang="en-US" sz="2400" dirty="0"/>
              <a:t>By anomic pressure groups we mean more or less a spontaneous breakthrough into the political system from the society such as riots, demonstrations, assassinations and the like</a:t>
            </a:r>
          </a:p>
          <a:p>
            <a:pPr algn="just"/>
            <a:r>
              <a:rPr lang="en-US" sz="2400" b="1" dirty="0"/>
              <a:t>Non-Associational Interest Groups: </a:t>
            </a:r>
            <a:r>
              <a:rPr lang="en-US" sz="2400" dirty="0"/>
              <a:t>These are the kinship and lineage groups and ethnic, regional, status and class groups that articulate interests on the basis of individuals, family and religious heads. </a:t>
            </a:r>
            <a:endParaRPr lang="en-US" sz="2400" dirty="0" smtClean="0"/>
          </a:p>
          <a:p>
            <a:pPr algn="just"/>
            <a:r>
              <a:rPr lang="en-US" sz="2400" dirty="0" smtClean="0"/>
              <a:t>These </a:t>
            </a:r>
            <a:r>
              <a:rPr lang="en-US" sz="2400" dirty="0"/>
              <a:t>groups have informal structure. </a:t>
            </a:r>
            <a:endParaRPr lang="en-US" sz="2400" dirty="0" smtClean="0"/>
          </a:p>
          <a:p>
            <a:pPr algn="just"/>
            <a:r>
              <a:rPr lang="en-US" sz="2400" dirty="0" smtClean="0"/>
              <a:t>These </a:t>
            </a:r>
            <a:r>
              <a:rPr lang="en-US" sz="2400" dirty="0"/>
              <a:t>include caste groups, language groups, </a:t>
            </a:r>
            <a:r>
              <a:rPr lang="en-US" sz="2400" dirty="0" smtClean="0"/>
              <a:t>etc.</a:t>
            </a:r>
            <a:endParaRPr lang="en-US" sz="2400" dirty="0"/>
          </a:p>
          <a:p>
            <a:pPr algn="just"/>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9</a:t>
            </a:fld>
            <a:endParaRPr lang="en-US" noProof="0" dirty="0"/>
          </a:p>
        </p:txBody>
      </p:sp>
    </p:spTree>
    <p:extLst>
      <p:ext uri="{BB962C8B-B14F-4D97-AF65-F5344CB8AC3E}">
        <p14:creationId xmlns:p14="http://schemas.microsoft.com/office/powerpoint/2010/main" val="1734561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Role &amp; Importance of Pressure Groups</a:t>
            </a:r>
          </a:p>
        </p:txBody>
      </p:sp>
      <p:sp>
        <p:nvSpPr>
          <p:cNvPr id="4" name="Content Placeholder 3"/>
          <p:cNvSpPr>
            <a:spLocks noGrp="1"/>
          </p:cNvSpPr>
          <p:nvPr>
            <p:ph idx="1"/>
          </p:nvPr>
        </p:nvSpPr>
        <p:spPr/>
        <p:txBody>
          <a:bodyPr/>
          <a:lstStyle/>
          <a:p>
            <a:pPr algn="just"/>
            <a:r>
              <a:rPr lang="en-US" sz="2400" b="1" dirty="0"/>
              <a:t>Interest Articulation: </a:t>
            </a:r>
            <a:r>
              <a:rPr lang="en-US" sz="2400" dirty="0" smtClean="0"/>
              <a:t>Pressure </a:t>
            </a:r>
            <a:r>
              <a:rPr lang="en-US" sz="2400" dirty="0"/>
              <a:t>Groups bring the demands and needs of the people to the notice of the decision-makers</a:t>
            </a:r>
            <a:r>
              <a:rPr lang="en-US" sz="2400" dirty="0" smtClean="0"/>
              <a:t>.</a:t>
            </a:r>
            <a:r>
              <a:rPr lang="en-US" sz="2400" b="1" dirty="0"/>
              <a:t> </a:t>
            </a:r>
            <a:r>
              <a:rPr lang="en-US" sz="2400" dirty="0" smtClean="0"/>
              <a:t>The </a:t>
            </a:r>
            <a:r>
              <a:rPr lang="en-US" sz="2400" dirty="0"/>
              <a:t>process by which the claims of the people get crystallized and articulated is called interest </a:t>
            </a:r>
            <a:r>
              <a:rPr lang="en-US" sz="2400" dirty="0" smtClean="0"/>
              <a:t>articulation.</a:t>
            </a:r>
          </a:p>
          <a:p>
            <a:pPr algn="just"/>
            <a:r>
              <a:rPr lang="en-US" sz="2400" b="1" dirty="0"/>
              <a:t>Agents of Political </a:t>
            </a:r>
            <a:r>
              <a:rPr lang="en-US" sz="2400" b="1" dirty="0" smtClean="0"/>
              <a:t>Socialization: </a:t>
            </a:r>
            <a:r>
              <a:rPr lang="en-US" sz="2400" dirty="0"/>
              <a:t>Pressure groups are agents of political </a:t>
            </a:r>
            <a:r>
              <a:rPr lang="en-US" sz="2400" dirty="0" smtClean="0"/>
              <a:t>socialization </a:t>
            </a:r>
            <a:r>
              <a:rPr lang="en-US" sz="2400" dirty="0"/>
              <a:t>in so far as they influence the orientations of the people towards the political process</a:t>
            </a:r>
            <a:r>
              <a:rPr lang="en-US" sz="2400" dirty="0" smtClean="0"/>
              <a:t>.</a:t>
            </a:r>
          </a:p>
          <a:p>
            <a:pPr algn="just"/>
            <a:r>
              <a:rPr lang="en-US" sz="2400" dirty="0" smtClean="0"/>
              <a:t> </a:t>
            </a:r>
            <a:r>
              <a:rPr lang="en-US" sz="2400" dirty="0"/>
              <a:t>These groups play a vital role as two-way communication links between the people and the government</a:t>
            </a:r>
            <a:r>
              <a:rPr lang="en-US" sz="2400" dirty="0" smtClean="0"/>
              <a:t>.</a:t>
            </a:r>
          </a:p>
          <a:p>
            <a:pPr algn="just"/>
            <a:r>
              <a:rPr lang="en-US" sz="2400" dirty="0"/>
              <a:t>Pressure groups play a vital role in the legislative process, not only as important structures of interest articulation, but also as active agencies engaged in lobbying with the legislators for securing desired laws or amendments in laws and policies of the government</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10</a:t>
            </a:fld>
            <a:endParaRPr lang="en-US" noProof="0" dirty="0"/>
          </a:p>
        </p:txBody>
      </p:sp>
    </p:spTree>
    <p:extLst>
      <p:ext uri="{BB962C8B-B14F-4D97-AF65-F5344CB8AC3E}">
        <p14:creationId xmlns:p14="http://schemas.microsoft.com/office/powerpoint/2010/main" val="3119064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endParaRPr lang="en-US" sz="2400" b="1" dirty="0" smtClean="0"/>
          </a:p>
          <a:p>
            <a:pPr algn="just"/>
            <a:r>
              <a:rPr lang="en-US" sz="2400" b="1" dirty="0" smtClean="0"/>
              <a:t>Pressure </a:t>
            </a:r>
            <a:r>
              <a:rPr lang="en-US" sz="2400" b="1" dirty="0"/>
              <a:t>Groups and Administration: </a:t>
            </a:r>
            <a:r>
              <a:rPr lang="en-US" sz="2400" dirty="0"/>
              <a:t>Pressure Groups are actively involved with the process of administration. Through lobbying with the bureaucracy, the pressure groups are usually in a position to influence the process of policy implementation</a:t>
            </a:r>
            <a:r>
              <a:rPr lang="en-US" sz="2400" dirty="0" smtClean="0"/>
              <a:t>.</a:t>
            </a:r>
          </a:p>
          <a:p>
            <a:pPr algn="just"/>
            <a:r>
              <a:rPr lang="en-US" sz="2400" b="1" dirty="0"/>
              <a:t>Role in Judicial Administration</a:t>
            </a:r>
            <a:r>
              <a:rPr lang="en-US" sz="2400" dirty="0"/>
              <a:t>: Pressure Groups try to use the judicial system for securing and safeguarding their interests</a:t>
            </a:r>
            <a:r>
              <a:rPr lang="en-US" sz="2400" dirty="0" smtClean="0"/>
              <a:t>.</a:t>
            </a:r>
          </a:p>
          <a:p>
            <a:pPr algn="just"/>
            <a:r>
              <a:rPr lang="en-US" sz="2400" dirty="0" smtClean="0"/>
              <a:t> </a:t>
            </a:r>
            <a:r>
              <a:rPr lang="en-US" sz="2400" dirty="0"/>
              <a:t>Interest groups often seek access to the court </a:t>
            </a:r>
            <a:r>
              <a:rPr lang="en-US" sz="2400" dirty="0" smtClean="0"/>
              <a:t>to redress their </a:t>
            </a:r>
            <a:r>
              <a:rPr lang="en-US" sz="2400" dirty="0"/>
              <a:t>grievances against the government as well as for getting declared a particular decision or policy as </a:t>
            </a:r>
            <a:r>
              <a:rPr lang="en-US" sz="2400" dirty="0" smtClean="0"/>
              <a:t>unconstitutional</a:t>
            </a:r>
            <a:r>
              <a:rPr lang="en-US" dirty="0" smtClean="0"/>
              <a:t>.</a:t>
            </a:r>
            <a:endParaRPr lang="en-US"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11</a:t>
            </a:fld>
            <a:endParaRPr lang="en-US" noProof="0" dirty="0"/>
          </a:p>
        </p:txBody>
      </p:sp>
    </p:spTree>
    <p:extLst>
      <p:ext uri="{BB962C8B-B14F-4D97-AF65-F5344CB8AC3E}">
        <p14:creationId xmlns:p14="http://schemas.microsoft.com/office/powerpoint/2010/main" val="11273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r>
              <a:rPr lang="en-US" sz="2400" b="1" dirty="0"/>
              <a:t>Misuse of power: </a:t>
            </a:r>
            <a:r>
              <a:rPr lang="en-US" sz="2400" dirty="0"/>
              <a:t>Instead of the pressure groups exerting influence on political process, they become tools and implements to </a:t>
            </a:r>
            <a:r>
              <a:rPr lang="en-US" sz="2400" dirty="0" smtClean="0"/>
              <a:t>sub serve </a:t>
            </a:r>
            <a:r>
              <a:rPr lang="en-US" sz="2400" dirty="0"/>
              <a:t>political interests</a:t>
            </a:r>
            <a:r>
              <a:rPr lang="en-US" sz="2400" dirty="0" smtClean="0"/>
              <a:t>.</a:t>
            </a:r>
          </a:p>
          <a:p>
            <a:pPr algn="just"/>
            <a:r>
              <a:rPr lang="en-US" sz="2400" b="1" dirty="0"/>
              <a:t>Instability</a:t>
            </a:r>
            <a:r>
              <a:rPr lang="en-US" sz="2400" dirty="0"/>
              <a:t>: Most pressure groups do not have autonomous existence; they are unstable and lack commitment, their loyalties shift with political situations which threatens general welfare. They many a times resort to unconstitutional means like </a:t>
            </a:r>
            <a:r>
              <a:rPr lang="en-US" sz="2400" dirty="0" smtClean="0"/>
              <a:t>violence.</a:t>
            </a:r>
          </a:p>
          <a:p>
            <a:pPr algn="just"/>
            <a:r>
              <a:rPr lang="en-US" sz="2400" b="1" dirty="0"/>
              <a:t>Propagating extremism: </a:t>
            </a:r>
            <a:r>
              <a:rPr lang="en-US" sz="2400" dirty="0"/>
              <a:t>Pressure groups can allow too much influence over the government from unelected extremist minority groups, which in turn could lead to unpopular consequences</a:t>
            </a:r>
            <a:r>
              <a:rPr lang="en-US" sz="2400" dirty="0" smtClean="0"/>
              <a:t>.</a:t>
            </a:r>
          </a:p>
          <a:p>
            <a:pPr algn="just"/>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12</a:t>
            </a:fld>
            <a:endParaRPr lang="en-US" noProof="0" dirty="0"/>
          </a:p>
        </p:txBody>
      </p:sp>
      <p:sp>
        <p:nvSpPr>
          <p:cNvPr id="6" name="Title 5"/>
          <p:cNvSpPr>
            <a:spLocks noGrp="1"/>
          </p:cNvSpPr>
          <p:nvPr>
            <p:ph type="title"/>
          </p:nvPr>
        </p:nvSpPr>
        <p:spPr/>
        <p:txBody>
          <a:bodyPr/>
          <a:lstStyle/>
          <a:p>
            <a:pPr algn="ctr"/>
            <a:r>
              <a:rPr lang="en-US" dirty="0" smtClean="0"/>
              <a:t>SHORTCOMING OF PRESSURE GROUPS</a:t>
            </a:r>
            <a:endParaRPr lang="en-US" dirty="0"/>
          </a:p>
        </p:txBody>
      </p:sp>
    </p:spTree>
    <p:extLst>
      <p:ext uri="{BB962C8B-B14F-4D97-AF65-F5344CB8AC3E}">
        <p14:creationId xmlns:p14="http://schemas.microsoft.com/office/powerpoint/2010/main" val="1100955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4" name="Content Placeholder 3"/>
          <p:cNvSpPr>
            <a:spLocks noGrp="1"/>
          </p:cNvSpPr>
          <p:nvPr>
            <p:ph idx="1"/>
          </p:nvPr>
        </p:nvSpPr>
        <p:spPr/>
        <p:txBody>
          <a:bodyPr/>
          <a:lstStyle/>
          <a:p>
            <a:pPr algn="just"/>
            <a:r>
              <a:rPr lang="en-US" sz="2400" dirty="0"/>
              <a:t>Pressure groups are now considered as an indispensable and helpful element of the democratic process. </a:t>
            </a:r>
            <a:endParaRPr lang="en-US" sz="2400" dirty="0" smtClean="0"/>
          </a:p>
          <a:p>
            <a:pPr algn="just"/>
            <a:r>
              <a:rPr lang="en-US" sz="2400" dirty="0" smtClean="0"/>
              <a:t>The </a:t>
            </a:r>
            <a:r>
              <a:rPr lang="en-US" sz="2400" dirty="0"/>
              <a:t>society has become highly complex and individuals cannot pursue their interests on their own. </a:t>
            </a:r>
            <a:endParaRPr lang="en-US" sz="2400" dirty="0" smtClean="0"/>
          </a:p>
          <a:p>
            <a:pPr algn="just"/>
            <a:r>
              <a:rPr lang="en-US" sz="2400" dirty="0" smtClean="0"/>
              <a:t>They </a:t>
            </a:r>
            <a:r>
              <a:rPr lang="en-US" sz="2400" dirty="0"/>
              <a:t>need the support of other fellow beings in order to gain greater bargaining power; this gives rise to pressure groups based on common interests</a:t>
            </a:r>
            <a:r>
              <a:rPr lang="en-US" sz="2400" dirty="0" smtClean="0"/>
              <a:t>.</a:t>
            </a:r>
          </a:p>
          <a:p>
            <a:pPr algn="just"/>
            <a:r>
              <a:rPr lang="en-US" sz="2400" dirty="0"/>
              <a:t>Democratic politics has to be politics through consultation, through negotiation and some amount of bargaining is also involved. </a:t>
            </a:r>
            <a:endParaRPr lang="en-US" sz="2400" dirty="0" smtClean="0"/>
          </a:p>
          <a:p>
            <a:pPr algn="just"/>
            <a:r>
              <a:rPr lang="en-US" sz="2400" dirty="0" smtClean="0"/>
              <a:t>Thus</a:t>
            </a:r>
            <a:r>
              <a:rPr lang="en-US" sz="2400" dirty="0"/>
              <a:t>, it is very essential for the government to consult these </a:t>
            </a:r>
            <a:r>
              <a:rPr lang="en-US" sz="2400" dirty="0" smtClean="0"/>
              <a:t>organized </a:t>
            </a:r>
            <a:r>
              <a:rPr lang="en-US" sz="2400" dirty="0"/>
              <a:t>groups at the time of policy formulation and </a:t>
            </a:r>
            <a:r>
              <a:rPr lang="en-US" sz="2400" dirty="0" smtClean="0"/>
              <a:t>implementation.</a:t>
            </a:r>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13</a:t>
            </a:fld>
            <a:endParaRPr lang="en-US" noProof="0" dirty="0"/>
          </a:p>
        </p:txBody>
      </p:sp>
    </p:spTree>
    <p:extLst>
      <p:ext uri="{BB962C8B-B14F-4D97-AF65-F5344CB8AC3E}">
        <p14:creationId xmlns:p14="http://schemas.microsoft.com/office/powerpoint/2010/main" val="1562886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32000" y="1512000"/>
            <a:ext cx="9510490" cy="4679250"/>
          </a:xfrm>
        </p:spPr>
        <p:txBody>
          <a:bodyPr/>
          <a:lstStyle/>
          <a:p>
            <a:pPr algn="just"/>
            <a:r>
              <a:rPr lang="en-US" sz="2400" dirty="0"/>
              <a:t>A political party is defined as </a:t>
            </a:r>
            <a:r>
              <a:rPr lang="en-US" sz="2400" b="1" i="1" dirty="0"/>
              <a:t>an organized and presumably durable association, either of individuals or of distinguishable groups of individuals, which </a:t>
            </a:r>
            <a:r>
              <a:rPr lang="en-US" sz="2400" b="1" i="1" dirty="0" smtClean="0"/>
              <a:t>endeavors </a:t>
            </a:r>
            <a:r>
              <a:rPr lang="en-US" sz="2400" b="1" i="1" dirty="0"/>
              <a:t>to place its members in governmental offices for the purpose of bringing about the adoption of </a:t>
            </a:r>
            <a:r>
              <a:rPr lang="en-US" sz="2400" b="1" i="1" dirty="0" smtClean="0"/>
              <a:t>favored </a:t>
            </a:r>
            <a:r>
              <a:rPr lang="en-US" sz="2400" b="1" i="1" dirty="0"/>
              <a:t>political policies or </a:t>
            </a:r>
            <a:r>
              <a:rPr lang="en-US" sz="2400" b="1" i="1" dirty="0" smtClean="0"/>
              <a:t>programmes</a:t>
            </a:r>
            <a:r>
              <a:rPr lang="en-US" sz="2400" b="1" i="1" dirty="0" smtClean="0"/>
              <a:t>.</a:t>
            </a:r>
          </a:p>
          <a:p>
            <a:pPr algn="just"/>
            <a:r>
              <a:rPr lang="en-US" sz="2400" dirty="0"/>
              <a:t>Of all the characteristics of parties, the one which distinguishes them from all other associations evincing a substantial interest in public affairs is their effort to secure the election or the appointment of their own personnel to the public positions through which the policies of government are prescribed for implementation.</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14</a:t>
            </a:fld>
            <a:endParaRPr lang="en-US" noProof="0" dirty="0"/>
          </a:p>
        </p:txBody>
      </p:sp>
      <p:sp>
        <p:nvSpPr>
          <p:cNvPr id="6" name="Title 5"/>
          <p:cNvSpPr>
            <a:spLocks noGrp="1"/>
          </p:cNvSpPr>
          <p:nvPr>
            <p:ph type="title"/>
          </p:nvPr>
        </p:nvSpPr>
        <p:spPr/>
        <p:txBody>
          <a:bodyPr/>
          <a:lstStyle/>
          <a:p>
            <a:pPr algn="ctr"/>
            <a:r>
              <a:rPr lang="en-US" dirty="0" smtClean="0"/>
              <a:t>POLITICAL PARTIES</a:t>
            </a:r>
            <a:endParaRPr lang="en-US" dirty="0"/>
          </a:p>
        </p:txBody>
      </p:sp>
    </p:spTree>
    <p:extLst>
      <p:ext uri="{BB962C8B-B14F-4D97-AF65-F5344CB8AC3E}">
        <p14:creationId xmlns:p14="http://schemas.microsoft.com/office/powerpoint/2010/main" val="5256441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Characteristics of a political party</a:t>
            </a:r>
            <a:endParaRPr lang="en-US" dirty="0"/>
          </a:p>
        </p:txBody>
      </p:sp>
      <p:sp>
        <p:nvSpPr>
          <p:cNvPr id="4" name="Content Placeholder 3"/>
          <p:cNvSpPr>
            <a:spLocks noGrp="1"/>
          </p:cNvSpPr>
          <p:nvPr>
            <p:ph idx="1"/>
          </p:nvPr>
        </p:nvSpPr>
        <p:spPr/>
        <p:txBody>
          <a:bodyPr/>
          <a:lstStyle/>
          <a:p>
            <a:pPr marL="457200" indent="-457200" algn="just">
              <a:buFont typeface="+mj-lt"/>
              <a:buAutoNum type="arabicPeriod"/>
            </a:pPr>
            <a:r>
              <a:rPr lang="en-US" sz="2400" dirty="0"/>
              <a:t>One of the primary characteristics of a political party is its </a:t>
            </a:r>
            <a:r>
              <a:rPr lang="en-US" sz="2400" b="1" dirty="0" smtClean="0"/>
              <a:t>endeavor </a:t>
            </a:r>
            <a:r>
              <a:rPr lang="en-US" sz="2400" b="1" dirty="0"/>
              <a:t>to control the exercise of governmental powers</a:t>
            </a:r>
            <a:r>
              <a:rPr lang="en-US" sz="2400" dirty="0"/>
              <a:t> by placing its own members in the public offices through which the policies of government are </a:t>
            </a:r>
            <a:r>
              <a:rPr lang="en-US" sz="2400" dirty="0" smtClean="0"/>
              <a:t>determined.</a:t>
            </a:r>
          </a:p>
          <a:p>
            <a:pPr algn="just"/>
            <a:r>
              <a:rPr lang="en-US" sz="2400" dirty="0"/>
              <a:t>Among these offices are those endowed with law-making authority and those invested with the power to direct and supervise the execution of </a:t>
            </a:r>
            <a:r>
              <a:rPr lang="en-US" sz="2400" dirty="0" smtClean="0"/>
              <a:t>laws.</a:t>
            </a:r>
          </a:p>
          <a:p>
            <a:pPr algn="just"/>
            <a:r>
              <a:rPr lang="en-US" sz="2400" dirty="0"/>
              <a:t>A party strives to capture elective positions by placing its members in nomination and by campaigning for their election; in the case of appointive posts, its efforts are directed toward persuading the appointing authority to make selections from its membership.</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15</a:t>
            </a:fld>
            <a:endParaRPr lang="en-US" noProof="0" dirty="0"/>
          </a:p>
        </p:txBody>
      </p:sp>
    </p:spTree>
    <p:extLst>
      <p:ext uri="{BB962C8B-B14F-4D97-AF65-F5344CB8AC3E}">
        <p14:creationId xmlns:p14="http://schemas.microsoft.com/office/powerpoint/2010/main" val="331473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indent="0" algn="just">
              <a:buNone/>
            </a:pPr>
            <a:r>
              <a:rPr lang="en-US" sz="2400" dirty="0" smtClean="0"/>
              <a:t>2. A </a:t>
            </a:r>
            <a:r>
              <a:rPr lang="en-US" sz="2400" dirty="0"/>
              <a:t>second characteristic of a political party is </a:t>
            </a:r>
            <a:r>
              <a:rPr lang="en-US" sz="2400" b="1" dirty="0"/>
              <a:t>its intention to use governmental powers for purposes which meet with the general approval of its leaders and the rank and file of its membership</a:t>
            </a:r>
            <a:r>
              <a:rPr lang="en-US" sz="2400" dirty="0" smtClean="0"/>
              <a:t>.</a:t>
            </a:r>
          </a:p>
          <a:p>
            <a:pPr algn="just"/>
            <a:r>
              <a:rPr lang="en-US" sz="2400" dirty="0"/>
              <a:t>Theoretically, the ultimate objective of a party is to secure adoption of its </a:t>
            </a:r>
            <a:r>
              <a:rPr lang="en-US" sz="2400" dirty="0"/>
              <a:t>programmes</a:t>
            </a:r>
            <a:r>
              <a:rPr lang="en-US" sz="2400" dirty="0"/>
              <a:t> for governmental action, whereas the placement of its members in key governmental positions is merely an essential means to this end</a:t>
            </a:r>
            <a:r>
              <a:rPr lang="en-US" sz="2400" dirty="0" smtClean="0"/>
              <a:t>.</a:t>
            </a:r>
          </a:p>
          <a:p>
            <a:pPr algn="just"/>
            <a:r>
              <a:rPr lang="en-US" sz="2400" dirty="0" smtClean="0"/>
              <a:t>3. </a:t>
            </a:r>
            <a:r>
              <a:rPr lang="en-US" sz="2400" b="1" dirty="0" smtClean="0"/>
              <a:t>Organization</a:t>
            </a:r>
            <a:r>
              <a:rPr lang="en-US" sz="2400" dirty="0" smtClean="0"/>
              <a:t> is another characteristic of political </a:t>
            </a:r>
            <a:r>
              <a:rPr lang="en-US" sz="2400" dirty="0"/>
              <a:t>party. Organized effort is necessary to the attainment of both the immediate and the ultimate objectives of a party. </a:t>
            </a:r>
            <a:endParaRPr lang="en-US" sz="2400" dirty="0" smtClean="0"/>
          </a:p>
          <a:p>
            <a:pPr algn="just"/>
            <a:r>
              <a:rPr lang="en-US" sz="2400" dirty="0" smtClean="0"/>
              <a:t>Without </a:t>
            </a:r>
            <a:r>
              <a:rPr lang="en-US" sz="2400" dirty="0"/>
              <a:t>some sort of organization, parties stand little chance of winning control of the government and of directing its activities along desired lines</a:t>
            </a:r>
            <a:r>
              <a:rPr lang="en-US" dirty="0"/>
              <a:t>. </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16</a:t>
            </a:fld>
            <a:endParaRPr lang="en-US" noProof="0" dirty="0"/>
          </a:p>
        </p:txBody>
      </p:sp>
    </p:spTree>
    <p:extLst>
      <p:ext uri="{BB962C8B-B14F-4D97-AF65-F5344CB8AC3E}">
        <p14:creationId xmlns:p14="http://schemas.microsoft.com/office/powerpoint/2010/main" val="1036665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indent="0" algn="just">
              <a:buNone/>
            </a:pPr>
            <a:r>
              <a:rPr lang="en-US" sz="2400" dirty="0" smtClean="0"/>
              <a:t>4. An </a:t>
            </a:r>
            <a:r>
              <a:rPr lang="en-US" sz="2400" b="1" dirty="0"/>
              <a:t>association</a:t>
            </a:r>
            <a:r>
              <a:rPr lang="en-US" sz="2400" dirty="0"/>
              <a:t> may fall outside the “political parties” category even though the sole reason for its existence is the exertion of influence in the field of government. </a:t>
            </a:r>
            <a:endParaRPr lang="en-US" sz="2400" dirty="0" smtClean="0"/>
          </a:p>
          <a:p>
            <a:pPr algn="just"/>
            <a:r>
              <a:rPr lang="en-US" sz="2400" dirty="0" smtClean="0"/>
              <a:t>Examples </a:t>
            </a:r>
            <a:r>
              <a:rPr lang="en-US" sz="2400" dirty="0"/>
              <a:t>are the many taxpayers‟ leagues and the League of Women Voters in the United States of America. </a:t>
            </a:r>
            <a:endParaRPr lang="en-US" sz="2400" dirty="0" smtClean="0"/>
          </a:p>
          <a:p>
            <a:pPr algn="just"/>
            <a:r>
              <a:rPr lang="en-US" sz="2400" dirty="0" smtClean="0"/>
              <a:t>An </a:t>
            </a:r>
            <a:r>
              <a:rPr lang="en-US" sz="2400" dirty="0"/>
              <a:t>association of this type may provide its members with information concerning governmental problems, conduct discussion groups, endorse the candidates of various persons for elective offices, take a definite stand on some or all of the issues of the day, and bring pressure to bear on public officials in behalf of some policy or some change in governmental </a:t>
            </a:r>
            <a:r>
              <a:rPr lang="en-US" sz="2400" dirty="0" smtClean="0"/>
              <a:t>practice.</a:t>
            </a:r>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17</a:t>
            </a:fld>
            <a:endParaRPr lang="en-US" noProof="0" dirty="0"/>
          </a:p>
        </p:txBody>
      </p:sp>
    </p:spTree>
    <p:extLst>
      <p:ext uri="{BB962C8B-B14F-4D97-AF65-F5344CB8AC3E}">
        <p14:creationId xmlns:p14="http://schemas.microsoft.com/office/powerpoint/2010/main" val="3095044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functions of political parties</a:t>
            </a:r>
          </a:p>
        </p:txBody>
      </p:sp>
      <p:sp>
        <p:nvSpPr>
          <p:cNvPr id="4" name="Content Placeholder 3"/>
          <p:cNvSpPr>
            <a:spLocks noGrp="1"/>
          </p:cNvSpPr>
          <p:nvPr>
            <p:ph idx="1"/>
          </p:nvPr>
        </p:nvSpPr>
        <p:spPr>
          <a:xfrm>
            <a:off x="431999" y="1512000"/>
            <a:ext cx="9523369" cy="4679250"/>
          </a:xfrm>
        </p:spPr>
        <p:txBody>
          <a:bodyPr/>
          <a:lstStyle/>
          <a:p>
            <a:pPr marL="342900" indent="-342900" algn="just">
              <a:buFont typeface="+mj-lt"/>
              <a:buAutoNum type="arabicPeriod"/>
            </a:pPr>
            <a:r>
              <a:rPr lang="en-US" sz="2000" dirty="0"/>
              <a:t>One of the most important functions of parties is to nominate candidates for elective public offices. Parties almost always can be depended upon to provide nominees for whatever positions are to be filled by popular vote</a:t>
            </a:r>
            <a:r>
              <a:rPr lang="en-US" sz="2000" dirty="0" smtClean="0"/>
              <a:t>.</a:t>
            </a:r>
          </a:p>
          <a:p>
            <a:pPr marL="342900" indent="-342900" algn="just">
              <a:buFont typeface="+mj-lt"/>
              <a:buAutoNum type="arabicPeriod"/>
            </a:pPr>
            <a:r>
              <a:rPr lang="en-US" sz="2000" dirty="0"/>
              <a:t>Parties also assume the responsibility of giving continuous thought to governmental problems and of proposing ways of solving </a:t>
            </a:r>
            <a:r>
              <a:rPr lang="en-US" sz="2000" dirty="0" smtClean="0"/>
              <a:t>them.</a:t>
            </a:r>
          </a:p>
          <a:p>
            <a:pPr marL="342900" indent="-342900" algn="just">
              <a:buFont typeface="+mj-lt"/>
              <a:buAutoNum type="arabicPeriod"/>
            </a:pPr>
            <a:r>
              <a:rPr lang="en-US" sz="2000" dirty="0"/>
              <a:t>A related service of parties is to enable people who are in general agreement concerning desirable public policy to work together effectively to bring about adoption of the </a:t>
            </a:r>
            <a:r>
              <a:rPr lang="en-US" sz="2000" dirty="0"/>
              <a:t>programme</a:t>
            </a:r>
            <a:r>
              <a:rPr lang="en-US" sz="2000" dirty="0"/>
              <a:t> which they </a:t>
            </a:r>
            <a:r>
              <a:rPr lang="en-US" sz="2000" dirty="0" smtClean="0"/>
              <a:t>favor.</a:t>
            </a:r>
            <a:endParaRPr lang="en-US" sz="2000" dirty="0" smtClean="0"/>
          </a:p>
          <a:p>
            <a:pPr marL="342900" indent="-342900" algn="just">
              <a:buFont typeface="+mj-lt"/>
              <a:buAutoNum type="arabicPeriod"/>
            </a:pPr>
            <a:r>
              <a:rPr lang="en-US" sz="2000" dirty="0"/>
              <a:t>Another function of parties is to provide the people with information concerning public affairs, candidates, and the particular issues involved in elections</a:t>
            </a:r>
            <a:r>
              <a:rPr lang="en-US" sz="2000" dirty="0" smtClean="0"/>
              <a:t>.</a:t>
            </a:r>
          </a:p>
          <a:p>
            <a:pPr marL="342900" indent="-342900" algn="just">
              <a:buFont typeface="+mj-lt"/>
              <a:buAutoNum type="arabicPeriod"/>
            </a:pPr>
            <a:r>
              <a:rPr lang="en-US" sz="2000" dirty="0" smtClean="0"/>
              <a:t>Parties </a:t>
            </a:r>
            <a:r>
              <a:rPr lang="en-US" sz="2000" dirty="0"/>
              <a:t>perform various helpful services for individuals and for groups. They keep the government informed as to what the people in general </a:t>
            </a:r>
            <a:r>
              <a:rPr lang="en-US" sz="2000" dirty="0" smtClean="0"/>
              <a:t>desire.</a:t>
            </a:r>
            <a:endParaRPr lang="en-US" sz="20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18</a:t>
            </a:fld>
            <a:endParaRPr lang="en-US" noProof="0" dirty="0"/>
          </a:p>
        </p:txBody>
      </p:sp>
    </p:spTree>
    <p:extLst>
      <p:ext uri="{BB962C8B-B14F-4D97-AF65-F5344CB8AC3E}">
        <p14:creationId xmlns:p14="http://schemas.microsoft.com/office/powerpoint/2010/main" val="4073663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00" y="437882"/>
            <a:ext cx="9198116" cy="785610"/>
          </a:xfrm>
        </p:spPr>
        <p:txBody>
          <a:bodyPr/>
          <a:lstStyle/>
          <a:p>
            <a:pPr algn="ctr"/>
            <a:r>
              <a:rPr lang="en-US" dirty="0" smtClean="0"/>
              <a:t>DIFFERENCE BETWEEN PRESSURE GROUP AND POLIT CAL PARTY</a:t>
            </a:r>
            <a:endParaRPr lang="en-US" dirty="0"/>
          </a:p>
        </p:txBody>
      </p:sp>
      <p:pic>
        <p:nvPicPr>
          <p:cNvPr id="6" name="Content Placeholder 5"/>
          <p:cNvPicPr>
            <a:picLocks noGrp="1" noChangeAspect="1"/>
          </p:cNvPicPr>
          <p:nvPr>
            <p:ph idx="1"/>
          </p:nvPr>
        </p:nvPicPr>
        <p:blipFill>
          <a:blip r:embed="rId2"/>
          <a:stretch>
            <a:fillRect/>
          </a:stretch>
        </p:blipFill>
        <p:spPr>
          <a:xfrm>
            <a:off x="431801" y="1390918"/>
            <a:ext cx="9198115" cy="5285156"/>
          </a:xfrm>
          <a:prstGeom prst="rect">
            <a:avLst/>
          </a:prstGeom>
        </p:spPr>
      </p:pic>
      <p:sp>
        <p:nvSpPr>
          <p:cNvPr id="5" name="Slide Number Placeholder 4"/>
          <p:cNvSpPr>
            <a:spLocks noGrp="1"/>
          </p:cNvSpPr>
          <p:nvPr>
            <p:ph type="sldNum" sz="quarter" idx="33"/>
          </p:nvPr>
        </p:nvSpPr>
        <p:spPr/>
        <p:txBody>
          <a:bodyPr/>
          <a:lstStyle/>
          <a:p>
            <a:fld id="{19B51A1E-902D-48AF-9020-955120F399B6}" type="slidenum">
              <a:rPr lang="en-US" noProof="0" smtClean="0"/>
              <a:pPr/>
              <a:t>19</a:t>
            </a:fld>
            <a:endParaRPr lang="en-US" noProof="0" dirty="0"/>
          </a:p>
        </p:txBody>
      </p:sp>
    </p:spTree>
    <p:extLst>
      <p:ext uri="{BB962C8B-B14F-4D97-AF65-F5344CB8AC3E}">
        <p14:creationId xmlns:p14="http://schemas.microsoft.com/office/powerpoint/2010/main" val="2702978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ROLE OF MEDIA </a:t>
            </a:r>
            <a:endParaRPr lang="en-US" dirty="0"/>
          </a:p>
        </p:txBody>
      </p:sp>
      <p:sp>
        <p:nvSpPr>
          <p:cNvPr id="4" name="Content Placeholder 3"/>
          <p:cNvSpPr>
            <a:spLocks noGrp="1"/>
          </p:cNvSpPr>
          <p:nvPr>
            <p:ph idx="1"/>
          </p:nvPr>
        </p:nvSpPr>
        <p:spPr>
          <a:xfrm>
            <a:off x="431999" y="965915"/>
            <a:ext cx="9497611" cy="5710159"/>
          </a:xfrm>
        </p:spPr>
        <p:txBody>
          <a:bodyPr/>
          <a:lstStyle/>
          <a:p>
            <a:pPr algn="just"/>
            <a:r>
              <a:rPr lang="en-US" sz="2400" dirty="0"/>
              <a:t>Media refers to various means of communication that help in communicating to a large number of people at the same time. </a:t>
            </a:r>
            <a:endParaRPr lang="en-US" sz="2400" dirty="0" smtClean="0"/>
          </a:p>
          <a:p>
            <a:pPr algn="just"/>
            <a:r>
              <a:rPr lang="en-US" sz="2400" dirty="0" smtClean="0"/>
              <a:t>Among </a:t>
            </a:r>
            <a:r>
              <a:rPr lang="en-US" sz="2400" dirty="0"/>
              <a:t>the different types of </a:t>
            </a:r>
            <a:r>
              <a:rPr lang="en-US" sz="2400" dirty="0" smtClean="0"/>
              <a:t>media includes mainstream </a:t>
            </a:r>
            <a:r>
              <a:rPr lang="en-US" sz="2400" dirty="0"/>
              <a:t>media e.g., the newspaper or the </a:t>
            </a:r>
            <a:r>
              <a:rPr lang="en-US" sz="2400" b="1" dirty="0"/>
              <a:t>press</a:t>
            </a:r>
            <a:r>
              <a:rPr lang="en-US" sz="2400" dirty="0"/>
              <a:t>, the </a:t>
            </a:r>
            <a:r>
              <a:rPr lang="en-US" sz="2400" b="1" dirty="0"/>
              <a:t>Radio</a:t>
            </a:r>
            <a:r>
              <a:rPr lang="en-US" sz="2400" dirty="0"/>
              <a:t>, and the </a:t>
            </a:r>
            <a:r>
              <a:rPr lang="en-US" sz="2400" b="1" dirty="0" smtClean="0"/>
              <a:t>television</a:t>
            </a:r>
            <a:r>
              <a:rPr lang="en-US" sz="2400" dirty="0" smtClean="0"/>
              <a:t>.</a:t>
            </a:r>
          </a:p>
          <a:p>
            <a:pPr algn="just"/>
            <a:r>
              <a:rPr lang="en-US" sz="2400" dirty="0"/>
              <a:t>The main function of the media is </a:t>
            </a:r>
            <a:r>
              <a:rPr lang="en-US" sz="2400" b="1" i="1" dirty="0"/>
              <a:t>to inform the people about the current social, political and economic issues and to form and express strong conscious public </a:t>
            </a:r>
            <a:r>
              <a:rPr lang="en-US" sz="2400" b="1" i="1" dirty="0" smtClean="0"/>
              <a:t>opinion.</a:t>
            </a:r>
          </a:p>
          <a:p>
            <a:pPr algn="just"/>
            <a:r>
              <a:rPr lang="en-US" sz="2400" dirty="0"/>
              <a:t>With the advancement of technology, the role and importance of mass media in shaping people’s attitudes, thoughts are </a:t>
            </a:r>
            <a:r>
              <a:rPr lang="en-US" sz="2400" dirty="0" smtClean="0"/>
              <a:t>increasing.</a:t>
            </a:r>
          </a:p>
          <a:p>
            <a:pPr algn="just"/>
            <a:r>
              <a:rPr lang="en-US" sz="2400" dirty="0"/>
              <a:t>What role the media will play in a country depends on </a:t>
            </a:r>
            <a:endParaRPr lang="en-US" sz="2400" dirty="0" smtClean="0"/>
          </a:p>
          <a:p>
            <a:pPr algn="just"/>
            <a:r>
              <a:rPr lang="en-US" sz="2400" b="1" i="1" dirty="0" smtClean="0"/>
              <a:t>I) </a:t>
            </a:r>
            <a:r>
              <a:rPr lang="en-US" sz="2400" b="1" i="1" dirty="0"/>
              <a:t>the nature of the state system</a:t>
            </a:r>
            <a:r>
              <a:rPr lang="en-US" sz="2400" b="1" i="1" dirty="0" smtClean="0"/>
              <a:t>,</a:t>
            </a:r>
          </a:p>
          <a:p>
            <a:pPr algn="just"/>
            <a:r>
              <a:rPr lang="en-US" sz="2400" b="1" i="1" dirty="0" smtClean="0"/>
              <a:t> </a:t>
            </a:r>
            <a:r>
              <a:rPr lang="en-US" sz="2400" b="1" i="1" dirty="0"/>
              <a:t>ii) how much people enjoy freedom in that state, </a:t>
            </a:r>
            <a:r>
              <a:rPr lang="en-US" sz="2400" b="1" i="1" dirty="0" smtClean="0"/>
              <a:t>and</a:t>
            </a:r>
          </a:p>
          <a:p>
            <a:pPr algn="just"/>
            <a:r>
              <a:rPr lang="en-US" sz="2400" b="1" i="1" dirty="0" smtClean="0"/>
              <a:t> </a:t>
            </a:r>
            <a:r>
              <a:rPr lang="en-US" sz="2400" b="1" i="1" dirty="0"/>
              <a:t>iii) how the ruling class uses the media to build public consent or legitimacy</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20</a:t>
            </a:fld>
            <a:endParaRPr lang="en-US" noProof="0" dirty="0"/>
          </a:p>
        </p:txBody>
      </p:sp>
    </p:spTree>
    <p:extLst>
      <p:ext uri="{BB962C8B-B14F-4D97-AF65-F5344CB8AC3E}">
        <p14:creationId xmlns:p14="http://schemas.microsoft.com/office/powerpoint/2010/main" val="4544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3819" y="576000"/>
            <a:ext cx="9198116" cy="432000"/>
          </a:xfrm>
        </p:spPr>
        <p:txBody>
          <a:bodyPr/>
          <a:lstStyle/>
          <a:p>
            <a:pPr algn="ctr"/>
            <a:r>
              <a:rPr lang="en-US" dirty="0"/>
              <a:t>Media as a Means for the Formation of Public Opinion</a:t>
            </a:r>
          </a:p>
        </p:txBody>
      </p:sp>
      <p:sp>
        <p:nvSpPr>
          <p:cNvPr id="4" name="Content Placeholder 3"/>
          <p:cNvSpPr>
            <a:spLocks noGrp="1"/>
          </p:cNvSpPr>
          <p:nvPr>
            <p:ph idx="1"/>
          </p:nvPr>
        </p:nvSpPr>
        <p:spPr/>
        <p:txBody>
          <a:bodyPr/>
          <a:lstStyle/>
          <a:p>
            <a:pPr algn="just"/>
            <a:r>
              <a:rPr lang="en-US" sz="2800" dirty="0"/>
              <a:t>As an instrument for the formation of public opinion, the press or the newspaper publishes the complaints of the people and the details of various problems of the society. </a:t>
            </a:r>
            <a:endParaRPr lang="en-US" sz="2800" dirty="0" smtClean="0"/>
          </a:p>
          <a:p>
            <a:pPr algn="just"/>
            <a:r>
              <a:rPr lang="en-US" sz="2800" dirty="0"/>
              <a:t>Newspapers interpret news, provide information on peoples hopes, aspiration and grievances, describe and critique government policies, analyze political event into a particular view </a:t>
            </a:r>
            <a:r>
              <a:rPr lang="en-US" sz="2800" dirty="0" smtClean="0"/>
              <a:t>point</a:t>
            </a:r>
          </a:p>
          <a:p>
            <a:pPr algn="just"/>
            <a:r>
              <a:rPr lang="en-US" sz="2800" dirty="0"/>
              <a:t>Articles and editorial comments of the newspaper have a profound effect on the people and greatly influence their views.</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21</a:t>
            </a:fld>
            <a:endParaRPr lang="en-US" noProof="0" dirty="0"/>
          </a:p>
        </p:txBody>
      </p:sp>
    </p:spTree>
    <p:extLst>
      <p:ext uri="{BB962C8B-B14F-4D97-AF65-F5344CB8AC3E}">
        <p14:creationId xmlns:p14="http://schemas.microsoft.com/office/powerpoint/2010/main" val="2477526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indent="0" algn="just">
              <a:buNone/>
            </a:pPr>
            <a:endParaRPr lang="en-US" sz="2400" dirty="0"/>
          </a:p>
          <a:p>
            <a:pPr algn="just"/>
            <a:r>
              <a:rPr lang="en-US" sz="2400" dirty="0" smtClean="0"/>
              <a:t>Radio </a:t>
            </a:r>
            <a:r>
              <a:rPr lang="en-US" sz="2400" dirty="0"/>
              <a:t>and television are also one of the most powerful means of influencing public opinion. </a:t>
            </a:r>
            <a:endParaRPr lang="en-US" sz="2400" dirty="0" smtClean="0"/>
          </a:p>
          <a:p>
            <a:pPr algn="just"/>
            <a:r>
              <a:rPr lang="en-US" sz="2400" dirty="0" smtClean="0"/>
              <a:t>They </a:t>
            </a:r>
            <a:r>
              <a:rPr lang="en-US" sz="2400" dirty="0"/>
              <a:t>affect everyone, educated and uneducated. People in remote rural areas also get various news of the country through them</a:t>
            </a:r>
            <a:r>
              <a:rPr lang="en-US" sz="2400" dirty="0" smtClean="0"/>
              <a:t>.</a:t>
            </a:r>
          </a:p>
          <a:p>
            <a:pPr algn="just"/>
            <a:r>
              <a:rPr lang="en-US" sz="2400" dirty="0" smtClean="0"/>
              <a:t> </a:t>
            </a:r>
            <a:r>
              <a:rPr lang="en-US" sz="2400" dirty="0"/>
              <a:t>Radio and television help to form public opinion through its news coverage, review and survey. </a:t>
            </a:r>
            <a:endParaRPr lang="en-US" sz="2400" dirty="0" smtClean="0"/>
          </a:p>
          <a:p>
            <a:pPr algn="just"/>
            <a:r>
              <a:rPr lang="en-US" sz="2400" dirty="0" smtClean="0"/>
              <a:t>But </a:t>
            </a:r>
            <a:r>
              <a:rPr lang="en-US" sz="2400" dirty="0"/>
              <a:t>in many cases the government has control over radio and television</a:t>
            </a:r>
            <a:r>
              <a:rPr lang="en-US" sz="2400" dirty="0" smtClean="0"/>
              <a:t>.</a:t>
            </a:r>
          </a:p>
          <a:p>
            <a:pPr algn="just"/>
            <a:r>
              <a:rPr lang="en-US" sz="2400" dirty="0" smtClean="0"/>
              <a:t> </a:t>
            </a:r>
            <a:r>
              <a:rPr lang="en-US" sz="2400" dirty="0"/>
              <a:t>As a result, there is no antigovernment discussion</a:t>
            </a:r>
            <a:r>
              <a:rPr lang="en-US" dirty="0"/>
              <a:t>.</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22</a:t>
            </a:fld>
            <a:endParaRPr lang="en-US" noProof="0" dirty="0"/>
          </a:p>
        </p:txBody>
      </p:sp>
    </p:spTree>
    <p:extLst>
      <p:ext uri="{BB962C8B-B14F-4D97-AF65-F5344CB8AC3E}">
        <p14:creationId xmlns:p14="http://schemas.microsoft.com/office/powerpoint/2010/main" val="2119176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&amp; Politics: Theoretical Perspective</a:t>
            </a:r>
          </a:p>
        </p:txBody>
      </p:sp>
      <p:sp>
        <p:nvSpPr>
          <p:cNvPr id="4" name="Content Placeholder 3"/>
          <p:cNvSpPr>
            <a:spLocks noGrp="1"/>
          </p:cNvSpPr>
          <p:nvPr>
            <p:ph idx="1"/>
          </p:nvPr>
        </p:nvSpPr>
        <p:spPr>
          <a:xfrm>
            <a:off x="432000" y="1512000"/>
            <a:ext cx="9198116" cy="5164074"/>
          </a:xfrm>
        </p:spPr>
        <p:txBody>
          <a:bodyPr/>
          <a:lstStyle/>
          <a:p>
            <a:pPr algn="just"/>
            <a:r>
              <a:rPr lang="en-US" sz="2400" dirty="0"/>
              <a:t>According to </a:t>
            </a:r>
            <a:r>
              <a:rPr lang="en-US" sz="2400" b="1" dirty="0"/>
              <a:t>liberal thinkers</a:t>
            </a:r>
            <a:r>
              <a:rPr lang="en-US" sz="2400" dirty="0"/>
              <a:t>’ media are recognized as the </a:t>
            </a:r>
            <a:r>
              <a:rPr lang="en-US" sz="2400" b="1" dirty="0"/>
              <a:t>fourth pillar of democracy</a:t>
            </a:r>
            <a:r>
              <a:rPr lang="en-US" sz="2400" b="1" dirty="0" smtClean="0"/>
              <a:t>.</a:t>
            </a:r>
          </a:p>
          <a:p>
            <a:pPr algn="just"/>
            <a:r>
              <a:rPr lang="en-US" sz="2400" dirty="0" smtClean="0"/>
              <a:t> </a:t>
            </a:r>
            <a:r>
              <a:rPr lang="en-US" sz="2400" dirty="0"/>
              <a:t>On the one hand media provides information to the people on various issues, it also protects the people from abuse of power by criticizing government work</a:t>
            </a:r>
            <a:r>
              <a:rPr lang="en-US" sz="2400" dirty="0" smtClean="0"/>
              <a:t>.</a:t>
            </a:r>
          </a:p>
          <a:p>
            <a:pPr algn="just"/>
            <a:r>
              <a:rPr lang="en-US" sz="2400" dirty="0" smtClean="0"/>
              <a:t> </a:t>
            </a:r>
            <a:r>
              <a:rPr lang="en-US" sz="2400" dirty="0"/>
              <a:t>In this way the media plays the </a:t>
            </a:r>
            <a:r>
              <a:rPr lang="en-US" sz="2400" b="1" i="1" dirty="0"/>
              <a:t>role of watchdog. </a:t>
            </a:r>
            <a:endParaRPr lang="en-US" sz="2400" b="1" i="1" dirty="0" smtClean="0"/>
          </a:p>
          <a:p>
            <a:pPr algn="just"/>
            <a:r>
              <a:rPr lang="en-US" sz="2400" dirty="0"/>
              <a:t>On the other hand, </a:t>
            </a:r>
            <a:r>
              <a:rPr lang="en-US" sz="2400" b="1" dirty="0"/>
              <a:t>Marxist theorists </a:t>
            </a:r>
            <a:r>
              <a:rPr lang="en-US" sz="2400" dirty="0"/>
              <a:t>see the media as a part of a superstructure closely </a:t>
            </a:r>
            <a:r>
              <a:rPr lang="en-US" sz="2400" b="1" dirty="0"/>
              <a:t>linked to the economic base the independent positions of the media are denied </a:t>
            </a:r>
            <a:r>
              <a:rPr lang="en-US" sz="2400" b="1" dirty="0" smtClean="0"/>
              <a:t>here.</a:t>
            </a:r>
          </a:p>
          <a:p>
            <a:pPr algn="just"/>
            <a:r>
              <a:rPr lang="en-US" sz="2400" dirty="0" smtClean="0"/>
              <a:t>. </a:t>
            </a:r>
            <a:r>
              <a:rPr lang="en-US" sz="2400" dirty="0"/>
              <a:t>Marxist theorists </a:t>
            </a:r>
            <a:r>
              <a:rPr lang="en-US" sz="2400" b="1" dirty="0"/>
              <a:t>Ralph </a:t>
            </a:r>
            <a:r>
              <a:rPr lang="en-US" sz="2400" b="1" dirty="0"/>
              <a:t>Miliband</a:t>
            </a:r>
            <a:r>
              <a:rPr lang="en-US" sz="2400" b="1" dirty="0"/>
              <a:t> </a:t>
            </a:r>
            <a:r>
              <a:rPr lang="en-US" sz="2400" dirty="0"/>
              <a:t>said the editors and the journalists in </a:t>
            </a:r>
            <a:r>
              <a:rPr lang="en-US" sz="2400" b="1" i="1" dirty="0"/>
              <a:t>newspaper and other media organization depend on the owners for their jobs and therefore will not use any apparent autonomy they may have to resist the dissemination of bourgeois’ </a:t>
            </a:r>
            <a:r>
              <a:rPr lang="en-US" sz="2400" b="1" i="1" dirty="0" smtClean="0"/>
              <a:t>ideology</a:t>
            </a:r>
            <a:r>
              <a:rPr lang="en-US" sz="2400" dirty="0" smtClean="0"/>
              <a:t>.</a:t>
            </a:r>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23</a:t>
            </a:fld>
            <a:endParaRPr lang="en-US" noProof="0" dirty="0"/>
          </a:p>
        </p:txBody>
      </p:sp>
    </p:spTree>
    <p:extLst>
      <p:ext uri="{BB962C8B-B14F-4D97-AF65-F5344CB8AC3E}">
        <p14:creationId xmlns:p14="http://schemas.microsoft.com/office/powerpoint/2010/main" val="32079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Media and Politics: Critical Appraisal </a:t>
            </a:r>
          </a:p>
        </p:txBody>
      </p:sp>
      <p:sp>
        <p:nvSpPr>
          <p:cNvPr id="4" name="Content Placeholder 3"/>
          <p:cNvSpPr>
            <a:spLocks noGrp="1"/>
          </p:cNvSpPr>
          <p:nvPr>
            <p:ph idx="1"/>
          </p:nvPr>
        </p:nvSpPr>
        <p:spPr/>
        <p:txBody>
          <a:bodyPr/>
          <a:lstStyle/>
          <a:p>
            <a:pPr marL="0" indent="0" algn="just">
              <a:buNone/>
            </a:pPr>
            <a:r>
              <a:rPr lang="en-US" sz="2400" dirty="0" smtClean="0"/>
              <a:t>1. The </a:t>
            </a:r>
            <a:r>
              <a:rPr lang="en-US" sz="2400" dirty="0"/>
              <a:t>government use </a:t>
            </a:r>
            <a:r>
              <a:rPr lang="en-US" sz="2400" b="1" i="1" dirty="0"/>
              <a:t>the media to establish the legitimacy of the existing political </a:t>
            </a:r>
            <a:r>
              <a:rPr lang="en-US" sz="2400" b="1" i="1" dirty="0" smtClean="0"/>
              <a:t>system.</a:t>
            </a:r>
          </a:p>
          <a:p>
            <a:pPr algn="just"/>
            <a:r>
              <a:rPr lang="en-US" sz="2400" dirty="0"/>
              <a:t>Various strategies are used to build the consent of the people. One of them is </a:t>
            </a:r>
            <a:r>
              <a:rPr lang="en-US" sz="2400" b="1" i="1" dirty="0"/>
              <a:t>political advertisement</a:t>
            </a:r>
            <a:r>
              <a:rPr lang="en-US" sz="2400" b="1" i="1" dirty="0" smtClean="0"/>
              <a:t>.</a:t>
            </a:r>
          </a:p>
          <a:p>
            <a:pPr algn="just"/>
            <a:r>
              <a:rPr lang="en-US" sz="2400" dirty="0" smtClean="0"/>
              <a:t> </a:t>
            </a:r>
            <a:r>
              <a:rPr lang="en-US" sz="2400" dirty="0"/>
              <a:t>In this case the qualities of a political party or leadership are unilaterally expressed. </a:t>
            </a:r>
            <a:endParaRPr lang="en-US" sz="2400" dirty="0" smtClean="0"/>
          </a:p>
          <a:p>
            <a:pPr algn="just"/>
            <a:r>
              <a:rPr lang="en-US" sz="2400" dirty="0" smtClean="0"/>
              <a:t>Also</a:t>
            </a:r>
            <a:r>
              <a:rPr lang="en-US" sz="2400" dirty="0"/>
              <a:t>, the demand of the people is given priority by making the advertisement attractive through languages, symbols and images. </a:t>
            </a:r>
            <a:endParaRPr lang="en-US" sz="2400" dirty="0" smtClean="0"/>
          </a:p>
          <a:p>
            <a:pPr algn="just"/>
            <a:r>
              <a:rPr lang="en-US" sz="2400" dirty="0" smtClean="0"/>
              <a:t>The </a:t>
            </a:r>
            <a:r>
              <a:rPr lang="en-US" sz="2400" dirty="0"/>
              <a:t>purpose of such advertisement to make profit, to entertain the listener, viewer or reader and to collect revenues</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24</a:t>
            </a:fld>
            <a:endParaRPr lang="en-US" noProof="0" dirty="0"/>
          </a:p>
        </p:txBody>
      </p:sp>
    </p:spTree>
    <p:extLst>
      <p:ext uri="{BB962C8B-B14F-4D97-AF65-F5344CB8AC3E}">
        <p14:creationId xmlns:p14="http://schemas.microsoft.com/office/powerpoint/2010/main" val="3492638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endParaRPr lang="en-US" sz="2400" dirty="0" smtClean="0"/>
          </a:p>
          <a:p>
            <a:pPr marL="0" indent="0" algn="just">
              <a:buNone/>
            </a:pPr>
            <a:r>
              <a:rPr lang="en-US" sz="2400" dirty="0" smtClean="0"/>
              <a:t>2. Another </a:t>
            </a:r>
            <a:r>
              <a:rPr lang="en-US" sz="2400" dirty="0"/>
              <a:t>important role of the news media is in the </a:t>
            </a:r>
            <a:r>
              <a:rPr lang="en-US" sz="2400" b="1" dirty="0"/>
              <a:t>field of election surveys. </a:t>
            </a:r>
            <a:endParaRPr lang="en-US" sz="2400" b="1" dirty="0" smtClean="0"/>
          </a:p>
          <a:p>
            <a:pPr algn="just"/>
            <a:r>
              <a:rPr lang="en-US" sz="2400" dirty="0" smtClean="0"/>
              <a:t>The </a:t>
            </a:r>
            <a:r>
              <a:rPr lang="en-US" sz="2400" dirty="0"/>
              <a:t>purpose of media polling during the election campaign is to draw the attention of the voters to the candidates and to introduce the issues, which is good for democracy or exception may occur. </a:t>
            </a:r>
            <a:endParaRPr lang="en-US" sz="2400" dirty="0" smtClean="0"/>
          </a:p>
          <a:p>
            <a:pPr algn="just"/>
            <a:r>
              <a:rPr lang="en-US" sz="2400" dirty="0" smtClean="0"/>
              <a:t>The </a:t>
            </a:r>
            <a:r>
              <a:rPr lang="en-US" sz="2400" dirty="0"/>
              <a:t>role of the media is also increasing in the case of exit polls. </a:t>
            </a:r>
            <a:endParaRPr lang="en-US" sz="2400" dirty="0" smtClean="0"/>
          </a:p>
          <a:p>
            <a:pPr algn="just"/>
            <a:r>
              <a:rPr lang="en-US" sz="2400" dirty="0" smtClean="0"/>
              <a:t>However</a:t>
            </a:r>
            <a:r>
              <a:rPr lang="en-US" sz="2400" dirty="0"/>
              <a:t>, the question remains about its accuracy, especially in </a:t>
            </a:r>
            <a:r>
              <a:rPr lang="en-US" sz="2400" dirty="0" smtClean="0"/>
              <a:t>large countries.</a:t>
            </a:r>
          </a:p>
          <a:p>
            <a:pPr algn="just"/>
            <a:endParaRPr lang="en-US" sz="2400" dirty="0" smtClean="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25</a:t>
            </a:fld>
            <a:endParaRPr lang="en-US" noProof="0" dirty="0"/>
          </a:p>
        </p:txBody>
      </p:sp>
    </p:spTree>
    <p:extLst>
      <p:ext uri="{BB962C8B-B14F-4D97-AF65-F5344CB8AC3E}">
        <p14:creationId xmlns:p14="http://schemas.microsoft.com/office/powerpoint/2010/main" val="3609180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Conclusion: </a:t>
            </a:r>
          </a:p>
        </p:txBody>
      </p:sp>
      <p:sp>
        <p:nvSpPr>
          <p:cNvPr id="4" name="Content Placeholder 3"/>
          <p:cNvSpPr>
            <a:spLocks noGrp="1"/>
          </p:cNvSpPr>
          <p:nvPr>
            <p:ph idx="1"/>
          </p:nvPr>
        </p:nvSpPr>
        <p:spPr/>
        <p:txBody>
          <a:bodyPr/>
          <a:lstStyle/>
          <a:p>
            <a:pPr algn="just"/>
            <a:endParaRPr lang="en-US" sz="2000" dirty="0" smtClean="0"/>
          </a:p>
          <a:p>
            <a:pPr algn="just"/>
            <a:endParaRPr lang="en-US" sz="2000" dirty="0"/>
          </a:p>
          <a:p>
            <a:pPr algn="just"/>
            <a:endParaRPr lang="en-US" sz="2000" dirty="0" smtClean="0"/>
          </a:p>
          <a:p>
            <a:pPr algn="just"/>
            <a:r>
              <a:rPr lang="en-US" sz="2000" dirty="0" smtClean="0"/>
              <a:t>As </a:t>
            </a:r>
            <a:r>
              <a:rPr lang="en-US" sz="2000" dirty="0"/>
              <a:t>recognized as the independent position of the media, the role of the media as a tool for building the legitimacy of politicians or rulers is undeniable</a:t>
            </a:r>
            <a:r>
              <a:rPr lang="en-US" sz="2000" dirty="0" smtClean="0"/>
              <a:t>.</a:t>
            </a:r>
          </a:p>
          <a:p>
            <a:pPr algn="just"/>
            <a:r>
              <a:rPr lang="en-US" sz="2000" dirty="0" smtClean="0"/>
              <a:t> </a:t>
            </a:r>
            <a:r>
              <a:rPr lang="en-US" sz="2000" dirty="0"/>
              <a:t>Although the extent of the media’s influence on political views and preferences is not accurately measurable, it is not possible to separate it from political life, rather it is </a:t>
            </a:r>
            <a:r>
              <a:rPr lang="en-US" sz="2000" dirty="0" smtClean="0"/>
              <a:t>growing.</a:t>
            </a:r>
          </a:p>
          <a:p>
            <a:pPr algn="just"/>
            <a:endParaRPr lang="en-US" sz="20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26</a:t>
            </a:fld>
            <a:endParaRPr lang="en-US" noProof="0" dirty="0"/>
          </a:p>
        </p:txBody>
      </p:sp>
    </p:spTree>
    <p:extLst>
      <p:ext uri="{BB962C8B-B14F-4D97-AF65-F5344CB8AC3E}">
        <p14:creationId xmlns:p14="http://schemas.microsoft.com/office/powerpoint/2010/main" val="2908824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DEFINING RELIGION </a:t>
            </a:r>
          </a:p>
        </p:txBody>
      </p:sp>
      <p:sp>
        <p:nvSpPr>
          <p:cNvPr id="4" name="Content Placeholder 3"/>
          <p:cNvSpPr>
            <a:spLocks noGrp="1"/>
          </p:cNvSpPr>
          <p:nvPr>
            <p:ph idx="1"/>
          </p:nvPr>
        </p:nvSpPr>
        <p:spPr/>
        <p:txBody>
          <a:bodyPr/>
          <a:lstStyle/>
          <a:p>
            <a:pPr algn="just"/>
            <a:r>
              <a:rPr lang="en-US" sz="2400" dirty="0"/>
              <a:t>Religion is a </a:t>
            </a:r>
            <a:r>
              <a:rPr lang="en-US" sz="2400" b="1" i="1" dirty="0"/>
              <a:t>“unified system of beliefs and practices related to sacred things, that is to say, things set apart and forbidden – beliefs and practices which unite people into one single moral </a:t>
            </a:r>
            <a:r>
              <a:rPr lang="en-US" sz="2400" b="1" i="1" dirty="0" smtClean="0"/>
              <a:t>community</a:t>
            </a:r>
            <a:r>
              <a:rPr lang="en-US" sz="2400" b="1" i="1" dirty="0"/>
              <a:t>.” </a:t>
            </a:r>
            <a:endParaRPr lang="en-US" sz="2400" b="1" i="1" dirty="0" smtClean="0"/>
          </a:p>
          <a:p>
            <a:pPr algn="just"/>
            <a:endParaRPr lang="en-US" sz="2400" dirty="0" smtClean="0"/>
          </a:p>
          <a:p>
            <a:pPr algn="just"/>
            <a:r>
              <a:rPr lang="en-US" sz="2400" dirty="0" smtClean="0"/>
              <a:t>According </a:t>
            </a:r>
            <a:r>
              <a:rPr lang="en-US" sz="2400" dirty="0"/>
              <a:t>to A.W. </a:t>
            </a:r>
            <a:r>
              <a:rPr lang="en-US" sz="2400" dirty="0" smtClean="0"/>
              <a:t>GREEN,</a:t>
            </a:r>
          </a:p>
          <a:p>
            <a:pPr marL="0" indent="0" algn="just">
              <a:buNone/>
            </a:pPr>
            <a:r>
              <a:rPr lang="en-US" sz="2400" b="1" i="1" dirty="0" smtClean="0"/>
              <a:t>“Religion </a:t>
            </a:r>
            <a:r>
              <a:rPr lang="en-US" sz="2400" b="1" i="1" dirty="0"/>
              <a:t>is a system of belief and symbolic practices and objects governed by faith rather than by knowledge, which relates man to an unseen supernatural realm beyond the known and beyond the controllable</a:t>
            </a:r>
            <a:r>
              <a:rPr lang="en-US" sz="2400" b="1" i="1" dirty="0" smtClean="0"/>
              <a:t>.”</a:t>
            </a:r>
            <a:endParaRPr lang="en-US" sz="2400" b="1" i="1"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27</a:t>
            </a:fld>
            <a:endParaRPr lang="en-US" noProof="0" dirty="0"/>
          </a:p>
        </p:txBody>
      </p:sp>
    </p:spTree>
    <p:extLst>
      <p:ext uri="{BB962C8B-B14F-4D97-AF65-F5344CB8AC3E}">
        <p14:creationId xmlns:p14="http://schemas.microsoft.com/office/powerpoint/2010/main" val="2875827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FUNCTIONS OF RELIGIOUS </a:t>
            </a:r>
            <a:r>
              <a:rPr lang="en-US" dirty="0" smtClean="0"/>
              <a:t>INSTITUTION in society</a:t>
            </a:r>
            <a:endParaRPr lang="en-US" dirty="0"/>
          </a:p>
        </p:txBody>
      </p:sp>
      <p:sp>
        <p:nvSpPr>
          <p:cNvPr id="4" name="Content Placeholder 3"/>
          <p:cNvSpPr>
            <a:spLocks noGrp="1"/>
          </p:cNvSpPr>
          <p:nvPr>
            <p:ph idx="1"/>
          </p:nvPr>
        </p:nvSpPr>
        <p:spPr>
          <a:xfrm>
            <a:off x="431999" y="1512000"/>
            <a:ext cx="9523369" cy="4679250"/>
          </a:xfrm>
        </p:spPr>
        <p:txBody>
          <a:bodyPr/>
          <a:lstStyle/>
          <a:p>
            <a:pPr algn="just"/>
            <a:r>
              <a:rPr lang="en-US" sz="2800" dirty="0"/>
              <a:t>Religion Creates </a:t>
            </a:r>
            <a:r>
              <a:rPr lang="en-US" sz="2800" b="1" dirty="0"/>
              <a:t>Social Solidarity</a:t>
            </a:r>
            <a:r>
              <a:rPr lang="en-US" sz="2800" dirty="0"/>
              <a:t>: Religion is considered as a ‘Societal Glue’, as it creates harmony of attitude, ideas and habits among its followers. </a:t>
            </a:r>
            <a:endParaRPr lang="en-US" sz="2800" dirty="0" smtClean="0"/>
          </a:p>
          <a:p>
            <a:pPr algn="just"/>
            <a:r>
              <a:rPr lang="en-US" sz="2800" dirty="0" smtClean="0"/>
              <a:t>They </a:t>
            </a:r>
            <a:r>
              <a:rPr lang="en-US" sz="2800" dirty="0"/>
              <a:t>come closer to one another and are cemented together. </a:t>
            </a:r>
            <a:endParaRPr lang="en-US" sz="2800" dirty="0" smtClean="0"/>
          </a:p>
          <a:p>
            <a:pPr marL="0" indent="0" algn="just">
              <a:buNone/>
            </a:pPr>
            <a:endParaRPr lang="en-US" sz="2800" dirty="0" smtClean="0"/>
          </a:p>
          <a:p>
            <a:pPr algn="just"/>
            <a:r>
              <a:rPr lang="en-US" sz="2800" dirty="0" smtClean="0"/>
              <a:t> </a:t>
            </a:r>
            <a:r>
              <a:rPr lang="en-US" sz="2800" dirty="0"/>
              <a:t>Religious rituals like weddings, births, burials and celebration of special religious events promote group solidarity and cohesion as all members know how to behave towards one another .</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28</a:t>
            </a:fld>
            <a:endParaRPr lang="en-US" noProof="0" dirty="0"/>
          </a:p>
        </p:txBody>
      </p:sp>
    </p:spTree>
    <p:extLst>
      <p:ext uri="{BB962C8B-B14F-4D97-AF65-F5344CB8AC3E}">
        <p14:creationId xmlns:p14="http://schemas.microsoft.com/office/powerpoint/2010/main" val="416083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r>
              <a:rPr lang="en-US" sz="2400" b="1" dirty="0"/>
              <a:t>Socialization: </a:t>
            </a:r>
            <a:r>
              <a:rPr lang="en-US" sz="2400" b="1" dirty="0" smtClean="0"/>
              <a:t> </a:t>
            </a:r>
            <a:r>
              <a:rPr lang="en-US" sz="2400" dirty="0"/>
              <a:t>As a process of initiation into the larger society, religion is an actual agent of socialization. In this case, parental faith, or religion becomes the faith of children. </a:t>
            </a:r>
            <a:endParaRPr lang="en-US" sz="2400" dirty="0" smtClean="0"/>
          </a:p>
          <a:p>
            <a:pPr algn="just"/>
            <a:r>
              <a:rPr lang="en-US" sz="2400" dirty="0" smtClean="0"/>
              <a:t> </a:t>
            </a:r>
            <a:r>
              <a:rPr lang="en-US" sz="2400" dirty="0" smtClean="0"/>
              <a:t>E.g.: </a:t>
            </a:r>
            <a:r>
              <a:rPr lang="en-US" sz="2400" dirty="0"/>
              <a:t>Religion teaches its followers to accept even negative life experiences, and their fate as something that is divinely predestined</a:t>
            </a:r>
            <a:r>
              <a:rPr lang="en-US" sz="2400" dirty="0" smtClean="0"/>
              <a:t>.</a:t>
            </a:r>
          </a:p>
          <a:p>
            <a:pPr algn="just"/>
            <a:r>
              <a:rPr lang="en-US" sz="2400" b="1" dirty="0"/>
              <a:t>Social Control: </a:t>
            </a:r>
            <a:r>
              <a:rPr lang="en-US" sz="2400" dirty="0"/>
              <a:t>Besides acting as an integrating force, religion also provides guidance and becomes a means of social control. </a:t>
            </a:r>
            <a:endParaRPr lang="en-US" sz="2400" dirty="0" smtClean="0"/>
          </a:p>
          <a:p>
            <a:pPr algn="just"/>
            <a:r>
              <a:rPr lang="en-US" sz="2400" dirty="0" smtClean="0"/>
              <a:t> </a:t>
            </a:r>
            <a:r>
              <a:rPr lang="en-US" sz="2400" dirty="0"/>
              <a:t>It provides rules and standards of </a:t>
            </a:r>
            <a:r>
              <a:rPr lang="en-US" sz="2400" dirty="0" smtClean="0"/>
              <a:t>behavior. </a:t>
            </a:r>
            <a:endParaRPr lang="en-US" sz="2400" dirty="0" smtClean="0"/>
          </a:p>
          <a:p>
            <a:pPr algn="just"/>
            <a:r>
              <a:rPr lang="en-US" sz="2400" dirty="0" smtClean="0"/>
              <a:t> </a:t>
            </a:r>
            <a:r>
              <a:rPr lang="en-US" sz="2400" dirty="0"/>
              <a:t>It also provides fear of divine punishment for those who do not abide by the rules, hence creating physical and social cleanliness.</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29</a:t>
            </a:fld>
            <a:endParaRPr lang="en-US" noProof="0" dirty="0"/>
          </a:p>
        </p:txBody>
      </p:sp>
    </p:spTree>
    <p:extLst>
      <p:ext uri="{BB962C8B-B14F-4D97-AF65-F5344CB8AC3E}">
        <p14:creationId xmlns:p14="http://schemas.microsoft.com/office/powerpoint/2010/main" val="3572363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endParaRPr lang="en-US" sz="2400" dirty="0" smtClean="0"/>
          </a:p>
          <a:p>
            <a:pPr algn="just"/>
            <a:r>
              <a:rPr lang="en-US" sz="2400" dirty="0" smtClean="0"/>
              <a:t>Religious </a:t>
            </a:r>
            <a:r>
              <a:rPr lang="en-US" sz="2400" dirty="0"/>
              <a:t>beliefs can influence the conduct of those who believe in them. </a:t>
            </a:r>
            <a:endParaRPr lang="en-US" sz="2400" dirty="0" smtClean="0"/>
          </a:p>
          <a:p>
            <a:pPr algn="just"/>
            <a:r>
              <a:rPr lang="en-US" sz="2400" dirty="0" smtClean="0"/>
              <a:t>It </a:t>
            </a:r>
            <a:r>
              <a:rPr lang="en-US" sz="2400" dirty="0"/>
              <a:t>keeps people ‘in line’ through folkways and mores</a:t>
            </a:r>
            <a:r>
              <a:rPr lang="en-US" sz="2400" dirty="0" smtClean="0"/>
              <a:t>.</a:t>
            </a:r>
          </a:p>
          <a:p>
            <a:pPr algn="just"/>
            <a:r>
              <a:rPr lang="en-US" sz="2400" dirty="0" smtClean="0"/>
              <a:t> </a:t>
            </a:r>
            <a:r>
              <a:rPr lang="en-US" sz="2400" dirty="0"/>
              <a:t>Religious sanctions play a significant role in this regard</a:t>
            </a:r>
            <a:r>
              <a:rPr lang="en-US" sz="2400" dirty="0" smtClean="0"/>
              <a:t>.</a:t>
            </a:r>
          </a:p>
          <a:p>
            <a:pPr algn="just"/>
            <a:r>
              <a:rPr lang="en-US" sz="2400" dirty="0" smtClean="0"/>
              <a:t> </a:t>
            </a:r>
            <a:r>
              <a:rPr lang="en-US" sz="2400" dirty="0"/>
              <a:t>Many taboos in various cultures have religious sanctions, e.g., the taboo against eating of pork in Jewish and Muslims and cows meat in Hindus</a:t>
            </a:r>
            <a:r>
              <a:rPr lang="en-US" sz="2400" dirty="0" smtClean="0"/>
              <a:t>.</a:t>
            </a:r>
          </a:p>
          <a:p>
            <a:pPr algn="just"/>
            <a:r>
              <a:rPr lang="en-US" sz="2400" b="1" dirty="0"/>
              <a:t> Judgment of Right and Wrong: </a:t>
            </a:r>
            <a:r>
              <a:rPr lang="en-US" sz="2400" dirty="0"/>
              <a:t>It helps to determine what is considered acceptable </a:t>
            </a:r>
            <a:r>
              <a:rPr lang="en-US" sz="2400" dirty="0" smtClean="0"/>
              <a:t>behavior </a:t>
            </a:r>
            <a:r>
              <a:rPr lang="en-US" sz="2400" dirty="0"/>
              <a:t>and what is not. </a:t>
            </a:r>
            <a:r>
              <a:rPr lang="en-US" sz="2400" dirty="0" smtClean="0"/>
              <a:t>e.g. </a:t>
            </a:r>
            <a:r>
              <a:rPr lang="en-US" sz="2400" dirty="0"/>
              <a:t>Islam divides actions into two categories; the right acts lead to Heaven and the wrong acts to Hell.</a:t>
            </a:r>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30</a:t>
            </a:fld>
            <a:endParaRPr lang="en-US" noProof="0" dirty="0"/>
          </a:p>
        </p:txBody>
      </p:sp>
    </p:spTree>
    <p:extLst>
      <p:ext uri="{BB962C8B-B14F-4D97-AF65-F5344CB8AC3E}">
        <p14:creationId xmlns:p14="http://schemas.microsoft.com/office/powerpoint/2010/main" val="1347691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Role religion in politics of </a:t>
            </a:r>
            <a:r>
              <a:rPr lang="en-US" dirty="0" smtClean="0"/>
              <a:t>Pakistan</a:t>
            </a:r>
            <a:endParaRPr lang="en-US" dirty="0"/>
          </a:p>
        </p:txBody>
      </p:sp>
      <p:sp>
        <p:nvSpPr>
          <p:cNvPr id="4" name="Content Placeholder 3"/>
          <p:cNvSpPr>
            <a:spLocks noGrp="1"/>
          </p:cNvSpPr>
          <p:nvPr>
            <p:ph idx="1"/>
          </p:nvPr>
        </p:nvSpPr>
        <p:spPr/>
        <p:txBody>
          <a:bodyPr/>
          <a:lstStyle/>
          <a:p>
            <a:pPr algn="just"/>
            <a:r>
              <a:rPr lang="en-US" sz="2400" dirty="0"/>
              <a:t>We should first understand that </a:t>
            </a:r>
            <a:r>
              <a:rPr lang="en-US" sz="2400" b="1" dirty="0"/>
              <a:t>Pakistan is a country that was based on Islamic identity </a:t>
            </a:r>
            <a:r>
              <a:rPr lang="en-US" sz="2400" dirty="0"/>
              <a:t>but was not created as a theocratic state, nor as a state that was meant to be exclusively for Muslims, to the exclusion of other religious groups</a:t>
            </a:r>
            <a:r>
              <a:rPr lang="en-US" sz="2400" dirty="0" smtClean="0"/>
              <a:t>.</a:t>
            </a:r>
          </a:p>
          <a:p>
            <a:pPr algn="just"/>
            <a:r>
              <a:rPr lang="en-US" sz="2400" dirty="0" smtClean="0"/>
              <a:t> </a:t>
            </a:r>
            <a:r>
              <a:rPr lang="en-US" sz="2400" dirty="0"/>
              <a:t>It was really a state that </a:t>
            </a:r>
            <a:r>
              <a:rPr lang="en-US" sz="2400" b="1" dirty="0"/>
              <a:t>was established to protect the religious, cultural and historical identity of the Muslims of the subcontinent when the British withdrew from South Asia</a:t>
            </a:r>
            <a:r>
              <a:rPr lang="en-US" sz="2400" b="1" dirty="0" smtClean="0"/>
              <a:t>.</a:t>
            </a:r>
          </a:p>
          <a:p>
            <a:pPr algn="just"/>
            <a:r>
              <a:rPr lang="en-US" sz="2400" dirty="0" smtClean="0"/>
              <a:t>Later, </a:t>
            </a:r>
            <a:r>
              <a:rPr lang="en-US" sz="2400" dirty="0"/>
              <a:t>Z</a:t>
            </a:r>
            <a:r>
              <a:rPr lang="en-US" sz="2400" dirty="0" smtClean="0"/>
              <a:t>ulifqar</a:t>
            </a:r>
            <a:r>
              <a:rPr lang="en-US" sz="2400" dirty="0" smtClean="0"/>
              <a:t> Ali Bhutto </a:t>
            </a:r>
            <a:r>
              <a:rPr lang="en-US" sz="2400" dirty="0"/>
              <a:t>raised the slogan of </a:t>
            </a:r>
            <a:r>
              <a:rPr lang="en-US" sz="2400" b="1" dirty="0"/>
              <a:t>Islamic socialism </a:t>
            </a:r>
            <a:r>
              <a:rPr lang="en-US" sz="2400" dirty="0"/>
              <a:t>to appeal to both the socialist-leaning masses and the religious sentiments of the Pakistani people. </a:t>
            </a:r>
            <a:endParaRPr lang="en-US" sz="2400" dirty="0" smtClean="0"/>
          </a:p>
          <a:p>
            <a:pPr algn="just"/>
            <a:r>
              <a:rPr lang="en-US" sz="2400" dirty="0" smtClean="0"/>
              <a:t>He </a:t>
            </a:r>
            <a:r>
              <a:rPr lang="en-US" sz="2400" dirty="0"/>
              <a:t>also implemented policies such as declaring </a:t>
            </a:r>
            <a:r>
              <a:rPr lang="en-US" sz="2400" b="1" dirty="0"/>
              <a:t>Friday a holiday, banning alcohol and gambling, and betting on horse </a:t>
            </a:r>
            <a:r>
              <a:rPr lang="en-US" sz="2400" b="1" dirty="0" smtClean="0"/>
              <a:t>racing.</a:t>
            </a:r>
            <a:endParaRPr lang="en-US" sz="2400" b="1"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31</a:t>
            </a:fld>
            <a:endParaRPr lang="en-US" noProof="0" dirty="0"/>
          </a:p>
        </p:txBody>
      </p:sp>
    </p:spTree>
    <p:extLst>
      <p:ext uri="{BB962C8B-B14F-4D97-AF65-F5344CB8AC3E}">
        <p14:creationId xmlns:p14="http://schemas.microsoft.com/office/powerpoint/2010/main" val="3447050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r>
              <a:rPr lang="en-US" sz="2400" dirty="0"/>
              <a:t>In the name of Islam and with the support of various </a:t>
            </a:r>
            <a:r>
              <a:rPr lang="en-US" sz="2400" dirty="0"/>
              <a:t>ulama</a:t>
            </a:r>
            <a:r>
              <a:rPr lang="en-US" sz="2400" dirty="0"/>
              <a:t>, the </a:t>
            </a:r>
            <a:r>
              <a:rPr lang="en-US" sz="2400" dirty="0" smtClean="0"/>
              <a:t>Zia regime </a:t>
            </a:r>
            <a:r>
              <a:rPr lang="en-US" sz="2400" dirty="0"/>
              <a:t>attempted to establish something very close to a theocratic state</a:t>
            </a:r>
            <a:r>
              <a:rPr lang="en-US" sz="2400" dirty="0" smtClean="0"/>
              <a:t>.</a:t>
            </a:r>
          </a:p>
          <a:p>
            <a:pPr algn="just"/>
            <a:r>
              <a:rPr lang="en-US" sz="2400" dirty="0"/>
              <a:t> It did so not only to perpetuate itself in power but also to pave the way for vested interests to exploit the masses in the name of religion. </a:t>
            </a:r>
            <a:endParaRPr lang="en-US" sz="2400" dirty="0" smtClean="0"/>
          </a:p>
          <a:p>
            <a:pPr algn="just"/>
            <a:r>
              <a:rPr lang="en-US" sz="2400" dirty="0" smtClean="0"/>
              <a:t>General </a:t>
            </a:r>
            <a:r>
              <a:rPr lang="en-US" sz="2400" dirty="0"/>
              <a:t>Zia justified his continuation in power by claiming a divine mission to Islamize Pakistan and impose Islamic law under the banner of </a:t>
            </a:r>
            <a:r>
              <a:rPr lang="en-US" sz="2400" dirty="0" smtClean="0"/>
              <a:t>Nizam</a:t>
            </a:r>
            <a:r>
              <a:rPr lang="en-US" sz="2400" dirty="0" smtClean="0"/>
              <a:t>-e-Mustafa.</a:t>
            </a:r>
            <a:endParaRPr lang="en-US" sz="2400"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32</a:t>
            </a:fld>
            <a:endParaRPr lang="en-US" noProof="0" dirty="0"/>
          </a:p>
        </p:txBody>
      </p:sp>
    </p:spTree>
    <p:extLst>
      <p:ext uri="{BB962C8B-B14F-4D97-AF65-F5344CB8AC3E}">
        <p14:creationId xmlns:p14="http://schemas.microsoft.com/office/powerpoint/2010/main" val="559792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just"/>
            <a:r>
              <a:rPr lang="en-US" sz="2400" dirty="0" smtClean="0"/>
              <a:t>Imran </a:t>
            </a:r>
            <a:r>
              <a:rPr lang="en-US" sz="2400" dirty="0"/>
              <a:t>Khan used religion during his term to mobilize the masses and appeal to their religious sentiments through religious rhetoric and populist tactics. In several speeches, he called for the formation of a “</a:t>
            </a:r>
            <a:r>
              <a:rPr lang="en-US" sz="2400" b="1" dirty="0"/>
              <a:t>Riyasat-Madina</a:t>
            </a:r>
            <a:r>
              <a:rPr lang="en-US" sz="2400" b="1" dirty="0" smtClean="0"/>
              <a:t>.”</a:t>
            </a:r>
          </a:p>
          <a:p>
            <a:pPr algn="just"/>
            <a:r>
              <a:rPr lang="en-US" sz="2400" dirty="0"/>
              <a:t>The establishment of the </a:t>
            </a:r>
            <a:r>
              <a:rPr lang="en-US" sz="2400" b="1" dirty="0"/>
              <a:t>National </a:t>
            </a:r>
            <a:r>
              <a:rPr lang="en-US" sz="2400" b="1" dirty="0"/>
              <a:t>Rahmatull-lil-Alameen</a:t>
            </a:r>
            <a:r>
              <a:rPr lang="en-US" sz="2400" b="1" dirty="0"/>
              <a:t> (NRA</a:t>
            </a:r>
            <a:r>
              <a:rPr lang="en-US" sz="2400" dirty="0"/>
              <a:t>) authority has become the center of critical debate in intellectual circles in Pakistan</a:t>
            </a:r>
            <a:r>
              <a:rPr lang="en-US" sz="2400" dirty="0" smtClean="0"/>
              <a:t>.</a:t>
            </a:r>
          </a:p>
          <a:p>
            <a:pPr algn="just"/>
            <a:r>
              <a:rPr lang="en-US" sz="2400" dirty="0" smtClean="0"/>
              <a:t> </a:t>
            </a:r>
            <a:r>
              <a:rPr lang="en-US" sz="2400" dirty="0"/>
              <a:t>Imran Khan took the initiative to materialize his </a:t>
            </a:r>
            <a:r>
              <a:rPr lang="en-US" sz="2400" dirty="0"/>
              <a:t>religio</a:t>
            </a:r>
            <a:r>
              <a:rPr lang="en-US" sz="2400" dirty="0"/>
              <a:t>-political narrative. </a:t>
            </a:r>
            <a:endParaRPr lang="en-US" sz="2400" dirty="0" smtClean="0"/>
          </a:p>
          <a:p>
            <a:pPr algn="just"/>
            <a:r>
              <a:rPr lang="en-US" sz="2400" dirty="0" smtClean="0"/>
              <a:t>He </a:t>
            </a:r>
            <a:r>
              <a:rPr lang="en-US" sz="2400" dirty="0"/>
              <a:t>mainstreamed madrassas and reprioritized Islamic education through the single national curriculum.</a:t>
            </a:r>
            <a:endParaRPr lang="en-US" sz="2400" b="1"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33</a:t>
            </a:fld>
            <a:endParaRPr lang="en-US" noProof="0" dirty="0"/>
          </a:p>
        </p:txBody>
      </p:sp>
    </p:spTree>
    <p:extLst>
      <p:ext uri="{BB962C8B-B14F-4D97-AF65-F5344CB8AC3E}">
        <p14:creationId xmlns:p14="http://schemas.microsoft.com/office/powerpoint/2010/main" val="2017593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algn="ctr"/>
            <a:endParaRPr lang="en-US" sz="5600" dirty="0" smtClean="0"/>
          </a:p>
          <a:p>
            <a:pPr algn="ctr"/>
            <a:endParaRPr lang="en-US" sz="5600" dirty="0"/>
          </a:p>
          <a:p>
            <a:pPr marL="0" indent="0" algn="ctr">
              <a:buNone/>
            </a:pPr>
            <a:r>
              <a:rPr lang="en-US" sz="5600" b="1" dirty="0" smtClean="0"/>
              <a:t>THANK YOU</a:t>
            </a:r>
            <a:endParaRPr lang="en-US" sz="5600" b="1" dirty="0"/>
          </a:p>
        </p:txBody>
      </p:sp>
      <p:sp>
        <p:nvSpPr>
          <p:cNvPr id="5" name="Slide Number Placeholder 4"/>
          <p:cNvSpPr>
            <a:spLocks noGrp="1"/>
          </p:cNvSpPr>
          <p:nvPr>
            <p:ph type="sldNum" sz="quarter" idx="33"/>
          </p:nvPr>
        </p:nvSpPr>
        <p:spPr/>
        <p:txBody>
          <a:bodyPr/>
          <a:lstStyle/>
          <a:p>
            <a:fld id="{19B51A1E-902D-48AF-9020-955120F399B6}" type="slidenum">
              <a:rPr lang="en-US" noProof="0" smtClean="0"/>
              <a:pPr/>
              <a:t>34</a:t>
            </a:fld>
            <a:endParaRPr lang="en-US" noProof="0" dirty="0"/>
          </a:p>
        </p:txBody>
      </p:sp>
    </p:spTree>
    <p:extLst>
      <p:ext uri="{BB962C8B-B14F-4D97-AF65-F5344CB8AC3E}">
        <p14:creationId xmlns:p14="http://schemas.microsoft.com/office/powerpoint/2010/main" val="1110480412"/>
      </p:ext>
    </p:extLst>
  </p:cSld>
  <p:clrMapOvr>
    <a:masterClrMapping/>
  </p:clrMapOvr>
</p:sld>
</file>

<file path=ppt/theme/theme1.xml><?xml version="1.0" encoding="utf-8"?>
<a:theme xmlns:a="http://schemas.openxmlformats.org/drawingml/2006/main" name="Office Theme">
  <a:themeElements>
    <a:clrScheme name="Custom 134">
      <a:dk1>
        <a:srgbClr val="000000"/>
      </a:dk1>
      <a:lt1>
        <a:srgbClr val="FFFFFF"/>
      </a:lt1>
      <a:dk2>
        <a:srgbClr val="000000"/>
      </a:dk2>
      <a:lt2>
        <a:srgbClr val="FFFFFF"/>
      </a:lt2>
      <a:accent1>
        <a:srgbClr val="5CB8B3"/>
      </a:accent1>
      <a:accent2>
        <a:srgbClr val="F5D66E"/>
      </a:accent2>
      <a:accent3>
        <a:srgbClr val="D78189"/>
      </a:accent3>
      <a:accent4>
        <a:srgbClr val="7030A0"/>
      </a:accent4>
      <a:accent5>
        <a:srgbClr val="0070C0"/>
      </a:accent5>
      <a:accent6>
        <a:srgbClr val="C4D36D"/>
      </a:accent6>
      <a:hlink>
        <a:srgbClr val="54C3BD"/>
      </a:hlink>
      <a:folHlink>
        <a:srgbClr val="54C3BD"/>
      </a:folHlink>
    </a:clrScheme>
    <a:fontScheme name="Custom 154">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328976_Minimalist presentation_RVA_v4" id="{DA616D2A-CFEC-48D2-90FC-DF66CF8D2F8A}" vid="{8F2838F8-33B8-457C-9B19-1E5863B0E0D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5E1B92BA41E944B973FA5834FD04C8" ma:contentTypeVersion="7" ma:contentTypeDescription="Create a new document." ma:contentTypeScope="" ma:versionID="1b38b069734ef9489dcbb789a885aebb">
  <xsd:schema xmlns:xsd="http://www.w3.org/2001/XMLSchema" xmlns:xs="http://www.w3.org/2001/XMLSchema" xmlns:p="http://schemas.microsoft.com/office/2006/metadata/properties" xmlns:ns2="e564586d-5d80-455b-a1c7-db0629daa30a" targetNamespace="http://schemas.microsoft.com/office/2006/metadata/properties" ma:root="true" ma:fieldsID="87579b98c1197177159376d4e71f7b63" ns2:_="">
    <xsd:import namespace="e564586d-5d80-455b-a1c7-db0629daa3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4586d-5d80-455b-a1c7-db0629daa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70BBBE-4554-4809-9507-AB817D879BCA}"/>
</file>

<file path=customXml/itemProps2.xml><?xml version="1.0" encoding="utf-8"?>
<ds:datastoreItem xmlns:ds="http://schemas.openxmlformats.org/officeDocument/2006/customXml" ds:itemID="{96100F67-BC3D-46B4-8D39-802DC9D7F2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7323504-CBC8-4A2F-BF86-8DF0D94D4A3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Minimalist presentation</Template>
  <TotalTime>0</TotalTime>
  <Words>2860</Words>
  <Application>Microsoft Office PowerPoint</Application>
  <PresentationFormat>Widescreen</PresentationFormat>
  <Paragraphs>189</Paragraphs>
  <Slides>34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Corbel</vt:lpstr>
      <vt:lpstr>Times New Roman</vt:lpstr>
      <vt:lpstr>Office Theme</vt:lpstr>
      <vt:lpstr>Political Dynamics</vt:lpstr>
      <vt:lpstr>Agencies responsible for creation             and Propagation of Ideologies</vt:lpstr>
      <vt:lpstr>PowerPoint Presentation</vt:lpstr>
      <vt:lpstr>PowerPoint Presentation</vt:lpstr>
      <vt:lpstr>PowerPoint Presentation</vt:lpstr>
      <vt:lpstr>PowerPoint Presentation</vt:lpstr>
      <vt:lpstr>Characteristics of Pressure Groups </vt:lpstr>
      <vt:lpstr>Types of Pressure Groups</vt:lpstr>
      <vt:lpstr>PowerPoint Presentation</vt:lpstr>
      <vt:lpstr>Role &amp; Importance of Pressure Groups</vt:lpstr>
      <vt:lpstr>PowerPoint Presentation</vt:lpstr>
      <vt:lpstr>SHORTCOMING OF PRESSURE GROUPS</vt:lpstr>
      <vt:lpstr>Conclusion</vt:lpstr>
      <vt:lpstr>POLITICAL PARTIES</vt:lpstr>
      <vt:lpstr>Characteristics of a political party</vt:lpstr>
      <vt:lpstr>PowerPoint Presentation</vt:lpstr>
      <vt:lpstr>PowerPoint Presentation</vt:lpstr>
      <vt:lpstr>functions of political parties</vt:lpstr>
      <vt:lpstr>DIFFERENCE BETWEEN PRESSURE GROUP AND POLIT CAL PARTY</vt:lpstr>
      <vt:lpstr>ROLE OF MEDIA </vt:lpstr>
      <vt:lpstr>Media as a Means for the Formation of Public Opinion</vt:lpstr>
      <vt:lpstr>PowerPoint Presentation</vt:lpstr>
      <vt:lpstr>Media &amp; Politics: Theoretical Perspective</vt:lpstr>
      <vt:lpstr>Media and Politics: Critical Appraisal </vt:lpstr>
      <vt:lpstr>PowerPoint Presentation</vt:lpstr>
      <vt:lpstr>Conclusion: </vt:lpstr>
      <vt:lpstr>DEFINING RELIGION </vt:lpstr>
      <vt:lpstr>FUNCTIONS OF RELIGIOUS INSTITUTION in society</vt:lpstr>
      <vt:lpstr>PowerPoint Presentation</vt:lpstr>
      <vt:lpstr>PowerPoint Presentation</vt:lpstr>
      <vt:lpstr>Role religion in politics of Pakistan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2024-12-30T14:01:21Z</dcterms:created>
  <dcterms:modified xsi:type="dcterms:W3CDTF">2026-05-31T15:11:12Z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0x010100DD5E1B92BA41E944B973FA5834FD04C8</vt:lpwstr>
  </property>
</Properties>
</file>